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96" r:id="rId4"/>
    <p:sldId id="297" r:id="rId5"/>
    <p:sldId id="298" r:id="rId6"/>
    <p:sldId id="311" r:id="rId7"/>
    <p:sldId id="299" r:id="rId8"/>
    <p:sldId id="300" r:id="rId9"/>
    <p:sldId id="301" r:id="rId10"/>
    <p:sldId id="302" r:id="rId11"/>
    <p:sldId id="303" r:id="rId12"/>
    <p:sldId id="304" r:id="rId13"/>
    <p:sldId id="305" r:id="rId14"/>
    <p:sldId id="306" r:id="rId15"/>
    <p:sldId id="307" r:id="rId16"/>
    <p:sldId id="308" r:id="rId17"/>
    <p:sldId id="309" r:id="rId18"/>
    <p:sldId id="31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Display Basics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860757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Flat Panel Displays </a:t>
            </a:r>
          </a:p>
        </p:txBody>
      </p:sp>
      <p:sp>
        <p:nvSpPr>
          <p:cNvPr id="3" name="Content Placeholder 2"/>
          <p:cNvSpPr>
            <a:spLocks noGrp="1"/>
          </p:cNvSpPr>
          <p:nvPr>
            <p:ph idx="1"/>
          </p:nvPr>
        </p:nvSpPr>
        <p:spPr/>
        <p:txBody>
          <a:bodyPr>
            <a:normAutofit fontScale="77500" lnSpcReduction="20000"/>
          </a:bodyPr>
          <a:lstStyle/>
          <a:p>
            <a:pPr algn="just"/>
            <a:r>
              <a:rPr lang="en-US" dirty="0" smtClean="0"/>
              <a:t>Flat-Panel </a:t>
            </a:r>
            <a:r>
              <a:rPr lang="en-US" dirty="0"/>
              <a:t>Display refers to a class of display devices that have reduced volume, weight and power requirements compared to CRT. </a:t>
            </a:r>
          </a:p>
          <a:p>
            <a:pPr algn="just"/>
            <a:r>
              <a:rPr lang="en-US" dirty="0" smtClean="0"/>
              <a:t>There </a:t>
            </a:r>
            <a:r>
              <a:rPr lang="en-US" dirty="0"/>
              <a:t>are two categories of flat panel displays: </a:t>
            </a:r>
          </a:p>
          <a:p>
            <a:pPr lvl="1" algn="just"/>
            <a:r>
              <a:rPr lang="en-US" dirty="0" smtClean="0"/>
              <a:t>Emissive </a:t>
            </a:r>
            <a:r>
              <a:rPr lang="en-US" dirty="0"/>
              <a:t>Displays </a:t>
            </a:r>
          </a:p>
          <a:p>
            <a:pPr lvl="1" algn="just"/>
            <a:r>
              <a:rPr lang="en-US" dirty="0" smtClean="0"/>
              <a:t>Non-Emissive </a:t>
            </a:r>
            <a:r>
              <a:rPr lang="en-US" dirty="0"/>
              <a:t>Displays </a:t>
            </a:r>
          </a:p>
          <a:p>
            <a:pPr algn="just"/>
            <a:r>
              <a:rPr lang="en-US" b="1" dirty="0" smtClean="0"/>
              <a:t>Emissive </a:t>
            </a:r>
            <a:r>
              <a:rPr lang="en-US" b="1" dirty="0"/>
              <a:t>Displays </a:t>
            </a:r>
            <a:r>
              <a:rPr lang="en-US" dirty="0"/>
              <a:t>(or emitters) are devices that convert electrical energy into light. Plasma Panel (PDP) and light emitting diodes (LED) are examples of </a:t>
            </a:r>
            <a:r>
              <a:rPr lang="en-US" b="1" dirty="0"/>
              <a:t>emissive displays</a:t>
            </a:r>
            <a:r>
              <a:rPr lang="en-US" dirty="0"/>
              <a:t>. </a:t>
            </a:r>
          </a:p>
          <a:p>
            <a:pPr algn="just"/>
            <a:r>
              <a:rPr lang="en-US" b="1" dirty="0" smtClean="0"/>
              <a:t>Non-emissive </a:t>
            </a:r>
            <a:r>
              <a:rPr lang="en-US" dirty="0"/>
              <a:t>displays ( or non-emitters) use optical effects to convert sunlight or light from some other source into graphics pattern </a:t>
            </a:r>
            <a:r>
              <a:rPr lang="en-US" dirty="0" err="1"/>
              <a:t>e.g</a:t>
            </a:r>
            <a:r>
              <a:rPr lang="en-US" dirty="0"/>
              <a:t> Liquid Crystal Display (LCD) </a:t>
            </a:r>
          </a:p>
          <a:p>
            <a:pPr algn="just"/>
            <a:endParaRPr lang="en-US" dirty="0"/>
          </a:p>
        </p:txBody>
      </p:sp>
    </p:spTree>
    <p:extLst>
      <p:ext uri="{BB962C8B-B14F-4D97-AF65-F5344CB8AC3E}">
        <p14:creationId xmlns:p14="http://schemas.microsoft.com/office/powerpoint/2010/main" val="947378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Liquid Crystal Display (LCD) </a:t>
            </a:r>
          </a:p>
        </p:txBody>
      </p:sp>
      <p:sp>
        <p:nvSpPr>
          <p:cNvPr id="3" name="Content Placeholder 2"/>
          <p:cNvSpPr>
            <a:spLocks noGrp="1"/>
          </p:cNvSpPr>
          <p:nvPr>
            <p:ph idx="1"/>
          </p:nvPr>
        </p:nvSpPr>
        <p:spPr/>
        <p:txBody>
          <a:bodyPr>
            <a:normAutofit fontScale="70000" lnSpcReduction="20000"/>
          </a:bodyPr>
          <a:lstStyle/>
          <a:p>
            <a:pPr algn="just"/>
            <a:r>
              <a:rPr lang="en-US" dirty="0" smtClean="0"/>
              <a:t>A </a:t>
            </a:r>
            <a:r>
              <a:rPr lang="en-US" b="1" dirty="0"/>
              <a:t>liquid crystal display </a:t>
            </a:r>
            <a:r>
              <a:rPr lang="en-US" dirty="0"/>
              <a:t>is a thin, flat display device made up of any number of pixels arrayed in front of a light source or reflector. </a:t>
            </a:r>
          </a:p>
          <a:p>
            <a:pPr algn="just"/>
            <a:r>
              <a:rPr lang="en-US" dirty="0" smtClean="0"/>
              <a:t>It </a:t>
            </a:r>
            <a:r>
              <a:rPr lang="en-US" dirty="0"/>
              <a:t>uses very small amounts of electric power, and is suitable for use in battery-powered electronic devices. </a:t>
            </a:r>
          </a:p>
          <a:p>
            <a:pPr algn="just"/>
            <a:r>
              <a:rPr lang="en-US" dirty="0" err="1" smtClean="0"/>
              <a:t>Colour</a:t>
            </a:r>
            <a:r>
              <a:rPr lang="en-US" dirty="0" smtClean="0"/>
              <a:t> </a:t>
            </a:r>
            <a:r>
              <a:rPr lang="en-US" dirty="0"/>
              <a:t>displays are possible by incorporating </a:t>
            </a:r>
            <a:r>
              <a:rPr lang="en-US" dirty="0" err="1"/>
              <a:t>colour</a:t>
            </a:r>
            <a:r>
              <a:rPr lang="en-US" dirty="0"/>
              <a:t> filters. </a:t>
            </a:r>
          </a:p>
          <a:p>
            <a:pPr algn="just"/>
            <a:r>
              <a:rPr lang="en-US" dirty="0" smtClean="0"/>
              <a:t>The </a:t>
            </a:r>
            <a:r>
              <a:rPr lang="en-US" dirty="0"/>
              <a:t>heart of all liquid crystal displays (LCDs) is a liquid crystal itself. A liquid crystal is a substance that flows like a liquid, but its molecules orient themselves in the manner of a crystal. </a:t>
            </a:r>
          </a:p>
          <a:p>
            <a:pPr algn="just"/>
            <a:r>
              <a:rPr lang="en-US" dirty="0" smtClean="0"/>
              <a:t>That </a:t>
            </a:r>
            <a:r>
              <a:rPr lang="en-US" dirty="0"/>
              <a:t>is, it is an organic compounds, whose macroscopic behavior resemble that of liquid but shows physical properties of crystals. </a:t>
            </a:r>
          </a:p>
          <a:p>
            <a:pPr algn="just"/>
            <a:r>
              <a:rPr lang="en-US" dirty="0" smtClean="0"/>
              <a:t>A </a:t>
            </a:r>
            <a:r>
              <a:rPr lang="en-US" dirty="0"/>
              <a:t>plane has </a:t>
            </a:r>
            <a:r>
              <a:rPr lang="en-US" dirty="0" err="1"/>
              <a:t>nematic</a:t>
            </a:r>
            <a:r>
              <a:rPr lang="en-US" dirty="0"/>
              <a:t>-like structure, but with each plane molecules change their direction. As a result the molecules display a helical twist through the material. </a:t>
            </a:r>
          </a:p>
          <a:p>
            <a:pPr algn="just"/>
            <a:r>
              <a:rPr lang="en-US" dirty="0" smtClean="0"/>
              <a:t>They </a:t>
            </a:r>
            <a:r>
              <a:rPr lang="en-US" dirty="0"/>
              <a:t>have characteristics like: rod-like molecular structure, or easily polarizable constituents. </a:t>
            </a:r>
          </a:p>
          <a:p>
            <a:pPr algn="just"/>
            <a:endParaRPr lang="en-US" dirty="0"/>
          </a:p>
        </p:txBody>
      </p:sp>
    </p:spTree>
    <p:extLst>
      <p:ext uri="{BB962C8B-B14F-4D97-AF65-F5344CB8AC3E}">
        <p14:creationId xmlns:p14="http://schemas.microsoft.com/office/powerpoint/2010/main" val="2188680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LCD Construction </a:t>
            </a:r>
          </a:p>
        </p:txBody>
      </p:sp>
      <p:sp>
        <p:nvSpPr>
          <p:cNvPr id="3" name="Content Placeholder 2"/>
          <p:cNvSpPr>
            <a:spLocks noGrp="1"/>
          </p:cNvSpPr>
          <p:nvPr>
            <p:ph idx="1"/>
          </p:nvPr>
        </p:nvSpPr>
        <p:spPr/>
        <p:txBody>
          <a:bodyPr/>
          <a:lstStyle/>
          <a:p>
            <a:pPr algn="just"/>
            <a:r>
              <a:rPr lang="en-US" sz="2400" dirty="0" smtClean="0"/>
              <a:t>Each </a:t>
            </a:r>
            <a:r>
              <a:rPr lang="en-US" sz="2400" dirty="0"/>
              <a:t>pixel of an LCD consists of a layer of molecules aligned between two transparent electrodes, and two polarizing filters, whose axes are perpendicular. </a:t>
            </a:r>
          </a:p>
          <a:p>
            <a:pPr algn="just"/>
            <a:r>
              <a:rPr lang="en-US" sz="2400" dirty="0" smtClean="0"/>
              <a:t>Orientation </a:t>
            </a:r>
            <a:r>
              <a:rPr lang="en-US" sz="2400" dirty="0"/>
              <a:t>of the liquid crystal molecules is determined by the alignment at the surfaces. </a:t>
            </a:r>
          </a:p>
          <a:p>
            <a:pPr algn="just"/>
            <a:r>
              <a:rPr lang="en-US" sz="2400" b="1" dirty="0" smtClean="0"/>
              <a:t>Six </a:t>
            </a:r>
            <a:r>
              <a:rPr lang="en-US" sz="2400" b="1" dirty="0"/>
              <a:t>Layers: </a:t>
            </a:r>
            <a:endParaRPr lang="en-US" sz="2400" dirty="0"/>
          </a:p>
          <a:p>
            <a:pPr algn="just"/>
            <a:endParaRPr 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581400"/>
            <a:ext cx="5486400"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775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425" y="228600"/>
            <a:ext cx="843915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9609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Types of Liquid </a:t>
            </a:r>
            <a:r>
              <a:rPr lang="en-US" b="1" dirty="0" smtClean="0"/>
              <a:t>Crystals</a:t>
            </a:r>
            <a:endParaRPr lang="en-US" dirty="0"/>
          </a:p>
        </p:txBody>
      </p:sp>
      <p:sp>
        <p:nvSpPr>
          <p:cNvPr id="3" name="Content Placeholder 2"/>
          <p:cNvSpPr>
            <a:spLocks noGrp="1"/>
          </p:cNvSpPr>
          <p:nvPr>
            <p:ph idx="1"/>
          </p:nvPr>
        </p:nvSpPr>
        <p:spPr/>
        <p:txBody>
          <a:bodyPr/>
          <a:lstStyle/>
          <a:p>
            <a:pPr algn="just"/>
            <a:r>
              <a:rPr lang="en-US" b="1" dirty="0" err="1" smtClean="0"/>
              <a:t>Nematic</a:t>
            </a:r>
            <a:r>
              <a:rPr lang="en-US" b="1" dirty="0" smtClean="0"/>
              <a:t> </a:t>
            </a:r>
            <a:r>
              <a:rPr lang="en-US" b="1" dirty="0"/>
              <a:t>Liquid Crystal</a:t>
            </a:r>
            <a:r>
              <a:rPr lang="en-US" dirty="0"/>
              <a:t> – molecules are aligned in the same direction but not arranged in layers.</a:t>
            </a:r>
          </a:p>
          <a:p>
            <a:pPr algn="just"/>
            <a:r>
              <a:rPr lang="en-US" b="1" dirty="0" err="1"/>
              <a:t>Smectic</a:t>
            </a:r>
            <a:r>
              <a:rPr lang="en-US" b="1" dirty="0"/>
              <a:t> Liquid Crystal</a:t>
            </a:r>
            <a:r>
              <a:rPr lang="en-US" dirty="0"/>
              <a:t> – molecules form </a:t>
            </a:r>
            <a:r>
              <a:rPr lang="en-US" b="1" dirty="0"/>
              <a:t>layered structures</a:t>
            </a:r>
            <a:r>
              <a:rPr lang="en-US" dirty="0"/>
              <a:t>.</a:t>
            </a:r>
          </a:p>
          <a:p>
            <a:pPr algn="just"/>
            <a:r>
              <a:rPr lang="en-US" b="1" dirty="0"/>
              <a:t>Cholesteric Liquid Crystal</a:t>
            </a:r>
            <a:r>
              <a:rPr lang="en-US" dirty="0"/>
              <a:t> – molecules form a </a:t>
            </a:r>
            <a:r>
              <a:rPr lang="en-US" b="1" dirty="0"/>
              <a:t>twisted or spiral arrangement</a:t>
            </a:r>
            <a:r>
              <a:rPr lang="en-US" dirty="0"/>
              <a:t>.</a:t>
            </a:r>
          </a:p>
          <a:p>
            <a:endParaRPr lang="en-US" dirty="0"/>
          </a:p>
        </p:txBody>
      </p:sp>
    </p:spTree>
    <p:extLst>
      <p:ext uri="{BB962C8B-B14F-4D97-AF65-F5344CB8AC3E}">
        <p14:creationId xmlns:p14="http://schemas.microsoft.com/office/powerpoint/2010/main" val="3557874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Principle </a:t>
            </a:r>
          </a:p>
        </p:txBody>
      </p:sp>
      <p:sp>
        <p:nvSpPr>
          <p:cNvPr id="3" name="Content Placeholder 2"/>
          <p:cNvSpPr>
            <a:spLocks noGrp="1"/>
          </p:cNvSpPr>
          <p:nvPr>
            <p:ph idx="1"/>
          </p:nvPr>
        </p:nvSpPr>
        <p:spPr/>
        <p:txBody>
          <a:bodyPr>
            <a:normAutofit/>
          </a:bodyPr>
          <a:lstStyle/>
          <a:p>
            <a:pPr algn="just"/>
            <a:r>
              <a:rPr lang="en-US" sz="2000" dirty="0" smtClean="0"/>
              <a:t>Most </a:t>
            </a:r>
            <a:r>
              <a:rPr lang="en-US" sz="2000" dirty="0"/>
              <a:t>of the LCDs use twisted </a:t>
            </a:r>
            <a:r>
              <a:rPr lang="en-US" sz="2000" dirty="0" err="1"/>
              <a:t>nematic</a:t>
            </a:r>
            <a:r>
              <a:rPr lang="en-US" sz="2000" dirty="0"/>
              <a:t> cells. </a:t>
            </a:r>
          </a:p>
          <a:p>
            <a:pPr algn="just"/>
            <a:r>
              <a:rPr lang="en-US" sz="2000" dirty="0" smtClean="0"/>
              <a:t>When </a:t>
            </a:r>
            <a:r>
              <a:rPr lang="en-US" sz="2000" dirty="0"/>
              <a:t>a </a:t>
            </a:r>
            <a:r>
              <a:rPr lang="en-US" sz="2000" dirty="0" err="1"/>
              <a:t>nematic</a:t>
            </a:r>
            <a:r>
              <a:rPr lang="en-US" sz="2000" dirty="0"/>
              <a:t> liquid crystal material comes into contact with a solid surface molecules become aligned either perpendicular to the surface (</a:t>
            </a:r>
            <a:r>
              <a:rPr lang="en-US" sz="2000" dirty="0" err="1"/>
              <a:t>homeotropic</a:t>
            </a:r>
            <a:r>
              <a:rPr lang="en-US" sz="2000" dirty="0"/>
              <a:t> ordering) or parallel to the surface (homogeneous ordering). </a:t>
            </a:r>
          </a:p>
          <a:p>
            <a:pPr algn="just"/>
            <a:r>
              <a:rPr lang="en-US" sz="2000" dirty="0" smtClean="0"/>
              <a:t>These </a:t>
            </a:r>
            <a:r>
              <a:rPr lang="en-US" sz="2000" dirty="0"/>
              <a:t>two forms can be produced by suitable treatment of the surface. </a:t>
            </a:r>
          </a:p>
          <a:p>
            <a:pPr algn="just"/>
            <a:r>
              <a:rPr lang="en-US" sz="2000" dirty="0" smtClean="0"/>
              <a:t>The </a:t>
            </a:r>
            <a:r>
              <a:rPr lang="en-US" sz="2000" dirty="0"/>
              <a:t>most important electrical characteristic of liquid crystal materials is that the direction of the molecules can be controlled by the electric field. Usually the molecules tend to be orientated along the electric field. </a:t>
            </a:r>
          </a:p>
          <a:p>
            <a:pPr algn="just"/>
            <a:endParaRPr lang="en-US" sz="2000"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343400"/>
            <a:ext cx="63754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7240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Basic Principle (2</a:t>
            </a:r>
            <a:r>
              <a:rPr lang="en-US" dirty="0" smtClean="0"/>
              <a:t>)</a:t>
            </a:r>
            <a:endParaRPr lang="en-US" dirty="0"/>
          </a:p>
        </p:txBody>
      </p:sp>
      <p:sp>
        <p:nvSpPr>
          <p:cNvPr id="3" name="Content Placeholder 2"/>
          <p:cNvSpPr>
            <a:spLocks noGrp="1"/>
          </p:cNvSpPr>
          <p:nvPr>
            <p:ph idx="1"/>
          </p:nvPr>
        </p:nvSpPr>
        <p:spPr/>
        <p:txBody>
          <a:bodyPr>
            <a:normAutofit/>
          </a:bodyPr>
          <a:lstStyle/>
          <a:p>
            <a:pPr algn="just"/>
            <a:r>
              <a:rPr lang="en-US" sz="2400" dirty="0" smtClean="0"/>
              <a:t>When </a:t>
            </a:r>
            <a:r>
              <a:rPr lang="en-US" sz="2400" dirty="0"/>
              <a:t>a beam of </a:t>
            </a:r>
            <a:r>
              <a:rPr lang="en-US" sz="2400" dirty="0" err="1"/>
              <a:t>polarised</a:t>
            </a:r>
            <a:r>
              <a:rPr lang="en-US" sz="2400" dirty="0"/>
              <a:t> light is incident on the cell the liquid causes rotation of </a:t>
            </a:r>
            <a:r>
              <a:rPr lang="en-US" sz="2400" dirty="0" err="1"/>
              <a:t>polarisation</a:t>
            </a:r>
            <a:r>
              <a:rPr lang="en-US" sz="2400" dirty="0"/>
              <a:t> plane. </a:t>
            </a:r>
          </a:p>
          <a:p>
            <a:pPr algn="just"/>
            <a:r>
              <a:rPr lang="en-US" sz="2400" dirty="0" smtClean="0"/>
              <a:t>A </a:t>
            </a:r>
            <a:r>
              <a:rPr lang="en-US" sz="2400" dirty="0"/>
              <a:t>strong enough electric field changes orientation of molecules and in this state the molecules have no effect on an incident light beam. </a:t>
            </a:r>
          </a:p>
          <a:p>
            <a:pPr algn="just"/>
            <a:endParaRPr lang="en-US" sz="2400"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810000"/>
            <a:ext cx="8959850" cy="221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2528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a:t>
            </a:r>
          </a:p>
        </p:txBody>
      </p:sp>
      <p:sp>
        <p:nvSpPr>
          <p:cNvPr id="3" name="Content Placeholder 2"/>
          <p:cNvSpPr>
            <a:spLocks noGrp="1"/>
          </p:cNvSpPr>
          <p:nvPr>
            <p:ph idx="1"/>
          </p:nvPr>
        </p:nvSpPr>
        <p:spPr/>
        <p:txBody>
          <a:bodyPr/>
          <a:lstStyle/>
          <a:p>
            <a:endParaRPr lang="en-US"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1576388"/>
            <a:ext cx="8162925" cy="370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39884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Working Principle of LCD </a:t>
            </a:r>
            <a:br>
              <a:rPr lang="en-US" dirty="0"/>
            </a:br>
            <a:endParaRPr lang="en-US" dirty="0"/>
          </a:p>
        </p:txBody>
      </p:sp>
      <p:sp>
        <p:nvSpPr>
          <p:cNvPr id="3" name="Content Placeholder 2"/>
          <p:cNvSpPr>
            <a:spLocks noGrp="1"/>
          </p:cNvSpPr>
          <p:nvPr>
            <p:ph idx="1"/>
          </p:nvPr>
        </p:nvSpPr>
        <p:spPr>
          <a:xfrm>
            <a:off x="457200" y="1112837"/>
            <a:ext cx="8229600" cy="5211763"/>
          </a:xfrm>
        </p:spPr>
        <p:txBody>
          <a:bodyPr>
            <a:normAutofit fontScale="70000" lnSpcReduction="20000"/>
          </a:bodyPr>
          <a:lstStyle/>
          <a:p>
            <a:pPr algn="just"/>
            <a:r>
              <a:rPr lang="en-US" dirty="0" smtClean="0"/>
              <a:t>Before </a:t>
            </a:r>
            <a:r>
              <a:rPr lang="en-US" dirty="0"/>
              <a:t>applying Electric field, the molecules arrange themselves in a helical structure, or twist. </a:t>
            </a:r>
          </a:p>
          <a:p>
            <a:pPr algn="just"/>
            <a:r>
              <a:rPr lang="en-US" dirty="0" smtClean="0"/>
              <a:t>When </a:t>
            </a:r>
            <a:r>
              <a:rPr lang="en-US" dirty="0"/>
              <a:t>a voltage is applied across the electrodes, a torque acts to align the liquid crystal molecules parallel to the electric field, distorting the helical structure . </a:t>
            </a:r>
          </a:p>
          <a:p>
            <a:pPr algn="just"/>
            <a:r>
              <a:rPr lang="en-US" dirty="0" smtClean="0"/>
              <a:t>This </a:t>
            </a:r>
            <a:r>
              <a:rPr lang="en-US" dirty="0"/>
              <a:t>reduces the rotation of the polarization of the incident light. </a:t>
            </a:r>
          </a:p>
          <a:p>
            <a:pPr algn="just"/>
            <a:r>
              <a:rPr lang="en-US" b="1" dirty="0" smtClean="0"/>
              <a:t>Classification </a:t>
            </a:r>
            <a:r>
              <a:rPr lang="en-US" b="1" dirty="0"/>
              <a:t>of LCD: </a:t>
            </a:r>
            <a:endParaRPr lang="en-US" dirty="0"/>
          </a:p>
          <a:p>
            <a:pPr lvl="1" algn="just"/>
            <a:r>
              <a:rPr lang="en-US" dirty="0" err="1" smtClean="0"/>
              <a:t>Transmissive</a:t>
            </a:r>
            <a:r>
              <a:rPr lang="en-US" dirty="0" smtClean="0"/>
              <a:t> </a:t>
            </a:r>
            <a:r>
              <a:rPr lang="en-US" dirty="0"/>
              <a:t>displays: </a:t>
            </a:r>
          </a:p>
          <a:p>
            <a:pPr lvl="2" algn="just"/>
            <a:r>
              <a:rPr lang="en-US" dirty="0" smtClean="0"/>
              <a:t>Transmission </a:t>
            </a:r>
            <a:r>
              <a:rPr lang="en-US" dirty="0"/>
              <a:t>LCD displays do not have the reflector and must be provided with rear illumination. They operate in a very similar fashion to the reflective displays. </a:t>
            </a:r>
          </a:p>
          <a:p>
            <a:pPr lvl="2" algn="just"/>
            <a:r>
              <a:rPr lang="en-US" dirty="0" smtClean="0"/>
              <a:t>It </a:t>
            </a:r>
            <a:r>
              <a:rPr lang="en-US" dirty="0"/>
              <a:t>is illuminated from the back by a backlight and viewed from the opposite side (front). Ex: Computer display. </a:t>
            </a:r>
          </a:p>
          <a:p>
            <a:pPr lvl="1" algn="just"/>
            <a:r>
              <a:rPr lang="en-US" dirty="0" smtClean="0"/>
              <a:t>Reflective </a:t>
            </a:r>
            <a:r>
              <a:rPr lang="en-US" dirty="0"/>
              <a:t>displays: </a:t>
            </a:r>
          </a:p>
          <a:p>
            <a:pPr lvl="2" algn="just"/>
            <a:r>
              <a:rPr lang="en-US" dirty="0" smtClean="0"/>
              <a:t>It </a:t>
            </a:r>
            <a:r>
              <a:rPr lang="en-US" dirty="0"/>
              <a:t>is illuminated by external light reflected by diffusing reflector behind the display. Ex: Calculator. </a:t>
            </a:r>
          </a:p>
        </p:txBody>
      </p:sp>
    </p:spTree>
    <p:extLst>
      <p:ext uri="{BB962C8B-B14F-4D97-AF65-F5344CB8AC3E}">
        <p14:creationId xmlns:p14="http://schemas.microsoft.com/office/powerpoint/2010/main" val="3027404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Advantages &amp; Limitations of LCD </a:t>
            </a:r>
          </a:p>
        </p:txBody>
      </p:sp>
      <p:sp>
        <p:nvSpPr>
          <p:cNvPr id="3" name="Content Placeholder 2"/>
          <p:cNvSpPr>
            <a:spLocks noGrp="1"/>
          </p:cNvSpPr>
          <p:nvPr>
            <p:ph idx="1"/>
          </p:nvPr>
        </p:nvSpPr>
        <p:spPr/>
        <p:txBody>
          <a:bodyPr>
            <a:normAutofit fontScale="40000" lnSpcReduction="20000"/>
          </a:bodyPr>
          <a:lstStyle/>
          <a:p>
            <a:r>
              <a:rPr lang="en-US" sz="6000" b="1" dirty="0" smtClean="0"/>
              <a:t>Applications</a:t>
            </a:r>
            <a:r>
              <a:rPr lang="en-US" sz="6000" b="1" dirty="0"/>
              <a:t>: </a:t>
            </a:r>
            <a:endParaRPr lang="en-US" sz="6000" dirty="0"/>
          </a:p>
          <a:p>
            <a:pPr lvl="1"/>
            <a:r>
              <a:rPr lang="en-US" sz="4000" dirty="0" smtClean="0"/>
              <a:t>LCDs </a:t>
            </a:r>
            <a:r>
              <a:rPr lang="en-US" sz="4000" dirty="0"/>
              <a:t>with a small number of segments, are used in digital watches and pocket calculators, Small monochrome displays in personal organizers, or older laptop screens </a:t>
            </a:r>
          </a:p>
          <a:p>
            <a:pPr lvl="1"/>
            <a:r>
              <a:rPr lang="en-US" sz="4000" dirty="0" smtClean="0"/>
              <a:t>High-resolution </a:t>
            </a:r>
            <a:r>
              <a:rPr lang="en-US" sz="4000" dirty="0"/>
              <a:t>color displays such as modern LCD computer monitors and televisions; </a:t>
            </a:r>
          </a:p>
          <a:p>
            <a:endParaRPr lang="en-US" sz="6000" dirty="0"/>
          </a:p>
          <a:p>
            <a:r>
              <a:rPr lang="en-US" sz="6000" b="1" dirty="0"/>
              <a:t>Advantages: </a:t>
            </a:r>
            <a:endParaRPr lang="en-US" sz="6000" dirty="0"/>
          </a:p>
          <a:p>
            <a:pPr lvl="1"/>
            <a:r>
              <a:rPr lang="en-US" sz="4000" dirty="0" smtClean="0"/>
              <a:t>An </a:t>
            </a:r>
            <a:r>
              <a:rPr lang="en-US" sz="4000" dirty="0"/>
              <a:t>LCD cell consumes only microwatts of power over a thousand times less than LED displays. </a:t>
            </a:r>
          </a:p>
          <a:p>
            <a:pPr lvl="1"/>
            <a:r>
              <a:rPr lang="en-US" sz="4000" dirty="0" smtClean="0"/>
              <a:t>LCDs </a:t>
            </a:r>
            <a:r>
              <a:rPr lang="en-US" sz="4000" dirty="0"/>
              <a:t>can operate on voltages as low as 2 to 3 V and are easily driven by MOS IC drivers. </a:t>
            </a:r>
          </a:p>
          <a:p>
            <a:endParaRPr lang="en-US" sz="6000" dirty="0"/>
          </a:p>
          <a:p>
            <a:r>
              <a:rPr lang="en-US" sz="6000" b="1" dirty="0"/>
              <a:t>Limitations: </a:t>
            </a:r>
            <a:endParaRPr lang="en-US" sz="6000" dirty="0"/>
          </a:p>
          <a:p>
            <a:pPr lvl="1"/>
            <a:r>
              <a:rPr lang="en-US" sz="4000" dirty="0" smtClean="0"/>
              <a:t>They </a:t>
            </a:r>
            <a:r>
              <a:rPr lang="en-US" sz="4000" dirty="0"/>
              <a:t>cannot be seen in the dark, </a:t>
            </a:r>
          </a:p>
          <a:p>
            <a:pPr lvl="1"/>
            <a:r>
              <a:rPr lang="en-US" sz="4000" dirty="0" smtClean="0"/>
              <a:t>They </a:t>
            </a:r>
            <a:r>
              <a:rPr lang="en-US" sz="4000" dirty="0"/>
              <a:t>have a limited viewing angle; </a:t>
            </a:r>
          </a:p>
          <a:p>
            <a:pPr lvl="1"/>
            <a:r>
              <a:rPr lang="en-US" sz="4000" dirty="0" smtClean="0"/>
              <a:t>They </a:t>
            </a:r>
            <a:r>
              <a:rPr lang="en-US" sz="4000" dirty="0"/>
              <a:t>can be operated in limited temperature range. </a:t>
            </a:r>
          </a:p>
          <a:p>
            <a:endParaRPr lang="en-US" b="1" dirty="0"/>
          </a:p>
        </p:txBody>
      </p:sp>
    </p:spTree>
    <p:extLst>
      <p:ext uri="{BB962C8B-B14F-4D97-AF65-F5344CB8AC3E}">
        <p14:creationId xmlns:p14="http://schemas.microsoft.com/office/powerpoint/2010/main" val="258171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Thin Film Transistor (TFT) Technology </a:t>
            </a:r>
          </a:p>
        </p:txBody>
      </p:sp>
      <p:sp>
        <p:nvSpPr>
          <p:cNvPr id="3" name="Content Placeholder 2"/>
          <p:cNvSpPr>
            <a:spLocks noGrp="1"/>
          </p:cNvSpPr>
          <p:nvPr>
            <p:ph idx="1"/>
          </p:nvPr>
        </p:nvSpPr>
        <p:spPr/>
        <p:txBody>
          <a:bodyPr>
            <a:normAutofit fontScale="55000" lnSpcReduction="20000"/>
          </a:bodyPr>
          <a:lstStyle/>
          <a:p>
            <a:pPr algn="just"/>
            <a:r>
              <a:rPr lang="en-US" dirty="0" smtClean="0"/>
              <a:t>Normal </a:t>
            </a:r>
            <a:r>
              <a:rPr lang="en-US" dirty="0"/>
              <a:t>LCDs like those found in calculators have direct driven image elements – a voltage can be applied across one segment without interfering with other segments of the display. </a:t>
            </a:r>
          </a:p>
          <a:p>
            <a:pPr algn="just"/>
            <a:r>
              <a:rPr lang="en-US" dirty="0" smtClean="0"/>
              <a:t>This </a:t>
            </a:r>
            <a:r>
              <a:rPr lang="en-US" dirty="0"/>
              <a:t>is impractical for a large display with a large number of picture elements (pixels), since it would require millions of connections - top and bottom connections for each one of the three colors (red, green and blue) of every pixel. </a:t>
            </a:r>
          </a:p>
          <a:p>
            <a:pPr algn="just"/>
            <a:r>
              <a:rPr lang="en-US" dirty="0" smtClean="0"/>
              <a:t>To </a:t>
            </a:r>
            <a:r>
              <a:rPr lang="en-US" dirty="0"/>
              <a:t>avoid this issue, the pixels are addressed in rows and columns which reduce the connection count from millions to thousands. </a:t>
            </a:r>
          </a:p>
          <a:p>
            <a:pPr algn="just"/>
            <a:r>
              <a:rPr lang="en-US" dirty="0" smtClean="0"/>
              <a:t>The </a:t>
            </a:r>
            <a:r>
              <a:rPr lang="en-US" dirty="0"/>
              <a:t>solution to the problem is to supply each pixel with its own transistor switch which allows each pixel to be individually controlled. </a:t>
            </a:r>
          </a:p>
          <a:p>
            <a:pPr algn="just"/>
            <a:r>
              <a:rPr lang="en-US" dirty="0" smtClean="0"/>
              <a:t>A </a:t>
            </a:r>
            <a:r>
              <a:rPr lang="en-US" b="1" dirty="0"/>
              <a:t>thin film transistor </a:t>
            </a:r>
            <a:r>
              <a:rPr lang="en-US" dirty="0"/>
              <a:t>(</a:t>
            </a:r>
            <a:r>
              <a:rPr lang="en-US" b="1" dirty="0"/>
              <a:t>TFT</a:t>
            </a:r>
            <a:r>
              <a:rPr lang="en-US" dirty="0"/>
              <a:t>) is a special kind of field effect transistor made by depositing thin films for the metallic contacts, semiconductor active layer, and dielectric layer. </a:t>
            </a:r>
          </a:p>
          <a:p>
            <a:pPr algn="just"/>
            <a:r>
              <a:rPr lang="en-US" b="1" dirty="0" smtClean="0"/>
              <a:t>TFT-LCD </a:t>
            </a:r>
            <a:r>
              <a:rPr lang="en-US" dirty="0"/>
              <a:t>(</a:t>
            </a:r>
            <a:r>
              <a:rPr lang="en-US" b="1" dirty="0"/>
              <a:t>Thin Film Transistor Liquid Crystal Display</a:t>
            </a:r>
            <a:r>
              <a:rPr lang="en-US" dirty="0"/>
              <a:t>) is a variant of liquid crystal display (LCD) which uses thin film transistor (TFT) technology to improve image quality. </a:t>
            </a:r>
          </a:p>
          <a:p>
            <a:pPr algn="just"/>
            <a:r>
              <a:rPr lang="en-US" dirty="0" smtClean="0"/>
              <a:t>TFT </a:t>
            </a:r>
            <a:r>
              <a:rPr lang="en-US" dirty="0"/>
              <a:t>LCD is one type of </a:t>
            </a:r>
            <a:r>
              <a:rPr lang="en-US" i="1" dirty="0"/>
              <a:t>active matrix </a:t>
            </a:r>
            <a:r>
              <a:rPr lang="en-US" dirty="0"/>
              <a:t>LCD. It is usually synonymous with LCD. </a:t>
            </a:r>
          </a:p>
          <a:p>
            <a:pPr algn="just"/>
            <a:r>
              <a:rPr lang="en-US" dirty="0" smtClean="0"/>
              <a:t>It </a:t>
            </a:r>
            <a:r>
              <a:rPr lang="en-US" dirty="0"/>
              <a:t>is used in both flat panel displays and projectors. </a:t>
            </a:r>
          </a:p>
          <a:p>
            <a:pPr algn="just"/>
            <a:endParaRPr lang="en-U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6200" y="76200"/>
            <a:ext cx="135255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6751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TFT-LCD </a:t>
            </a:r>
          </a:p>
        </p:txBody>
      </p:sp>
      <p:sp>
        <p:nvSpPr>
          <p:cNvPr id="3" name="Content Placeholder 2"/>
          <p:cNvSpPr>
            <a:spLocks noGrp="1"/>
          </p:cNvSpPr>
          <p:nvPr>
            <p:ph idx="1"/>
          </p:nvPr>
        </p:nvSpPr>
        <p:spPr/>
        <p:txBody>
          <a:bodyPr/>
          <a:lstStyle/>
          <a:p>
            <a:endParaRPr lang="en-US"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888" y="1395413"/>
            <a:ext cx="7896225"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4896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Construction of TFT Displays </a:t>
            </a:r>
          </a:p>
        </p:txBody>
      </p:sp>
      <p:sp>
        <p:nvSpPr>
          <p:cNvPr id="3" name="Content Placeholder 2"/>
          <p:cNvSpPr>
            <a:spLocks noGrp="1"/>
          </p:cNvSpPr>
          <p:nvPr>
            <p:ph idx="1"/>
          </p:nvPr>
        </p:nvSpPr>
        <p:spPr>
          <a:xfrm>
            <a:off x="457200" y="1219200"/>
            <a:ext cx="8229600" cy="4906963"/>
          </a:xfrm>
        </p:spPr>
        <p:txBody>
          <a:bodyPr>
            <a:normAutofit fontScale="70000" lnSpcReduction="20000"/>
          </a:bodyPr>
          <a:lstStyle/>
          <a:p>
            <a:pPr algn="just"/>
            <a:r>
              <a:rPr lang="en-US" dirty="0" smtClean="0"/>
              <a:t>Material</a:t>
            </a:r>
            <a:r>
              <a:rPr lang="en-US" dirty="0"/>
              <a:t>: </a:t>
            </a:r>
          </a:p>
          <a:p>
            <a:pPr lvl="1" algn="just"/>
            <a:r>
              <a:rPr lang="en-US" dirty="0" smtClean="0"/>
              <a:t>TFTs </a:t>
            </a:r>
            <a:r>
              <a:rPr lang="en-US" dirty="0"/>
              <a:t>are Metal-Insulator-Semiconductor Field Effect Transistors, which are used more often as bottom-gate. </a:t>
            </a:r>
          </a:p>
          <a:p>
            <a:pPr lvl="1" algn="just"/>
            <a:r>
              <a:rPr lang="en-US" dirty="0" smtClean="0"/>
              <a:t>Indium </a:t>
            </a:r>
            <a:r>
              <a:rPr lang="en-US" dirty="0"/>
              <a:t>tin oxide (ITO) is usually employed for the electrodes. </a:t>
            </a:r>
          </a:p>
          <a:p>
            <a:pPr lvl="1" algn="just"/>
            <a:r>
              <a:rPr lang="en-US" dirty="0" smtClean="0"/>
              <a:t>Most </a:t>
            </a:r>
            <a:r>
              <a:rPr lang="en-US" dirty="0"/>
              <a:t>TFTs are not transparent themselves, since many of them are based on hydrogenated amorphous silicon (</a:t>
            </a:r>
            <a:r>
              <a:rPr lang="en-US" dirty="0" err="1"/>
              <a:t>A-Si:H</a:t>
            </a:r>
            <a:r>
              <a:rPr lang="en-US" dirty="0"/>
              <a:t>) (A-Si, used as Gate-dielectric) have Low mask count; Small number of mask alignments and requires less processing steps). </a:t>
            </a:r>
          </a:p>
          <a:p>
            <a:pPr lvl="1" algn="just"/>
            <a:r>
              <a:rPr lang="en-US" dirty="0" smtClean="0"/>
              <a:t>The </a:t>
            </a:r>
            <a:r>
              <a:rPr lang="en-US" dirty="0" err="1"/>
              <a:t>bandgap</a:t>
            </a:r>
            <a:r>
              <a:rPr lang="en-US" dirty="0"/>
              <a:t> od S-Si is assumed to be less than that of crystalline silicon (1.12eV). </a:t>
            </a:r>
          </a:p>
          <a:p>
            <a:pPr algn="just"/>
            <a:r>
              <a:rPr lang="en-US" dirty="0" smtClean="0"/>
              <a:t>Construction</a:t>
            </a:r>
            <a:r>
              <a:rPr lang="en-US" dirty="0"/>
              <a:t>: </a:t>
            </a:r>
          </a:p>
          <a:p>
            <a:pPr lvl="1" algn="just"/>
            <a:r>
              <a:rPr lang="en-US" dirty="0" smtClean="0"/>
              <a:t>A </a:t>
            </a:r>
            <a:r>
              <a:rPr lang="en-US" dirty="0"/>
              <a:t>transistor switch which allows each pixel be individually controlled. </a:t>
            </a:r>
          </a:p>
          <a:p>
            <a:pPr lvl="1" algn="just"/>
            <a:r>
              <a:rPr lang="en-US" dirty="0" smtClean="0"/>
              <a:t>Each </a:t>
            </a:r>
            <a:r>
              <a:rPr lang="en-US" dirty="0"/>
              <a:t>pixel is a small capacitor with a transparent ITO [indium tin oxide ]layer at the front, a transparent layer at the back, and a layer of insulating liquid crystal between (refer to figure in previous slide). </a:t>
            </a:r>
          </a:p>
          <a:p>
            <a:pPr lvl="1" algn="just"/>
            <a:r>
              <a:rPr lang="en-US" dirty="0" smtClean="0"/>
              <a:t>All </a:t>
            </a:r>
            <a:r>
              <a:rPr lang="en-US" dirty="0"/>
              <a:t>the pixels in one row are driven with a positive voltage and all the pixels in one column are driven with a negative voltage. </a:t>
            </a:r>
          </a:p>
          <a:p>
            <a:pPr algn="just"/>
            <a:endParaRPr lang="en-US" dirty="0"/>
          </a:p>
        </p:txBody>
      </p:sp>
    </p:spTree>
    <p:extLst>
      <p:ext uri="{BB962C8B-B14F-4D97-AF65-F5344CB8AC3E}">
        <p14:creationId xmlns:p14="http://schemas.microsoft.com/office/powerpoint/2010/main" val="3369841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Advantages and Disadvantages of TFT </a:t>
            </a:r>
          </a:p>
        </p:txBody>
      </p:sp>
      <p:sp>
        <p:nvSpPr>
          <p:cNvPr id="3" name="Content Placeholder 2"/>
          <p:cNvSpPr>
            <a:spLocks noGrp="1"/>
          </p:cNvSpPr>
          <p:nvPr>
            <p:ph idx="1"/>
          </p:nvPr>
        </p:nvSpPr>
        <p:spPr/>
        <p:txBody>
          <a:bodyPr>
            <a:normAutofit fontScale="85000" lnSpcReduction="10000"/>
          </a:bodyPr>
          <a:lstStyle/>
          <a:p>
            <a:r>
              <a:rPr lang="en-US" dirty="0" smtClean="0"/>
              <a:t>Advantages</a:t>
            </a:r>
            <a:r>
              <a:rPr lang="en-US" dirty="0"/>
              <a:t>: </a:t>
            </a:r>
          </a:p>
          <a:p>
            <a:pPr lvl="1"/>
            <a:r>
              <a:rPr lang="en-US" dirty="0" smtClean="0"/>
              <a:t>Fast </a:t>
            </a:r>
            <a:r>
              <a:rPr lang="en-US" dirty="0"/>
              <a:t>response time has been a great feature of TN (twisted </a:t>
            </a:r>
            <a:r>
              <a:rPr lang="en-US" dirty="0" err="1"/>
              <a:t>nematics</a:t>
            </a:r>
            <a:r>
              <a:rPr lang="en-US" dirty="0"/>
              <a:t>) displays. </a:t>
            </a:r>
          </a:p>
          <a:p>
            <a:pPr lvl="1"/>
            <a:r>
              <a:rPr lang="en-US" dirty="0" smtClean="0"/>
              <a:t>Lower </a:t>
            </a:r>
            <a:r>
              <a:rPr lang="en-US" dirty="0"/>
              <a:t>cost of production </a:t>
            </a:r>
          </a:p>
          <a:p>
            <a:pPr lvl="1"/>
            <a:r>
              <a:rPr lang="en-US" dirty="0" smtClean="0"/>
              <a:t>Less </a:t>
            </a:r>
            <a:r>
              <a:rPr lang="en-US" dirty="0"/>
              <a:t>noise or glitter seen on the panel surface </a:t>
            </a:r>
          </a:p>
          <a:p>
            <a:endParaRPr lang="en-US" dirty="0"/>
          </a:p>
          <a:p>
            <a:r>
              <a:rPr lang="en-US" dirty="0" smtClean="0"/>
              <a:t>Disadvantages</a:t>
            </a:r>
            <a:r>
              <a:rPr lang="en-US" dirty="0"/>
              <a:t>: </a:t>
            </a:r>
          </a:p>
          <a:p>
            <a:pPr lvl="1"/>
            <a:r>
              <a:rPr lang="en-US" dirty="0" smtClean="0"/>
              <a:t>The </a:t>
            </a:r>
            <a:r>
              <a:rPr lang="en-US" dirty="0"/>
              <a:t>TFT display suffers from limited viewing angles, especially in the vertical direction. </a:t>
            </a:r>
          </a:p>
          <a:p>
            <a:pPr lvl="1"/>
            <a:r>
              <a:rPr lang="en-US" dirty="0" smtClean="0"/>
              <a:t>They </a:t>
            </a:r>
            <a:r>
              <a:rPr lang="en-US" dirty="0"/>
              <a:t>are unable to display the full 16.7 million colors (24-bit true color) available from modern graphics cards. </a:t>
            </a:r>
          </a:p>
        </p:txBody>
      </p:sp>
    </p:spTree>
    <p:extLst>
      <p:ext uri="{BB962C8B-B14F-4D97-AF65-F5344CB8AC3E}">
        <p14:creationId xmlns:p14="http://schemas.microsoft.com/office/powerpoint/2010/main" val="3988103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Plasma Display </a:t>
            </a:r>
          </a:p>
        </p:txBody>
      </p:sp>
      <p:sp>
        <p:nvSpPr>
          <p:cNvPr id="3" name="Content Placeholder 2"/>
          <p:cNvSpPr>
            <a:spLocks noGrp="1"/>
          </p:cNvSpPr>
          <p:nvPr>
            <p:ph idx="1"/>
          </p:nvPr>
        </p:nvSpPr>
        <p:spPr/>
        <p:txBody>
          <a:bodyPr>
            <a:normAutofit fontScale="92500" lnSpcReduction="20000"/>
          </a:bodyPr>
          <a:lstStyle/>
          <a:p>
            <a:pPr algn="just"/>
            <a:r>
              <a:rPr lang="en-US" dirty="0" smtClean="0"/>
              <a:t>A </a:t>
            </a:r>
            <a:r>
              <a:rPr lang="en-US" b="1" dirty="0"/>
              <a:t>plasma display panel (PDP) </a:t>
            </a:r>
            <a:r>
              <a:rPr lang="en-US" dirty="0"/>
              <a:t>is a type of flat panel display, suitable and now commonly used for large TV displays (typically above 37-inch or 940 mm. </a:t>
            </a:r>
          </a:p>
          <a:p>
            <a:pPr algn="just"/>
            <a:r>
              <a:rPr lang="en-US" b="1" dirty="0" smtClean="0"/>
              <a:t>Construction</a:t>
            </a:r>
            <a:r>
              <a:rPr lang="en-US" b="1" dirty="0"/>
              <a:t>: </a:t>
            </a:r>
            <a:endParaRPr lang="en-US" dirty="0"/>
          </a:p>
          <a:p>
            <a:pPr lvl="1" algn="just"/>
            <a:r>
              <a:rPr lang="en-US" dirty="0" smtClean="0"/>
              <a:t>The </a:t>
            </a:r>
            <a:r>
              <a:rPr lang="en-US" dirty="0"/>
              <a:t>xenon and neon gas in a plasma television is contained in hundreds of thousands of tiny cells positioned between two plates of glass. </a:t>
            </a:r>
          </a:p>
          <a:p>
            <a:pPr lvl="1" algn="just"/>
            <a:r>
              <a:rPr lang="en-US" dirty="0" smtClean="0"/>
              <a:t>Long </a:t>
            </a:r>
            <a:r>
              <a:rPr lang="en-US" dirty="0"/>
              <a:t>electrodes are also sandwiched between the glass plates, in front of and behind the cells. </a:t>
            </a:r>
          </a:p>
          <a:p>
            <a:pPr lvl="1" algn="just"/>
            <a:r>
              <a:rPr lang="en-US" dirty="0" smtClean="0"/>
              <a:t>Cell </a:t>
            </a:r>
            <a:r>
              <a:rPr lang="en-US" dirty="0"/>
              <a:t>are covered with a magnesium oxide protective layer. </a:t>
            </a:r>
          </a:p>
        </p:txBody>
      </p:sp>
    </p:spTree>
    <p:extLst>
      <p:ext uri="{BB962C8B-B14F-4D97-AF65-F5344CB8AC3E}">
        <p14:creationId xmlns:p14="http://schemas.microsoft.com/office/powerpoint/2010/main" val="3700019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dirty="0"/>
              <a:t>Working of PDP </a:t>
            </a:r>
          </a:p>
        </p:txBody>
      </p:sp>
      <p:sp>
        <p:nvSpPr>
          <p:cNvPr id="3" name="Content Placeholder 2"/>
          <p:cNvSpPr>
            <a:spLocks noGrp="1"/>
          </p:cNvSpPr>
          <p:nvPr>
            <p:ph idx="1"/>
          </p:nvPr>
        </p:nvSpPr>
        <p:spPr>
          <a:xfrm>
            <a:off x="457200" y="1295400"/>
            <a:ext cx="8229600" cy="4830763"/>
          </a:xfrm>
        </p:spPr>
        <p:txBody>
          <a:bodyPr>
            <a:normAutofit fontScale="70000" lnSpcReduction="20000"/>
          </a:bodyPr>
          <a:lstStyle/>
          <a:p>
            <a:pPr algn="just"/>
            <a:r>
              <a:rPr lang="en-US" dirty="0" smtClean="0"/>
              <a:t>Control </a:t>
            </a:r>
            <a:r>
              <a:rPr lang="en-US" dirty="0"/>
              <a:t>circuitry charges the electrodes that cross paths at cell, </a:t>
            </a:r>
          </a:p>
          <a:p>
            <a:pPr algn="just"/>
            <a:r>
              <a:rPr lang="en-US" dirty="0" smtClean="0"/>
              <a:t>This </a:t>
            </a:r>
            <a:r>
              <a:rPr lang="en-US" dirty="0"/>
              <a:t>creates a voltage difference between front and back and causing the gas to ionize and form a plasma. </a:t>
            </a:r>
          </a:p>
          <a:p>
            <a:pPr algn="just"/>
            <a:r>
              <a:rPr lang="en-US" dirty="0" smtClean="0"/>
              <a:t>As </a:t>
            </a:r>
            <a:r>
              <a:rPr lang="en-US" dirty="0"/>
              <a:t>the gas ions rush to the electrodes and collide, photons are emitted. </a:t>
            </a:r>
          </a:p>
          <a:p>
            <a:pPr algn="just"/>
            <a:r>
              <a:rPr lang="en-US" dirty="0" smtClean="0"/>
              <a:t>In </a:t>
            </a:r>
            <a:r>
              <a:rPr lang="en-US" dirty="0"/>
              <a:t>color panels, the back of each cell is coated with a phosphor. The ultraviolet photons emitted by the plasma excite these phosphors to give off colored light. </a:t>
            </a:r>
          </a:p>
          <a:p>
            <a:pPr algn="just"/>
            <a:r>
              <a:rPr lang="en-US" dirty="0" smtClean="0"/>
              <a:t>The </a:t>
            </a:r>
            <a:r>
              <a:rPr lang="en-US" dirty="0"/>
              <a:t>display panel is only about 6 cm (2½ inches) thick, and total thickness less than 10 cm. </a:t>
            </a:r>
          </a:p>
          <a:p>
            <a:pPr algn="just"/>
            <a:r>
              <a:rPr lang="en-US" dirty="0" smtClean="0"/>
              <a:t>They </a:t>
            </a:r>
            <a:r>
              <a:rPr lang="en-US" dirty="0"/>
              <a:t>can be produce fairly large sizes, up to 262 cm (103 inches) diagonally. </a:t>
            </a:r>
          </a:p>
          <a:p>
            <a:pPr algn="just"/>
            <a:r>
              <a:rPr lang="en-US" dirty="0" smtClean="0"/>
              <a:t>Bright </a:t>
            </a:r>
            <a:r>
              <a:rPr lang="en-US" dirty="0"/>
              <a:t>scenes (say a football game) will draw significantly more power than darker scenes. </a:t>
            </a:r>
          </a:p>
          <a:p>
            <a:pPr algn="just"/>
            <a:r>
              <a:rPr lang="en-US" dirty="0" smtClean="0"/>
              <a:t>Limited </a:t>
            </a:r>
            <a:r>
              <a:rPr lang="en-US" dirty="0"/>
              <a:t>life time: Their lifetime is estimated at 60,000 hours </a:t>
            </a:r>
          </a:p>
        </p:txBody>
      </p:sp>
    </p:spTree>
    <p:extLst>
      <p:ext uri="{BB962C8B-B14F-4D97-AF65-F5344CB8AC3E}">
        <p14:creationId xmlns:p14="http://schemas.microsoft.com/office/powerpoint/2010/main" val="1641047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and Disadvantages </a:t>
            </a:r>
          </a:p>
        </p:txBody>
      </p:sp>
      <p:sp>
        <p:nvSpPr>
          <p:cNvPr id="3" name="Content Placeholder 2"/>
          <p:cNvSpPr>
            <a:spLocks noGrp="1"/>
          </p:cNvSpPr>
          <p:nvPr>
            <p:ph idx="1"/>
          </p:nvPr>
        </p:nvSpPr>
        <p:spPr/>
        <p:txBody>
          <a:bodyPr>
            <a:normAutofit fontScale="85000" lnSpcReduction="20000"/>
          </a:bodyPr>
          <a:lstStyle/>
          <a:p>
            <a:pPr algn="just"/>
            <a:r>
              <a:rPr lang="en-US" dirty="0" smtClean="0"/>
              <a:t>Advantages</a:t>
            </a:r>
            <a:r>
              <a:rPr lang="en-US" dirty="0"/>
              <a:t>: </a:t>
            </a:r>
          </a:p>
          <a:p>
            <a:pPr lvl="1" algn="just"/>
            <a:r>
              <a:rPr lang="en-US" dirty="0" smtClean="0"/>
              <a:t>Supports </a:t>
            </a:r>
            <a:r>
              <a:rPr lang="en-US" dirty="0"/>
              <a:t>large displays ,up to 103 inches diagonally. </a:t>
            </a:r>
          </a:p>
          <a:p>
            <a:pPr lvl="1" algn="just"/>
            <a:r>
              <a:rPr lang="en-US" dirty="0" smtClean="0"/>
              <a:t>Overall </a:t>
            </a:r>
            <a:r>
              <a:rPr lang="en-US" dirty="0"/>
              <a:t>thickness of monitor is less than 10 cm. and can be installed on a wall. </a:t>
            </a:r>
          </a:p>
          <a:p>
            <a:pPr lvl="1" algn="just"/>
            <a:r>
              <a:rPr lang="en-US" dirty="0" smtClean="0"/>
              <a:t>Faster </a:t>
            </a:r>
            <a:r>
              <a:rPr lang="en-US" dirty="0"/>
              <a:t>response time, Greater color spectrum, Wider viewing angle </a:t>
            </a:r>
          </a:p>
          <a:p>
            <a:pPr algn="just"/>
            <a:r>
              <a:rPr lang="en-US" dirty="0" smtClean="0"/>
              <a:t>Disadvantages</a:t>
            </a:r>
            <a:r>
              <a:rPr lang="en-US" dirty="0"/>
              <a:t>: </a:t>
            </a:r>
          </a:p>
          <a:p>
            <a:pPr lvl="1" algn="just"/>
            <a:r>
              <a:rPr lang="en-US" dirty="0" smtClean="0"/>
              <a:t>They </a:t>
            </a:r>
            <a:r>
              <a:rPr lang="en-US" dirty="0"/>
              <a:t>are costly as compared to CRT</a:t>
            </a:r>
            <a:r>
              <a:rPr lang="en-US" dirty="0" smtClean="0"/>
              <a:t>, LCD </a:t>
            </a:r>
            <a:r>
              <a:rPr lang="en-US" dirty="0"/>
              <a:t>displays. </a:t>
            </a:r>
          </a:p>
          <a:p>
            <a:pPr lvl="1" algn="just"/>
            <a:r>
              <a:rPr lang="en-US" dirty="0" smtClean="0"/>
              <a:t>Burn-in </a:t>
            </a:r>
            <a:r>
              <a:rPr lang="en-US" dirty="0"/>
              <a:t>problem: </a:t>
            </a:r>
          </a:p>
          <a:p>
            <a:pPr lvl="1" algn="just"/>
            <a:r>
              <a:rPr lang="en-US" dirty="0" smtClean="0"/>
              <a:t>Static </a:t>
            </a:r>
            <a:r>
              <a:rPr lang="en-US" dirty="0"/>
              <a:t>images can leave a permanent mark on screen. That is why they are not used in computer monitors and video game displays. </a:t>
            </a:r>
          </a:p>
        </p:txBody>
      </p:sp>
    </p:spTree>
    <p:extLst>
      <p:ext uri="{BB962C8B-B14F-4D97-AF65-F5344CB8AC3E}">
        <p14:creationId xmlns:p14="http://schemas.microsoft.com/office/powerpoint/2010/main" val="4911471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630</TotalTime>
  <Words>1555</Words>
  <Application>Microsoft Office PowerPoint</Application>
  <PresentationFormat>On-screen Show (4:3)</PresentationFormat>
  <Paragraphs>109</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Display Basics</vt:lpstr>
      <vt:lpstr>Flat Panel Displays </vt:lpstr>
      <vt:lpstr>Liquid Crystal Display (LCD) </vt:lpstr>
      <vt:lpstr>LCD Construction </vt:lpstr>
      <vt:lpstr>PowerPoint Presentation</vt:lpstr>
      <vt:lpstr>Types of Liquid Crystals</vt:lpstr>
      <vt:lpstr>Basic Principle </vt:lpstr>
      <vt:lpstr>Basic Principle (2)</vt:lpstr>
      <vt:lpstr>Characteristics </vt:lpstr>
      <vt:lpstr>Working Principle of LCD  </vt:lpstr>
      <vt:lpstr>Applications, Advantages &amp; Limitations of LCD </vt:lpstr>
      <vt:lpstr>Thin Film Transistor (TFT) Technology </vt:lpstr>
      <vt:lpstr>TFT-LCD </vt:lpstr>
      <vt:lpstr>Construction of TFT Displays </vt:lpstr>
      <vt:lpstr>Advantages and Disadvantages of TFT </vt:lpstr>
      <vt:lpstr>Plasma Display </vt:lpstr>
      <vt:lpstr>Working of PDP </vt:lpstr>
      <vt:lpstr>Advantages and Disadvantages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Display Basics</dc:title>
  <dc:creator>ASUS</dc:creator>
  <cp:lastModifiedBy>Lenovo</cp:lastModifiedBy>
  <cp:revision>69</cp:revision>
  <dcterms:created xsi:type="dcterms:W3CDTF">2006-08-16T00:00:00Z</dcterms:created>
  <dcterms:modified xsi:type="dcterms:W3CDTF">2026-03-08T05:32:44Z</dcterms:modified>
</cp:coreProperties>
</file>