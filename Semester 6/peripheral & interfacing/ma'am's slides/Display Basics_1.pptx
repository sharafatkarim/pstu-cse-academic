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15" r:id="rId4"/>
    <p:sldId id="316" r:id="rId5"/>
    <p:sldId id="317" r:id="rId6"/>
    <p:sldId id="318" r:id="rId7"/>
    <p:sldId id="319" r:id="rId8"/>
    <p:sldId id="321" r:id="rId9"/>
    <p:sldId id="322" r:id="rId10"/>
    <p:sldId id="323" r:id="rId11"/>
    <p:sldId id="324" r:id="rId12"/>
    <p:sldId id="264" r:id="rId13"/>
    <p:sldId id="325" r:id="rId14"/>
    <p:sldId id="266" r:id="rId15"/>
    <p:sldId id="312" r:id="rId16"/>
    <p:sldId id="313" r:id="rId17"/>
    <p:sldId id="277" r:id="rId18"/>
    <p:sldId id="278"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320"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3.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Display Basics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860757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p:txBody>
          <a:bodyPr/>
          <a:lstStyle/>
          <a:p>
            <a:pPr algn="just"/>
            <a:r>
              <a:rPr lang="en-US" dirty="0" smtClean="0"/>
              <a:t>Functions to be performed for displays</a:t>
            </a:r>
          </a:p>
          <a:p>
            <a:pPr lvl="1" algn="just"/>
            <a:r>
              <a:rPr lang="en-US" dirty="0" smtClean="0"/>
              <a:t>Output the appropriate display code</a:t>
            </a:r>
          </a:p>
          <a:p>
            <a:pPr lvl="1" algn="just"/>
            <a:r>
              <a:rPr lang="en-US" dirty="0" smtClean="0"/>
              <a:t>Output the code via right entry or left entry into the displays if there is more than one display</a:t>
            </a:r>
            <a:endParaRPr lang="en-US" dirty="0"/>
          </a:p>
        </p:txBody>
      </p:sp>
    </p:spTree>
    <p:extLst>
      <p:ext uri="{BB962C8B-B14F-4D97-AF65-F5344CB8AC3E}">
        <p14:creationId xmlns:p14="http://schemas.microsoft.com/office/powerpoint/2010/main" val="2565369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dirty="0">
                <a:effectLst>
                  <a:outerShdw blurRad="38100" dist="38100" dir="2700000" algn="tl">
                    <a:srgbClr val="FFFFFF"/>
                  </a:outerShdw>
                </a:effectLst>
              </a:rPr>
              <a:t>Types of Video Display Devices Available</a:t>
            </a:r>
            <a:endParaRPr lang="en-IN" dirty="0">
              <a:effectLst>
                <a:outerShdw blurRad="38100" dist="38100" dir="2700000" algn="tl">
                  <a:srgbClr val="FFFFFF"/>
                </a:outerShdw>
              </a:effectLst>
            </a:endParaRPr>
          </a:p>
        </p:txBody>
      </p:sp>
      <p:sp>
        <p:nvSpPr>
          <p:cNvPr id="3" name="Content Placeholder 2"/>
          <p:cNvSpPr>
            <a:spLocks noGrp="1"/>
          </p:cNvSpPr>
          <p:nvPr>
            <p:ph idx="1"/>
          </p:nvPr>
        </p:nvSpPr>
        <p:spPr/>
        <p:txBody>
          <a:bodyPr/>
          <a:lstStyle/>
          <a:p>
            <a:endParaRPr 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828800"/>
            <a:ext cx="6419850" cy="395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5015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ffectLst>
                  <a:outerShdw blurRad="38100" dist="38100" dir="2700000" algn="tl">
                    <a:srgbClr val="FFFFFF"/>
                  </a:outerShdw>
                </a:effectLst>
              </a:rPr>
              <a:t>Terminology related to display </a:t>
            </a:r>
            <a:r>
              <a:rPr lang="en-US" dirty="0" smtClean="0">
                <a:effectLst>
                  <a:outerShdw blurRad="38100" dist="38100" dir="2700000" algn="tl">
                    <a:srgbClr val="FFFFFF"/>
                  </a:outerShdw>
                </a:effectLst>
              </a:rPr>
              <a:t>devices</a:t>
            </a:r>
            <a:endParaRPr lang="en-US" dirty="0"/>
          </a:p>
        </p:txBody>
      </p:sp>
      <p:graphicFrame>
        <p:nvGraphicFramePr>
          <p:cNvPr id="4" name="Content Placeholder 3"/>
          <p:cNvGraphicFramePr>
            <a:graphicFrameLocks noGrp="1"/>
          </p:cNvGraphicFramePr>
          <p:nvPr>
            <p:ph idx="1"/>
            <p:extLst/>
          </p:nvPr>
        </p:nvGraphicFramePr>
        <p:xfrm>
          <a:off x="457200" y="1600200"/>
          <a:ext cx="8229600" cy="1463040"/>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b="1" u="sng" dirty="0" smtClean="0">
                          <a:solidFill>
                            <a:schemeClr val="tx1"/>
                          </a:solidFill>
                          <a:effectLst>
                            <a:outerShdw blurRad="38100" dist="38100" dir="2700000" algn="tl">
                              <a:srgbClr val="808080"/>
                            </a:outerShdw>
                          </a:effectLst>
                          <a:latin typeface="+mj-lt"/>
                        </a:rPr>
                        <a:t>Pixel</a:t>
                      </a:r>
                      <a:r>
                        <a:rPr lang="en-US" sz="1800" dirty="0" smtClean="0">
                          <a:solidFill>
                            <a:schemeClr val="tx1"/>
                          </a:solidFill>
                          <a:latin typeface="+mj-lt"/>
                        </a:rPr>
                        <a:t> : A pixel or the picture element is the smallest item of   information in an image. Graphic monitors display pictures by dividing the display screen into thousands of pixels arranged in rows and columns. Each image is made up of thousands of small pixels.</a:t>
                      </a:r>
                    </a:p>
                    <a:p>
                      <a:pPr algn="just"/>
                      <a:endParaRPr lang="en-US" dirty="0">
                        <a:solidFill>
                          <a:schemeClr val="tx1"/>
                        </a:solidFill>
                        <a:latin typeface="+mj-lt"/>
                      </a:endParaRPr>
                    </a:p>
                  </a:txBody>
                  <a:tcPr/>
                </a:tc>
                <a:extLst>
                  <a:ext uri="{0D108BD9-81ED-4DB2-BD59-A6C34878D82A}">
                    <a16:rowId xmlns:a16="http://schemas.microsoft.com/office/drawing/2014/main" val="10000"/>
                  </a:ext>
                </a:extLst>
              </a:tr>
            </a:tbl>
          </a:graphicData>
        </a:graphic>
      </p:graphicFrame>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100" y="3200400"/>
            <a:ext cx="6781800"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4370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ffectLst>
                  <a:outerShdw blurRad="38100" dist="38100" dir="2700000" algn="tl">
                    <a:srgbClr val="FFFFFF"/>
                  </a:outerShdw>
                </a:effectLst>
              </a:rPr>
              <a:t>Terminology related to display devices</a:t>
            </a:r>
            <a:endParaRPr lang="en-US" dirty="0"/>
          </a:p>
        </p:txBody>
      </p:sp>
      <p:graphicFrame>
        <p:nvGraphicFramePr>
          <p:cNvPr id="7" name="Content Placeholder 6"/>
          <p:cNvGraphicFramePr>
            <a:graphicFrameLocks noGrp="1"/>
          </p:cNvGraphicFramePr>
          <p:nvPr>
            <p:ph idx="1"/>
            <p:extLst/>
          </p:nvPr>
        </p:nvGraphicFramePr>
        <p:xfrm>
          <a:off x="457200" y="1600200"/>
          <a:ext cx="8229600" cy="914400"/>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b="1" u="sng" dirty="0" smtClean="0">
                          <a:solidFill>
                            <a:schemeClr val="tx1"/>
                          </a:solidFill>
                          <a:effectLst>
                            <a:outerShdw blurRad="38100" dist="38100" dir="2700000" algn="tl">
                              <a:srgbClr val="808080"/>
                            </a:outerShdw>
                          </a:effectLst>
                          <a:latin typeface="+mj-lt"/>
                        </a:rPr>
                        <a:t>Resolution</a:t>
                      </a:r>
                      <a:r>
                        <a:rPr lang="en-US" sz="1800" dirty="0" smtClean="0">
                          <a:solidFill>
                            <a:schemeClr val="tx1"/>
                          </a:solidFill>
                          <a:latin typeface="+mj-lt"/>
                        </a:rPr>
                        <a:t> : Resolution is the number of distinct pixels in each dimension that can be displayed. More the resolution more clear is the image .</a:t>
                      </a:r>
                    </a:p>
                    <a:p>
                      <a:pPr algn="just"/>
                      <a:endParaRPr lang="en-US" dirty="0">
                        <a:solidFill>
                          <a:schemeClr val="tx1"/>
                        </a:solidFill>
                        <a:latin typeface="+mj-lt"/>
                      </a:endParaRPr>
                    </a:p>
                  </a:txBody>
                  <a:tcPr/>
                </a:tc>
                <a:extLst>
                  <a:ext uri="{0D108BD9-81ED-4DB2-BD59-A6C34878D82A}">
                    <a16:rowId xmlns:a16="http://schemas.microsoft.com/office/drawing/2014/main" val="10000"/>
                  </a:ext>
                </a:extLst>
              </a:tr>
            </a:tbl>
          </a:graphicData>
        </a:graphic>
      </p:graphicFrame>
      <p:grpSp>
        <p:nvGrpSpPr>
          <p:cNvPr id="4" name="Group 6"/>
          <p:cNvGrpSpPr>
            <a:grpSpLocks/>
          </p:cNvGrpSpPr>
          <p:nvPr/>
        </p:nvGrpSpPr>
        <p:grpSpPr bwMode="auto">
          <a:xfrm>
            <a:off x="3352800" y="2971800"/>
            <a:ext cx="4324350" cy="2879725"/>
            <a:chOff x="1791" y="890"/>
            <a:chExt cx="1860" cy="1814"/>
          </a:xfrm>
        </p:grpSpPr>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 y="981"/>
              <a:ext cx="1679" cy="1612"/>
            </a:xfrm>
            <a:prstGeom prst="rect">
              <a:avLst/>
            </a:prstGeom>
            <a:noFill/>
            <a:ln w="57150">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5"/>
            <p:cNvSpPr>
              <a:spLocks noChangeArrowheads="1"/>
            </p:cNvSpPr>
            <p:nvPr/>
          </p:nvSpPr>
          <p:spPr bwMode="auto">
            <a:xfrm>
              <a:off x="1791" y="890"/>
              <a:ext cx="1860" cy="1814"/>
            </a:xfrm>
            <a:prstGeom prst="rect">
              <a:avLst/>
            </a:prstGeom>
            <a:noFill/>
            <a:ln w="5715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1676059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ffectLst>
                  <a:outerShdw blurRad="38100" dist="38100" dir="2700000" algn="tl">
                    <a:srgbClr val="FFFFFF"/>
                  </a:outerShdw>
                </a:effectLst>
              </a:rPr>
              <a:t>Terminology related to display devices</a:t>
            </a:r>
            <a:endParaRPr lang="en-US" dirty="0"/>
          </a:p>
        </p:txBody>
      </p:sp>
      <p:graphicFrame>
        <p:nvGraphicFramePr>
          <p:cNvPr id="5" name="Content Placeholder 4"/>
          <p:cNvGraphicFramePr>
            <a:graphicFrameLocks noGrp="1"/>
          </p:cNvGraphicFramePr>
          <p:nvPr>
            <p:ph sz="half" idx="1"/>
            <p:extLst/>
          </p:nvPr>
        </p:nvGraphicFramePr>
        <p:xfrm>
          <a:off x="457200" y="1600200"/>
          <a:ext cx="4038600" cy="2560320"/>
        </p:xfrm>
        <a:graphic>
          <a:graphicData uri="http://schemas.openxmlformats.org/drawingml/2006/table">
            <a:tbl>
              <a:tblPr firstRow="1" bandRow="1">
                <a:tableStyleId>{5C22544A-7EE6-4342-B048-85BDC9FD1C3A}</a:tableStyleId>
              </a:tblPr>
              <a:tblGrid>
                <a:gridCol w="4038600">
                  <a:extLst>
                    <a:ext uri="{9D8B030D-6E8A-4147-A177-3AD203B41FA5}">
                      <a16:colId xmlns:a16="http://schemas.microsoft.com/office/drawing/2014/main" val="20000"/>
                    </a:ext>
                  </a:extLst>
                </a:gridCol>
              </a:tblGrid>
              <a:tr h="370840">
                <a:tc>
                  <a:txBody>
                    <a:bodyPr/>
                    <a:lstStyle/>
                    <a:p>
                      <a:pPr algn="just" eaLnBrk="1" hangingPunct="1"/>
                      <a:r>
                        <a:rPr lang="en-US" sz="1800" dirty="0" smtClean="0">
                          <a:solidFill>
                            <a:schemeClr val="tx1"/>
                          </a:solidFill>
                          <a:latin typeface="+mj-lt"/>
                        </a:rPr>
                        <a:t>Aspect ratio of the image is the ratio of the number of X pixels to the number of Y pixels. </a:t>
                      </a:r>
                    </a:p>
                    <a:p>
                      <a:pPr algn="just" eaLnBrk="1" hangingPunct="1"/>
                      <a:r>
                        <a:rPr lang="en-US" sz="1800" dirty="0" smtClean="0">
                          <a:solidFill>
                            <a:schemeClr val="tx1"/>
                          </a:solidFill>
                          <a:latin typeface="+mj-lt"/>
                        </a:rPr>
                        <a:t>The standard aspect ratio for a PC is 4:3.</a:t>
                      </a:r>
                    </a:p>
                    <a:p>
                      <a:pPr algn="just" eaLnBrk="1" hangingPunct="1"/>
                      <a:r>
                        <a:rPr lang="en-US" sz="1800" dirty="0" smtClean="0">
                          <a:solidFill>
                            <a:schemeClr val="tx1"/>
                          </a:solidFill>
                          <a:latin typeface="+mj-lt"/>
                        </a:rPr>
                        <a:t>Displaying an image in a different aspect ratio displays the image somewhat distorted that is stretched lengthwise or widthwise.</a:t>
                      </a:r>
                    </a:p>
                    <a:p>
                      <a:endParaRPr lang="en-US" dirty="0">
                        <a:solidFill>
                          <a:schemeClr val="tx1"/>
                        </a:solidFill>
                        <a:latin typeface="+mj-lt"/>
                      </a:endParaRPr>
                    </a:p>
                  </a:txBody>
                  <a:tcPr/>
                </a:tc>
                <a:extLst>
                  <a:ext uri="{0D108BD9-81ED-4DB2-BD59-A6C34878D82A}">
                    <a16:rowId xmlns:a16="http://schemas.microsoft.com/office/drawing/2014/main" val="10000"/>
                  </a:ext>
                </a:extLst>
              </a:tr>
            </a:tbl>
          </a:graphicData>
        </a:graphic>
      </p:graphicFrame>
      <p:sp>
        <p:nvSpPr>
          <p:cNvPr id="4" name="Content Placeholder 3"/>
          <p:cNvSpPr>
            <a:spLocks noGrp="1"/>
          </p:cNvSpPr>
          <p:nvPr>
            <p:ph sz="half" idx="2"/>
          </p:nvPr>
        </p:nvSpPr>
        <p:spPr/>
        <p:txBody>
          <a:bodyPr/>
          <a:lstStyle/>
          <a:p>
            <a:endParaRPr 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9508" y="1600200"/>
            <a:ext cx="3886200" cy="401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6861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ffectLst>
                  <a:outerShdw blurRad="38100" dist="38100" dir="2700000" algn="tl">
                    <a:srgbClr val="FFFFFF"/>
                  </a:outerShdw>
                </a:effectLst>
              </a:rPr>
              <a:t>Terminology related to display devices</a:t>
            </a:r>
            <a:endParaRPr lang="en-US" dirty="0"/>
          </a:p>
        </p:txBody>
      </p:sp>
      <p:graphicFrame>
        <p:nvGraphicFramePr>
          <p:cNvPr id="5" name="Content Placeholder 4"/>
          <p:cNvGraphicFramePr>
            <a:graphicFrameLocks noGrp="1"/>
          </p:cNvGraphicFramePr>
          <p:nvPr>
            <p:ph sz="half" idx="1"/>
            <p:extLst/>
          </p:nvPr>
        </p:nvGraphicFramePr>
        <p:xfrm>
          <a:off x="457200" y="1600200"/>
          <a:ext cx="4038600" cy="2834640"/>
        </p:xfrm>
        <a:graphic>
          <a:graphicData uri="http://schemas.openxmlformats.org/drawingml/2006/table">
            <a:tbl>
              <a:tblPr firstRow="1" bandRow="1">
                <a:tableStyleId>{5C22544A-7EE6-4342-B048-85BDC9FD1C3A}</a:tableStyleId>
              </a:tblPr>
              <a:tblGrid>
                <a:gridCol w="4038600">
                  <a:extLst>
                    <a:ext uri="{9D8B030D-6E8A-4147-A177-3AD203B41FA5}">
                      <a16:colId xmlns:a16="http://schemas.microsoft.com/office/drawing/2014/main" val="20000"/>
                    </a:ext>
                  </a:extLst>
                </a:gridCol>
              </a:tblGrid>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b="1" u="sng" dirty="0" smtClean="0">
                          <a:solidFill>
                            <a:schemeClr val="tx1"/>
                          </a:solidFill>
                          <a:effectLst>
                            <a:outerShdw blurRad="38100" dist="38100" dir="2700000" algn="tl">
                              <a:srgbClr val="808080"/>
                            </a:outerShdw>
                          </a:effectLst>
                          <a:latin typeface="+mj-lt"/>
                        </a:rPr>
                        <a:t>Refreshing</a:t>
                      </a:r>
                      <a:r>
                        <a:rPr lang="en-US" sz="1800" dirty="0" smtClean="0">
                          <a:solidFill>
                            <a:schemeClr val="tx1"/>
                          </a:solidFill>
                          <a:latin typeface="+mj-lt"/>
                        </a:rPr>
                        <a:t> : When dot of phosphor is struck by an   electron beam it glows for some time and then fades away (persistence). In order to maintain a stable image the electron beam has to redraw the image number of times per second. This is refreshing. Normally in a CRT, the screen is refreshed 60 to 80 frames per second.</a:t>
                      </a:r>
                    </a:p>
                    <a:p>
                      <a:pPr algn="just"/>
                      <a:endParaRPr lang="en-US" dirty="0">
                        <a:solidFill>
                          <a:schemeClr val="tx1"/>
                        </a:solidFill>
                        <a:latin typeface="+mj-lt"/>
                      </a:endParaRPr>
                    </a:p>
                  </a:txBody>
                  <a:tcPr/>
                </a:tc>
                <a:extLst>
                  <a:ext uri="{0D108BD9-81ED-4DB2-BD59-A6C34878D82A}">
                    <a16:rowId xmlns:a16="http://schemas.microsoft.com/office/drawing/2014/main" val="10000"/>
                  </a:ext>
                </a:extLst>
              </a:tr>
            </a:tbl>
          </a:graphicData>
        </a:graphic>
      </p:graphicFrame>
      <p:sp>
        <p:nvSpPr>
          <p:cNvPr id="4" name="Content Placeholder 3"/>
          <p:cNvSpPr>
            <a:spLocks noGrp="1"/>
          </p:cNvSpPr>
          <p:nvPr>
            <p:ph sz="half" idx="2"/>
          </p:nvPr>
        </p:nvSpPr>
        <p:spPr/>
        <p:txBody>
          <a:bodyPr/>
          <a:lstStyle/>
          <a:p>
            <a:endParaRPr 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1828800"/>
            <a:ext cx="3105150"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4633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sz="half" idx="1"/>
          </p:nvPr>
        </p:nvPicPr>
        <p:blipFill>
          <a:blip r:embed="rId2"/>
          <a:stretch>
            <a:fillRect/>
          </a:stretch>
        </p:blipFill>
        <p:spPr>
          <a:xfrm>
            <a:off x="3028816" y="2426687"/>
            <a:ext cx="3086367" cy="2872989"/>
          </a:xfrm>
          <a:prstGeom prst="rect">
            <a:avLst/>
          </a:prstGeom>
        </p:spPr>
      </p:pic>
    </p:spTree>
    <p:extLst>
      <p:ext uri="{BB962C8B-B14F-4D97-AF65-F5344CB8AC3E}">
        <p14:creationId xmlns:p14="http://schemas.microsoft.com/office/powerpoint/2010/main" val="793016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sz="half" idx="1"/>
          </p:nvPr>
        </p:nvPicPr>
        <p:blipFill>
          <a:blip r:embed="rId2"/>
          <a:stretch>
            <a:fillRect/>
          </a:stretch>
        </p:blipFill>
        <p:spPr>
          <a:xfrm>
            <a:off x="2804006" y="2023152"/>
            <a:ext cx="3261643" cy="2705334"/>
          </a:xfrm>
          <a:prstGeom prst="rect">
            <a:avLst/>
          </a:prstGeom>
        </p:spPr>
      </p:pic>
      <p:pic>
        <p:nvPicPr>
          <p:cNvPr id="6" name="Picture 5"/>
          <p:cNvPicPr>
            <a:picLocks noChangeAspect="1"/>
          </p:cNvPicPr>
          <p:nvPr/>
        </p:nvPicPr>
        <p:blipFill>
          <a:blip r:embed="rId3"/>
          <a:stretch>
            <a:fillRect/>
          </a:stretch>
        </p:blipFill>
        <p:spPr>
          <a:xfrm>
            <a:off x="2804006" y="5334000"/>
            <a:ext cx="3535986" cy="784928"/>
          </a:xfrm>
          <a:prstGeom prst="rect">
            <a:avLst/>
          </a:prstGeom>
        </p:spPr>
      </p:pic>
    </p:spTree>
    <p:extLst>
      <p:ext uri="{BB962C8B-B14F-4D97-AF65-F5344CB8AC3E}">
        <p14:creationId xmlns:p14="http://schemas.microsoft.com/office/powerpoint/2010/main" val="1236131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sz="half" idx="1"/>
          </p:nvPr>
        </p:nvPicPr>
        <p:blipFill>
          <a:blip r:embed="rId2"/>
          <a:stretch>
            <a:fillRect/>
          </a:stretch>
        </p:blipFill>
        <p:spPr>
          <a:xfrm>
            <a:off x="2362200" y="2286000"/>
            <a:ext cx="4572000" cy="2625022"/>
          </a:xfrm>
          <a:prstGeom prst="rect">
            <a:avLst/>
          </a:prstGeom>
        </p:spPr>
      </p:pic>
    </p:spTree>
    <p:extLst>
      <p:ext uri="{BB962C8B-B14F-4D97-AF65-F5344CB8AC3E}">
        <p14:creationId xmlns:p14="http://schemas.microsoft.com/office/powerpoint/2010/main" val="3536847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sz="half" idx="1"/>
          </p:nvPr>
        </p:nvPicPr>
        <p:blipFill>
          <a:blip r:embed="rId2"/>
          <a:stretch>
            <a:fillRect/>
          </a:stretch>
        </p:blipFill>
        <p:spPr>
          <a:xfrm>
            <a:off x="2613490" y="2457169"/>
            <a:ext cx="3917019" cy="2812024"/>
          </a:xfrm>
          <a:prstGeom prst="rect">
            <a:avLst/>
          </a:prstGeom>
        </p:spPr>
      </p:pic>
    </p:spTree>
    <p:extLst>
      <p:ext uri="{BB962C8B-B14F-4D97-AF65-F5344CB8AC3E}">
        <p14:creationId xmlns:p14="http://schemas.microsoft.com/office/powerpoint/2010/main" val="3743909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CRT Display </a:t>
            </a:r>
          </a:p>
        </p:txBody>
      </p:sp>
      <p:sp>
        <p:nvSpPr>
          <p:cNvPr id="3" name="Content Placeholder 2"/>
          <p:cNvSpPr>
            <a:spLocks noGrp="1"/>
          </p:cNvSpPr>
          <p:nvPr>
            <p:ph idx="1"/>
          </p:nvPr>
        </p:nvSpPr>
        <p:spPr>
          <a:xfrm>
            <a:off x="457200" y="1371600"/>
            <a:ext cx="8229600" cy="4754563"/>
          </a:xfrm>
        </p:spPr>
        <p:txBody>
          <a:bodyPr>
            <a:normAutofit fontScale="92500" lnSpcReduction="20000"/>
          </a:bodyPr>
          <a:lstStyle/>
          <a:p>
            <a:pPr algn="just"/>
            <a:r>
              <a:rPr lang="en-US" dirty="0" smtClean="0"/>
              <a:t>A </a:t>
            </a:r>
            <a:r>
              <a:rPr lang="en-US" dirty="0"/>
              <a:t>CRT is a glass tube that is narrow at one end and opens to a flat screen at the other end. </a:t>
            </a:r>
          </a:p>
          <a:p>
            <a:pPr algn="just"/>
            <a:endParaRPr lang="en-US" dirty="0" smtClean="0"/>
          </a:p>
          <a:p>
            <a:pPr algn="just"/>
            <a:endParaRPr lang="en-US" dirty="0"/>
          </a:p>
          <a:p>
            <a:pPr algn="just"/>
            <a:r>
              <a:rPr lang="en-US" dirty="0" smtClean="0"/>
              <a:t>CRT </a:t>
            </a:r>
            <a:r>
              <a:rPr lang="en-US" dirty="0"/>
              <a:t>Structure: </a:t>
            </a:r>
          </a:p>
          <a:p>
            <a:pPr marL="457200" lvl="1" indent="0" algn="just">
              <a:buNone/>
            </a:pPr>
            <a:r>
              <a:rPr lang="en-US" sz="3000" dirty="0" smtClean="0"/>
              <a:t>Narrow </a:t>
            </a:r>
            <a:r>
              <a:rPr lang="en-US" sz="3000" dirty="0"/>
              <a:t>end of CRT contains </a:t>
            </a:r>
          </a:p>
          <a:p>
            <a:pPr lvl="1" algn="just"/>
            <a:r>
              <a:rPr lang="en-US" dirty="0" smtClean="0"/>
              <a:t>a </a:t>
            </a:r>
            <a:r>
              <a:rPr lang="en-US" dirty="0"/>
              <a:t>single electron gun for single-color monitor </a:t>
            </a:r>
          </a:p>
          <a:p>
            <a:pPr lvl="1" algn="just"/>
            <a:r>
              <a:rPr lang="en-US" dirty="0" smtClean="0"/>
              <a:t>Three </a:t>
            </a:r>
            <a:r>
              <a:rPr lang="en-US" dirty="0"/>
              <a:t>electron guns for a color monitor—one each for three primary colors: red, green, and blue. </a:t>
            </a:r>
          </a:p>
          <a:p>
            <a:pPr marL="457200" lvl="1" indent="0" algn="just">
              <a:buNone/>
            </a:pPr>
            <a:r>
              <a:rPr lang="en-US" sz="3000" dirty="0" smtClean="0"/>
              <a:t>The </a:t>
            </a:r>
            <a:r>
              <a:rPr lang="en-US" sz="3000" dirty="0"/>
              <a:t>display screen is covered with tiny phosphor dots. </a:t>
            </a:r>
          </a:p>
          <a:p>
            <a:pPr algn="just"/>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2133600"/>
            <a:ext cx="3075432"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1783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219200" y="2194257"/>
            <a:ext cx="6183875" cy="3645406"/>
          </a:xfrm>
          <a:prstGeom prst="rect">
            <a:avLst/>
          </a:prstGeom>
        </p:spPr>
      </p:pic>
    </p:spTree>
    <p:extLst>
      <p:ext uri="{BB962C8B-B14F-4D97-AF65-F5344CB8AC3E}">
        <p14:creationId xmlns:p14="http://schemas.microsoft.com/office/powerpoint/2010/main" val="563790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88" y="357188"/>
            <a:ext cx="7972425" cy="614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0172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CRT Working Principle </a:t>
            </a:r>
          </a:p>
        </p:txBody>
      </p:sp>
      <p:sp>
        <p:nvSpPr>
          <p:cNvPr id="3" name="Content Placeholder 2"/>
          <p:cNvSpPr>
            <a:spLocks noGrp="1"/>
          </p:cNvSpPr>
          <p:nvPr>
            <p:ph idx="1"/>
          </p:nvPr>
        </p:nvSpPr>
        <p:spPr/>
        <p:txBody>
          <a:bodyPr>
            <a:normAutofit/>
          </a:bodyPr>
          <a:lstStyle/>
          <a:p>
            <a:r>
              <a:rPr lang="en-US" dirty="0" smtClean="0"/>
              <a:t>CRT </a:t>
            </a:r>
            <a:r>
              <a:rPr lang="en-US" dirty="0"/>
              <a:t>display works using : </a:t>
            </a:r>
          </a:p>
          <a:p>
            <a:pPr lvl="1"/>
            <a:r>
              <a:rPr lang="en-US" b="1" dirty="0" smtClean="0"/>
              <a:t>Electron </a:t>
            </a:r>
            <a:r>
              <a:rPr lang="en-US" b="1" dirty="0"/>
              <a:t>emission </a:t>
            </a:r>
            <a:endParaRPr lang="en-US" dirty="0"/>
          </a:p>
          <a:p>
            <a:pPr lvl="2"/>
            <a:r>
              <a:rPr lang="en-US" dirty="0" smtClean="0"/>
              <a:t>Electrons </a:t>
            </a:r>
            <a:r>
              <a:rPr lang="en-US" dirty="0"/>
              <a:t>are emitted from the Cathode tube. </a:t>
            </a:r>
          </a:p>
          <a:p>
            <a:pPr lvl="1"/>
            <a:r>
              <a:rPr lang="en-US" b="1" dirty="0" smtClean="0"/>
              <a:t>Phosphorescence </a:t>
            </a:r>
            <a:endParaRPr lang="en-US" dirty="0"/>
          </a:p>
          <a:p>
            <a:pPr lvl="2"/>
            <a:r>
              <a:rPr lang="en-US" dirty="0" smtClean="0"/>
              <a:t>It </a:t>
            </a:r>
            <a:r>
              <a:rPr lang="en-US" dirty="0"/>
              <a:t>is the emission of visible light, when electron beam strikes Phosphor material. </a:t>
            </a:r>
          </a:p>
        </p:txBody>
      </p:sp>
    </p:spTree>
    <p:extLst>
      <p:ext uri="{BB962C8B-B14F-4D97-AF65-F5344CB8AC3E}">
        <p14:creationId xmlns:p14="http://schemas.microsoft.com/office/powerpoint/2010/main" val="942898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 of CRT </a:t>
            </a:r>
          </a:p>
        </p:txBody>
      </p:sp>
      <p:sp>
        <p:nvSpPr>
          <p:cNvPr id="3" name="Content Placeholder 2"/>
          <p:cNvSpPr>
            <a:spLocks noGrp="1"/>
          </p:cNvSpPr>
          <p:nvPr>
            <p:ph idx="1"/>
          </p:nvPr>
        </p:nvSpPr>
        <p:spPr/>
        <p:txBody>
          <a:bodyPr>
            <a:normAutofit/>
          </a:bodyPr>
          <a:lstStyle/>
          <a:p>
            <a:r>
              <a:rPr lang="en-US" sz="2400" dirty="0"/>
              <a:t>Produces constant stream of </a:t>
            </a:r>
            <a:r>
              <a:rPr lang="en-US" sz="2400" dirty="0" smtClean="0"/>
              <a:t>electrons</a:t>
            </a:r>
          </a:p>
          <a:p>
            <a:r>
              <a:rPr lang="en-US" sz="2400" dirty="0"/>
              <a:t>Sets intensity of spot on screen </a:t>
            </a:r>
            <a:r>
              <a:rPr lang="en-US" sz="2400" dirty="0" smtClean="0"/>
              <a:t>(</a:t>
            </a:r>
            <a:r>
              <a:rPr lang="en-US" sz="2400" dirty="0"/>
              <a:t>the more negative </a:t>
            </a:r>
            <a:endParaRPr lang="en-US" sz="2400" dirty="0" smtClean="0"/>
          </a:p>
          <a:p>
            <a:pPr marL="0" indent="0">
              <a:buNone/>
            </a:pPr>
            <a:r>
              <a:rPr lang="en-US" sz="2400" dirty="0"/>
              <a:t> </a:t>
            </a:r>
            <a:r>
              <a:rPr lang="en-US" sz="2400" dirty="0" smtClean="0"/>
              <a:t>    the </a:t>
            </a:r>
            <a:r>
              <a:rPr lang="en-US" sz="2400" dirty="0"/>
              <a:t>control grid </a:t>
            </a:r>
            <a:r>
              <a:rPr lang="en-US" sz="2400" dirty="0" smtClean="0"/>
              <a:t>voltage </a:t>
            </a:r>
            <a:r>
              <a:rPr lang="en-US" sz="2400" dirty="0"/>
              <a:t>the fewer electrons pass </a:t>
            </a:r>
            <a:endParaRPr lang="en-US" sz="2400" dirty="0" smtClean="0"/>
          </a:p>
          <a:p>
            <a:pPr marL="0" indent="0">
              <a:buNone/>
            </a:pPr>
            <a:r>
              <a:rPr lang="en-US" sz="2400" dirty="0"/>
              <a:t> </a:t>
            </a:r>
            <a:r>
              <a:rPr lang="en-US" sz="2400" dirty="0" smtClean="0"/>
              <a:t>    through)</a:t>
            </a:r>
          </a:p>
          <a:p>
            <a:r>
              <a:rPr lang="en-US" sz="2400" dirty="0"/>
              <a:t>Forces e-beam into narrow stream (otherwise repel</a:t>
            </a:r>
            <a:r>
              <a:rPr lang="en-US" sz="2400" dirty="0" smtClean="0"/>
              <a:t>) </a:t>
            </a:r>
          </a:p>
          <a:p>
            <a:r>
              <a:rPr lang="en-US" sz="2400" dirty="0"/>
              <a:t>Indicates target phosphor </a:t>
            </a:r>
            <a:r>
              <a:rPr lang="en-US" sz="2400" dirty="0" smtClean="0"/>
              <a:t>spot</a:t>
            </a:r>
          </a:p>
          <a:p>
            <a:r>
              <a:rPr lang="en-US" sz="2400" dirty="0"/>
              <a:t>15,000 - 20,000 V accelerates e-beam to </a:t>
            </a:r>
            <a:r>
              <a:rPr lang="en-US" sz="2400" dirty="0" smtClean="0"/>
              <a:t>screen   </a:t>
            </a:r>
            <a:endParaRPr lang="en-US" sz="2400"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1600200"/>
            <a:ext cx="1542288"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081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outerShdw blurRad="38100" dist="38100" dir="2700000" algn="tl">
                    <a:srgbClr val="FFFFFF"/>
                  </a:outerShdw>
                </a:effectLst>
              </a:rPr>
              <a:t>Working of a Cathode Ray Tube</a:t>
            </a:r>
            <a:endParaRPr lang="en-US" dirty="0"/>
          </a:p>
        </p:txBody>
      </p:sp>
      <p:sp>
        <p:nvSpPr>
          <p:cNvPr id="3" name="Content Placeholder 2"/>
          <p:cNvSpPr>
            <a:spLocks noGrp="1"/>
          </p:cNvSpPr>
          <p:nvPr>
            <p:ph idx="1"/>
          </p:nvPr>
        </p:nvSpPr>
        <p:spPr/>
        <p:txBody>
          <a:bodyPr/>
          <a:lstStyle/>
          <a:p>
            <a:endParaRPr lang="en-US" dirty="0"/>
          </a:p>
        </p:txBody>
      </p:sp>
      <p:grpSp>
        <p:nvGrpSpPr>
          <p:cNvPr id="4" name="Group 9"/>
          <p:cNvGrpSpPr>
            <a:grpSpLocks/>
          </p:cNvGrpSpPr>
          <p:nvPr/>
        </p:nvGrpSpPr>
        <p:grpSpPr bwMode="auto">
          <a:xfrm>
            <a:off x="395288" y="1916113"/>
            <a:ext cx="8280400" cy="4464050"/>
            <a:chOff x="295" y="1298"/>
            <a:chExt cx="5216" cy="2812"/>
          </a:xfrm>
        </p:grpSpPr>
        <p:pic>
          <p:nvPicPr>
            <p:cNvPr id="5" name="Picture 4" descr="33NP01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 y="1389"/>
              <a:ext cx="5035" cy="2629"/>
            </a:xfrm>
            <a:prstGeom prst="rect">
              <a:avLst/>
            </a:prstGeom>
            <a:noFill/>
            <a:ln w="76200">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7"/>
            <p:cNvSpPr>
              <a:spLocks noChangeArrowheads="1"/>
            </p:cNvSpPr>
            <p:nvPr/>
          </p:nvSpPr>
          <p:spPr bwMode="auto">
            <a:xfrm>
              <a:off x="295" y="1298"/>
              <a:ext cx="5216" cy="2812"/>
            </a:xfrm>
            <a:prstGeom prst="rect">
              <a:avLst/>
            </a:prstGeom>
            <a:noFill/>
            <a:ln w="5715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2073354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FFFFFF"/>
                  </a:outerShdw>
                </a:effectLst>
              </a:rPr>
              <a:t>Working of a Cathode Ray Tube</a:t>
            </a:r>
            <a:endParaRPr lang="en-US" dirty="0"/>
          </a:p>
        </p:txBody>
      </p:sp>
      <p:pic>
        <p:nvPicPr>
          <p:cNvPr id="4" name="Picture 5" descr="imag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1170" y="2339181"/>
            <a:ext cx="5661660" cy="3048000"/>
          </a:xfrm>
          <a:prstGeom prst="rect">
            <a:avLst/>
          </a:prstGeom>
          <a:noFill/>
          <a:ln w="57150">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3165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FFFFFF"/>
                  </a:outerShdw>
                </a:effectLst>
              </a:rPr>
              <a:t>Color CRT</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87119827"/>
              </p:ext>
            </p:extLst>
          </p:nvPr>
        </p:nvGraphicFramePr>
        <p:xfrm>
          <a:off x="457200" y="1600200"/>
          <a:ext cx="8229600" cy="2752344"/>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370840">
                <a:tc>
                  <a:txBody>
                    <a:bodyPr/>
                    <a:lstStyle/>
                    <a:p>
                      <a:pPr marL="609600" indent="-609600" algn="just">
                        <a:lnSpc>
                          <a:spcPct val="115000"/>
                        </a:lnSpc>
                        <a:spcBef>
                          <a:spcPct val="20000"/>
                        </a:spcBef>
                      </a:pPr>
                      <a:r>
                        <a:rPr lang="en-US" sz="1800" dirty="0" smtClean="0">
                          <a:solidFill>
                            <a:schemeClr val="bg1"/>
                          </a:solidFill>
                          <a:latin typeface="+mj-lt"/>
                        </a:rPr>
                        <a:t>CRT Monitor Displays color pictures by using a  combination of phosphors that emit different colored light.</a:t>
                      </a:r>
                    </a:p>
                    <a:p>
                      <a:pPr marL="609600" indent="-609600" algn="just">
                        <a:lnSpc>
                          <a:spcPct val="115000"/>
                        </a:lnSpc>
                        <a:spcBef>
                          <a:spcPct val="20000"/>
                        </a:spcBef>
                      </a:pPr>
                      <a:endParaRPr lang="en-US" sz="1800" dirty="0" smtClean="0">
                        <a:solidFill>
                          <a:schemeClr val="bg1"/>
                        </a:solidFill>
                        <a:latin typeface="+mj-lt"/>
                      </a:endParaRPr>
                    </a:p>
                    <a:p>
                      <a:pPr marL="609600" indent="-609600" algn="just">
                        <a:lnSpc>
                          <a:spcPct val="115000"/>
                        </a:lnSpc>
                        <a:spcBef>
                          <a:spcPct val="20000"/>
                        </a:spcBef>
                      </a:pPr>
                      <a:r>
                        <a:rPr lang="en-US" sz="1800" dirty="0" smtClean="0">
                          <a:solidFill>
                            <a:schemeClr val="bg1"/>
                          </a:solidFill>
                          <a:latin typeface="+mj-lt"/>
                        </a:rPr>
                        <a:t>             Two Techniques for producing color Display with a CRT are:-</a:t>
                      </a:r>
                    </a:p>
                    <a:p>
                      <a:pPr marL="609600" indent="-609600" algn="just">
                        <a:lnSpc>
                          <a:spcPct val="115000"/>
                        </a:lnSpc>
                        <a:spcBef>
                          <a:spcPct val="20000"/>
                        </a:spcBef>
                        <a:buFont typeface="Wingdings" pitchFamily="2" charset="2"/>
                        <a:buAutoNum type="arabicPeriod"/>
                      </a:pPr>
                      <a:r>
                        <a:rPr lang="en-US" sz="1800" dirty="0" smtClean="0">
                          <a:solidFill>
                            <a:schemeClr val="bg1"/>
                          </a:solidFill>
                          <a:latin typeface="+mj-lt"/>
                        </a:rPr>
                        <a:t>Beam- Penetration </a:t>
                      </a:r>
                    </a:p>
                    <a:p>
                      <a:pPr marL="609600" indent="-609600" algn="just">
                        <a:lnSpc>
                          <a:spcPct val="115000"/>
                        </a:lnSpc>
                        <a:spcBef>
                          <a:spcPct val="20000"/>
                        </a:spcBef>
                        <a:buFont typeface="Wingdings" pitchFamily="2" charset="2"/>
                        <a:buAutoNum type="arabicPeriod"/>
                      </a:pPr>
                      <a:r>
                        <a:rPr lang="en-US" sz="1800" dirty="0" smtClean="0">
                          <a:solidFill>
                            <a:schemeClr val="bg1"/>
                          </a:solidFill>
                          <a:latin typeface="+mj-lt"/>
                        </a:rPr>
                        <a:t>Shadow Mask</a:t>
                      </a:r>
                    </a:p>
                    <a:p>
                      <a:endParaRPr lang="en-US" dirty="0" smtClean="0">
                        <a:latin typeface="+mj-lt"/>
                      </a:endParaRPr>
                    </a:p>
                    <a:p>
                      <a:endParaRPr lang="en-US" dirty="0">
                        <a:latin typeface="+mj-lt"/>
                      </a:endParaRP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990511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FFFFFF"/>
                  </a:outerShdw>
                </a:effectLst>
              </a:rPr>
              <a:t>Beam Penetration Method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56656145"/>
              </p:ext>
            </p:extLst>
          </p:nvPr>
        </p:nvGraphicFramePr>
        <p:xfrm>
          <a:off x="457200" y="1600200"/>
          <a:ext cx="8229600" cy="3108960"/>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370840">
                <a:tc>
                  <a:txBody>
                    <a:bodyPr/>
                    <a:lstStyle/>
                    <a:p>
                      <a:pPr marL="342900" indent="-342900" algn="just">
                        <a:lnSpc>
                          <a:spcPct val="115000"/>
                        </a:lnSpc>
                        <a:spcBef>
                          <a:spcPct val="20000"/>
                        </a:spcBef>
                        <a:buFontTx/>
                        <a:buChar char="•"/>
                      </a:pPr>
                      <a:r>
                        <a:rPr lang="en-US" sz="1800" dirty="0" smtClean="0">
                          <a:solidFill>
                            <a:schemeClr val="tx1"/>
                          </a:solidFill>
                          <a:latin typeface="+mj-lt"/>
                        </a:rPr>
                        <a:t>Used with random-scan monitors, these systems have two layers of phosphor, green (the inner layer) and red (the outer one), are coated on to the inside of the CRT screen.</a:t>
                      </a:r>
                    </a:p>
                    <a:p>
                      <a:pPr marL="342900" indent="-342900" algn="just">
                        <a:lnSpc>
                          <a:spcPct val="115000"/>
                        </a:lnSpc>
                        <a:spcBef>
                          <a:spcPct val="20000"/>
                        </a:spcBef>
                        <a:buFontTx/>
                        <a:buChar char="•"/>
                      </a:pPr>
                      <a:r>
                        <a:rPr lang="en-US" sz="1800" dirty="0" smtClean="0">
                          <a:solidFill>
                            <a:schemeClr val="tx1"/>
                          </a:solidFill>
                          <a:latin typeface="+mj-lt"/>
                        </a:rPr>
                        <a:t>The displayed color depends on how far the electron beam penetrates into the phosphor layers.</a:t>
                      </a:r>
                    </a:p>
                    <a:p>
                      <a:pPr marL="342900" indent="-342900" algn="just">
                        <a:lnSpc>
                          <a:spcPct val="115000"/>
                        </a:lnSpc>
                        <a:spcBef>
                          <a:spcPct val="20000"/>
                        </a:spcBef>
                        <a:buFontTx/>
                        <a:buChar char="•"/>
                      </a:pPr>
                      <a:r>
                        <a:rPr lang="en-US" sz="1800" dirty="0" smtClean="0">
                          <a:solidFill>
                            <a:schemeClr val="tx1"/>
                          </a:solidFill>
                          <a:latin typeface="+mj-lt"/>
                        </a:rPr>
                        <a:t>It produces a limited number of colors red, orange, yellow and green.</a:t>
                      </a:r>
                    </a:p>
                    <a:p>
                      <a:pPr marL="342900" indent="-342900" algn="just">
                        <a:lnSpc>
                          <a:spcPct val="115000"/>
                        </a:lnSpc>
                        <a:spcBef>
                          <a:spcPct val="20000"/>
                        </a:spcBef>
                        <a:buFontTx/>
                        <a:buChar char="•"/>
                      </a:pPr>
                      <a:r>
                        <a:rPr lang="en-US" sz="1800" dirty="0" smtClean="0">
                          <a:solidFill>
                            <a:schemeClr val="tx1"/>
                          </a:solidFill>
                          <a:latin typeface="+mj-lt"/>
                        </a:rPr>
                        <a:t>Inexpensive way of producing colors in Random Scan</a:t>
                      </a:r>
                    </a:p>
                    <a:p>
                      <a:pPr marL="342900" indent="-342900" algn="just">
                        <a:lnSpc>
                          <a:spcPct val="115000"/>
                        </a:lnSpc>
                        <a:spcBef>
                          <a:spcPct val="20000"/>
                        </a:spcBef>
                        <a:buFontTx/>
                        <a:buChar char="•"/>
                      </a:pPr>
                      <a:r>
                        <a:rPr lang="en-US" sz="1800" dirty="0" smtClean="0">
                          <a:solidFill>
                            <a:schemeClr val="tx1"/>
                          </a:solidFill>
                          <a:latin typeface="+mj-lt"/>
                        </a:rPr>
                        <a:t>Picture Quality is not very good.</a:t>
                      </a:r>
                    </a:p>
                    <a:p>
                      <a:endParaRPr lang="en-US" dirty="0">
                        <a:solidFill>
                          <a:schemeClr val="tx1"/>
                        </a:solidFill>
                        <a:latin typeface="+mj-lt"/>
                      </a:endParaRP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286142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FFFFFF"/>
                  </a:outerShdw>
                </a:effectLst>
              </a:rPr>
              <a:t>Shadow Mask Method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82082710"/>
              </p:ext>
            </p:extLst>
          </p:nvPr>
        </p:nvGraphicFramePr>
        <p:xfrm>
          <a:off x="457200" y="1600200"/>
          <a:ext cx="8229600" cy="2478024"/>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370840">
                <a:tc>
                  <a:txBody>
                    <a:bodyPr/>
                    <a:lstStyle/>
                    <a:p>
                      <a:pPr marL="342900" indent="-342900" algn="just">
                        <a:lnSpc>
                          <a:spcPct val="115000"/>
                        </a:lnSpc>
                        <a:spcBef>
                          <a:spcPct val="20000"/>
                        </a:spcBef>
                        <a:buFontTx/>
                        <a:buChar char="•"/>
                      </a:pPr>
                      <a:r>
                        <a:rPr lang="en-US" sz="1800" dirty="0" smtClean="0">
                          <a:solidFill>
                            <a:schemeClr val="tx1"/>
                          </a:solidFill>
                          <a:latin typeface="+mj-lt"/>
                        </a:rPr>
                        <a:t>Commonly used in raster scan systems</a:t>
                      </a:r>
                    </a:p>
                    <a:p>
                      <a:pPr marL="342900" indent="-342900" algn="just">
                        <a:lnSpc>
                          <a:spcPct val="115000"/>
                        </a:lnSpc>
                        <a:spcBef>
                          <a:spcPct val="20000"/>
                        </a:spcBef>
                        <a:buFontTx/>
                        <a:buChar char="•"/>
                      </a:pPr>
                      <a:r>
                        <a:rPr lang="en-US" sz="1800" dirty="0" smtClean="0">
                          <a:solidFill>
                            <a:schemeClr val="tx1"/>
                          </a:solidFill>
                          <a:latin typeface="+mj-lt"/>
                        </a:rPr>
                        <a:t>It can display a much wider range than Beam Penetration Method </a:t>
                      </a:r>
                    </a:p>
                    <a:p>
                      <a:pPr marL="342900" indent="-342900" algn="just">
                        <a:lnSpc>
                          <a:spcPct val="115000"/>
                        </a:lnSpc>
                        <a:spcBef>
                          <a:spcPct val="20000"/>
                        </a:spcBef>
                        <a:buFontTx/>
                        <a:buChar char="•"/>
                      </a:pPr>
                      <a:r>
                        <a:rPr lang="en-US" sz="1800" dirty="0" smtClean="0">
                          <a:solidFill>
                            <a:schemeClr val="tx1"/>
                          </a:solidFill>
                          <a:latin typeface="+mj-lt"/>
                        </a:rPr>
                        <a:t>It has three phosphor color dots (red, green and blue) at each pixel position.</a:t>
                      </a:r>
                    </a:p>
                    <a:p>
                      <a:pPr marL="342900" indent="-342900" algn="just">
                        <a:lnSpc>
                          <a:spcPct val="115000"/>
                        </a:lnSpc>
                        <a:spcBef>
                          <a:spcPct val="20000"/>
                        </a:spcBef>
                        <a:buFontTx/>
                        <a:buChar char="•"/>
                      </a:pPr>
                      <a:r>
                        <a:rPr lang="en-US" sz="1800" dirty="0" smtClean="0">
                          <a:solidFill>
                            <a:schemeClr val="tx1"/>
                          </a:solidFill>
                          <a:latin typeface="+mj-lt"/>
                        </a:rPr>
                        <a:t>These systems have three electron guns. One for each color dot.</a:t>
                      </a:r>
                    </a:p>
                    <a:p>
                      <a:pPr marL="342900" indent="-342900" algn="just">
                        <a:lnSpc>
                          <a:spcPct val="115000"/>
                        </a:lnSpc>
                        <a:spcBef>
                          <a:spcPct val="20000"/>
                        </a:spcBef>
                        <a:buFontTx/>
                        <a:buChar char="•"/>
                      </a:pPr>
                      <a:r>
                        <a:rPr lang="en-US" sz="1800" dirty="0" smtClean="0">
                          <a:solidFill>
                            <a:schemeClr val="tx1"/>
                          </a:solidFill>
                          <a:latin typeface="+mj-lt"/>
                        </a:rPr>
                        <a:t>As per the picture definition the  electron guns passes the electron beam which is properly deflected through the Shadow Mask hence forming a single beam.</a:t>
                      </a:r>
                    </a:p>
                    <a:p>
                      <a:endParaRPr lang="en-US" dirty="0">
                        <a:solidFill>
                          <a:schemeClr val="tx1"/>
                        </a:solidFill>
                        <a:latin typeface="+mj-lt"/>
                      </a:endParaRP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489748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FFFFFF"/>
                  </a:outerShdw>
                </a:effectLst>
              </a:rPr>
              <a:t>Shadow Mask Method</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220504000"/>
              </p:ext>
            </p:extLst>
          </p:nvPr>
        </p:nvGraphicFramePr>
        <p:xfrm>
          <a:off x="457200" y="1600200"/>
          <a:ext cx="8229600" cy="1188720"/>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bg1"/>
                          </a:solidFill>
                          <a:latin typeface="Comic Sans MS" pitchFamily="66" charset="0"/>
                        </a:rPr>
                        <a:t>When the beam passes through the Shadow mask. It activates the dot triangle. The phosphor dot triangle are so arranged that it activates it’s corresponding color dot when passes through the shadow mask</a:t>
                      </a:r>
                    </a:p>
                    <a:p>
                      <a:endParaRPr lang="en-US" dirty="0"/>
                    </a:p>
                  </a:txBody>
                  <a:tcPr/>
                </a:tc>
                <a:extLst>
                  <a:ext uri="{0D108BD9-81ED-4DB2-BD59-A6C34878D82A}">
                    <a16:rowId xmlns:a16="http://schemas.microsoft.com/office/drawing/2014/main" val="10000"/>
                  </a:ext>
                </a:extLst>
              </a:tr>
            </a:tbl>
          </a:graphicData>
        </a:graphic>
      </p:graphicFrame>
      <p:pic>
        <p:nvPicPr>
          <p:cNvPr id="6" name="Picture 5" descr="shadow-mask-animation"/>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a:xfrm>
            <a:off x="1789113" y="2854325"/>
            <a:ext cx="5256212" cy="30956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499370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outerShdw blurRad="38100" dist="38100" dir="2700000" algn="tl">
                    <a:srgbClr val="FFFFFF"/>
                  </a:outerShdw>
                </a:effectLst>
              </a:rPr>
              <a:t>CRT Monitor </a:t>
            </a:r>
            <a:r>
              <a:rPr lang="en-US" dirty="0" smtClean="0">
                <a:effectLst>
                  <a:outerShdw blurRad="38100" dist="38100" dir="2700000" algn="tl">
                    <a:srgbClr val="FFFFFF"/>
                  </a:outerShdw>
                </a:effectLst>
              </a:rPr>
              <a:t>Technology</a:t>
            </a:r>
            <a:endParaRPr lang="en-US" dirty="0"/>
          </a:p>
        </p:txBody>
      </p:sp>
      <p:sp>
        <p:nvSpPr>
          <p:cNvPr id="3" name="Content Placeholder 2"/>
          <p:cNvSpPr>
            <a:spLocks noGrp="1"/>
          </p:cNvSpPr>
          <p:nvPr>
            <p:ph idx="1"/>
          </p:nvPr>
        </p:nvSpPr>
        <p:spPr/>
        <p:txBody>
          <a:bodyPr/>
          <a:lstStyle/>
          <a:p>
            <a:endParaRPr lang="en-U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2538" y="2266950"/>
            <a:ext cx="6638925" cy="232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9127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effectLst>
                  <a:outerShdw blurRad="38100" dist="38100" dir="2700000" algn="tl">
                    <a:srgbClr val="FFFFFF"/>
                  </a:outerShdw>
                </a:effectLst>
              </a:rPr>
              <a:t>Random Scan Displays</a:t>
            </a:r>
            <a:br>
              <a:rPr lang="en-US" sz="2400" dirty="0">
                <a:effectLst>
                  <a:outerShdw blurRad="38100" dist="38100" dir="2700000" algn="tl">
                    <a:srgbClr val="FFFFFF"/>
                  </a:outerShdw>
                </a:effectLst>
              </a:rPr>
            </a:br>
            <a:r>
              <a:rPr lang="en-US" sz="2400" dirty="0">
                <a:effectLst>
                  <a:outerShdw blurRad="38100" dist="38100" dir="2700000" algn="tl">
                    <a:srgbClr val="FFFFFF"/>
                  </a:outerShdw>
                </a:effectLst>
              </a:rPr>
              <a:t>(also known as Stroke-writing, Vector Or Calligraphic Displays)</a:t>
            </a:r>
            <a:endParaRPr lang="en-US" sz="2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3747027"/>
              </p:ext>
            </p:extLst>
          </p:nvPr>
        </p:nvGraphicFramePr>
        <p:xfrm>
          <a:off x="457200" y="1600200"/>
          <a:ext cx="8229600" cy="1997964"/>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370840">
                <a:tc>
                  <a:txBody>
                    <a:bodyPr/>
                    <a:lstStyle/>
                    <a:p>
                      <a:pPr marL="342900" indent="-342900" algn="just">
                        <a:lnSpc>
                          <a:spcPct val="115000"/>
                        </a:lnSpc>
                        <a:spcBef>
                          <a:spcPct val="20000"/>
                        </a:spcBef>
                        <a:buFontTx/>
                        <a:buChar char="•"/>
                      </a:pPr>
                      <a:r>
                        <a:rPr lang="en-US" sz="1800" dirty="0" smtClean="0">
                          <a:solidFill>
                            <a:schemeClr val="bg1"/>
                          </a:solidFill>
                          <a:latin typeface="Comic Sans MS" pitchFamily="66" charset="0"/>
                        </a:rPr>
                        <a:t>When operated as random scan display unit, CRT has electron beam directed only to the parts of the screen where the picture is to be drawn.</a:t>
                      </a:r>
                    </a:p>
                    <a:p>
                      <a:pPr marL="342900" indent="-342900" algn="just">
                        <a:lnSpc>
                          <a:spcPct val="115000"/>
                        </a:lnSpc>
                        <a:spcBef>
                          <a:spcPct val="20000"/>
                        </a:spcBef>
                        <a:buFontTx/>
                        <a:buChar char="•"/>
                      </a:pPr>
                      <a:r>
                        <a:rPr lang="en-US" sz="1800" dirty="0" smtClean="0">
                          <a:solidFill>
                            <a:schemeClr val="bg1"/>
                          </a:solidFill>
                          <a:latin typeface="Comic Sans MS" pitchFamily="66" charset="0"/>
                        </a:rPr>
                        <a:t>These system are used for line drawing (produces smooth line drawings) applications and cannot display realistic shaded scenes.</a:t>
                      </a:r>
                    </a:p>
                    <a:p>
                      <a:endParaRPr lang="en-US" dirty="0"/>
                    </a:p>
                  </a:txBody>
                  <a:tcPr/>
                </a:tc>
                <a:extLst>
                  <a:ext uri="{0D108BD9-81ED-4DB2-BD59-A6C34878D82A}">
                    <a16:rowId xmlns:a16="http://schemas.microsoft.com/office/drawing/2014/main" val="10000"/>
                  </a:ext>
                </a:extLst>
              </a:tr>
            </a:tbl>
          </a:graphicData>
        </a:graphic>
      </p:graphicFrame>
      <p:grpSp>
        <p:nvGrpSpPr>
          <p:cNvPr id="5" name="Group 8"/>
          <p:cNvGrpSpPr>
            <a:grpSpLocks/>
          </p:cNvGrpSpPr>
          <p:nvPr/>
        </p:nvGrpSpPr>
        <p:grpSpPr bwMode="auto">
          <a:xfrm>
            <a:off x="2895600" y="4038599"/>
            <a:ext cx="3744912" cy="1981201"/>
            <a:chOff x="3152" y="1207"/>
            <a:chExt cx="2359" cy="1860"/>
          </a:xfrm>
        </p:grpSpPr>
        <p:pic>
          <p:nvPicPr>
            <p:cNvPr id="6" name="Picture 5" descr="Oscil"/>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288" y="1344"/>
              <a:ext cx="2087" cy="16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Rectangle 7"/>
            <p:cNvSpPr>
              <a:spLocks noChangeArrowheads="1"/>
            </p:cNvSpPr>
            <p:nvPr/>
          </p:nvSpPr>
          <p:spPr bwMode="auto">
            <a:xfrm>
              <a:off x="3152" y="1207"/>
              <a:ext cx="2359" cy="1860"/>
            </a:xfrm>
            <a:prstGeom prst="rect">
              <a:avLst/>
            </a:prstGeom>
            <a:noFill/>
            <a:ln w="5715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1876358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FFFFFF"/>
                  </a:outerShdw>
                </a:effectLst>
              </a:rPr>
              <a:t>Raster Scan Display</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85507"/>
              </p:ext>
            </p:extLst>
          </p:nvPr>
        </p:nvGraphicFramePr>
        <p:xfrm>
          <a:off x="457200" y="1600200"/>
          <a:ext cx="8229600" cy="2313432"/>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370840">
                <a:tc>
                  <a:txBody>
                    <a:bodyPr/>
                    <a:lstStyle/>
                    <a:p>
                      <a:pPr marL="342900" indent="-342900" algn="just">
                        <a:lnSpc>
                          <a:spcPct val="115000"/>
                        </a:lnSpc>
                        <a:spcBef>
                          <a:spcPct val="20000"/>
                        </a:spcBef>
                        <a:buFontTx/>
                        <a:buChar char="•"/>
                      </a:pPr>
                      <a:r>
                        <a:rPr lang="en-US" sz="1800" dirty="0" smtClean="0">
                          <a:solidFill>
                            <a:schemeClr val="bg1"/>
                          </a:solidFill>
                          <a:latin typeface="Comic Sans MS" pitchFamily="66" charset="0"/>
                        </a:rPr>
                        <a:t>Based on television technology , in these the electron beam sweeps across the screen one row at a time from top to bottom (scan lines swept by horizontal retrace and vertical retrace).</a:t>
                      </a:r>
                    </a:p>
                    <a:p>
                      <a:pPr marL="342900" indent="-342900" algn="just">
                        <a:lnSpc>
                          <a:spcPct val="115000"/>
                        </a:lnSpc>
                        <a:spcBef>
                          <a:spcPct val="20000"/>
                        </a:spcBef>
                        <a:buFontTx/>
                        <a:buChar char="•"/>
                      </a:pPr>
                      <a:r>
                        <a:rPr lang="en-US" sz="1800" dirty="0" smtClean="0">
                          <a:solidFill>
                            <a:schemeClr val="bg1"/>
                          </a:solidFill>
                          <a:latin typeface="Comic Sans MS" pitchFamily="66" charset="0"/>
                        </a:rPr>
                        <a:t>As the electron beam sweeps the intensity is turned on or off  as per the picture definition stored in the </a:t>
                      </a:r>
                      <a:r>
                        <a:rPr lang="en-US" sz="1800" b="1" u="none" dirty="0" smtClean="0">
                          <a:solidFill>
                            <a:schemeClr val="bg1"/>
                          </a:solidFill>
                          <a:latin typeface="Comic Sans MS" pitchFamily="66" charset="0"/>
                        </a:rPr>
                        <a:t>frame buffer </a:t>
                      </a:r>
                      <a:r>
                        <a:rPr lang="en-US" sz="1800" dirty="0" smtClean="0">
                          <a:solidFill>
                            <a:schemeClr val="bg1"/>
                          </a:solidFill>
                          <a:latin typeface="Comic Sans MS" pitchFamily="66" charset="0"/>
                        </a:rPr>
                        <a:t>to create a pattern of illuminated spots.</a:t>
                      </a:r>
                    </a:p>
                    <a:p>
                      <a:endParaRPr lang="en-US" dirty="0"/>
                    </a:p>
                  </a:txBody>
                  <a:tcPr/>
                </a:tc>
                <a:extLst>
                  <a:ext uri="{0D108BD9-81ED-4DB2-BD59-A6C34878D82A}">
                    <a16:rowId xmlns:a16="http://schemas.microsoft.com/office/drawing/2014/main" val="10000"/>
                  </a:ext>
                </a:extLst>
              </a:tr>
            </a:tbl>
          </a:graphicData>
        </a:graphic>
      </p:graphicFrame>
      <p:grpSp>
        <p:nvGrpSpPr>
          <p:cNvPr id="5" name="Group 9"/>
          <p:cNvGrpSpPr>
            <a:grpSpLocks/>
          </p:cNvGrpSpPr>
          <p:nvPr/>
        </p:nvGrpSpPr>
        <p:grpSpPr bwMode="auto">
          <a:xfrm>
            <a:off x="2819400" y="3962400"/>
            <a:ext cx="3563937" cy="2449513"/>
            <a:chOff x="2472" y="799"/>
            <a:chExt cx="3152" cy="2314"/>
          </a:xfrm>
        </p:grpSpPr>
        <p:sp>
          <p:nvSpPr>
            <p:cNvPr id="6" name="Rectangle 5"/>
            <p:cNvSpPr>
              <a:spLocks noChangeArrowheads="1"/>
            </p:cNvSpPr>
            <p:nvPr/>
          </p:nvSpPr>
          <p:spPr bwMode="auto">
            <a:xfrm>
              <a:off x="2472" y="799"/>
              <a:ext cx="3152" cy="2314"/>
            </a:xfrm>
            <a:prstGeom prst="rect">
              <a:avLst/>
            </a:prstGeom>
            <a:noFill/>
            <a:ln w="5715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7" name="Picture 7" descr="console-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2" y="935"/>
              <a:ext cx="2803" cy="2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Tree>
    <p:extLst>
      <p:ext uri="{BB962C8B-B14F-4D97-AF65-F5344CB8AC3E}">
        <p14:creationId xmlns:p14="http://schemas.microsoft.com/office/powerpoint/2010/main" val="15971249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FFFFFF"/>
                  </a:outerShdw>
                </a:effectLst>
                <a:latin typeface="Comic Sans MS" pitchFamily="66" charset="0"/>
              </a:rPr>
              <a:t>Raster Scan Display</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04110157"/>
              </p:ext>
            </p:extLst>
          </p:nvPr>
        </p:nvGraphicFramePr>
        <p:xfrm>
          <a:off x="457200" y="1600200"/>
          <a:ext cx="8229600" cy="914400"/>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bg1"/>
                          </a:solidFill>
                          <a:latin typeface="Comic Sans MS" pitchFamily="66" charset="0"/>
                        </a:rPr>
                        <a:t>Refreshing on raster scan is carried out at the rate of 60 to 80 frames per second.</a:t>
                      </a:r>
                    </a:p>
                    <a:p>
                      <a:endParaRPr lang="en-US" dirty="0"/>
                    </a:p>
                  </a:txBody>
                  <a:tcPr/>
                </a:tc>
                <a:extLst>
                  <a:ext uri="{0D108BD9-81ED-4DB2-BD59-A6C34878D82A}">
                    <a16:rowId xmlns:a16="http://schemas.microsoft.com/office/drawing/2014/main" val="10000"/>
                  </a:ext>
                </a:extLst>
              </a:tr>
            </a:tbl>
          </a:graphicData>
        </a:graphic>
      </p:graphicFrame>
      <p:grpSp>
        <p:nvGrpSpPr>
          <p:cNvPr id="5" name="Group 8"/>
          <p:cNvGrpSpPr>
            <a:grpSpLocks/>
          </p:cNvGrpSpPr>
          <p:nvPr/>
        </p:nvGrpSpPr>
        <p:grpSpPr bwMode="auto">
          <a:xfrm>
            <a:off x="2590800" y="2667000"/>
            <a:ext cx="3960812" cy="3097212"/>
            <a:chOff x="1292" y="1071"/>
            <a:chExt cx="3040" cy="2314"/>
          </a:xfrm>
        </p:grpSpPr>
        <p:pic>
          <p:nvPicPr>
            <p:cNvPr id="6" name="Picture 4" descr="ras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 y="1171"/>
              <a:ext cx="2841" cy="2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Rectangle 7"/>
            <p:cNvSpPr>
              <a:spLocks noChangeArrowheads="1"/>
            </p:cNvSpPr>
            <p:nvPr/>
          </p:nvSpPr>
          <p:spPr bwMode="auto">
            <a:xfrm>
              <a:off x="1292" y="1071"/>
              <a:ext cx="3040" cy="2314"/>
            </a:xfrm>
            <a:prstGeom prst="rect">
              <a:avLst/>
            </a:prstGeom>
            <a:noFill/>
            <a:ln w="5715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8919966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FFFFFF"/>
                  </a:outerShdw>
                </a:effectLst>
              </a:rPr>
              <a:t>Interlaced Systems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66635547"/>
              </p:ext>
            </p:extLst>
          </p:nvPr>
        </p:nvGraphicFramePr>
        <p:xfrm>
          <a:off x="457200" y="1600200"/>
          <a:ext cx="8229600" cy="1737360"/>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37084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dirty="0" smtClean="0">
                          <a:solidFill>
                            <a:schemeClr val="bg1"/>
                          </a:solidFill>
                          <a:latin typeface="Comic Sans MS" pitchFamily="66" charset="0"/>
                        </a:rPr>
                        <a:t>In some raster system, interlacing technique is used for painting the screen . Instead of refreshing every line in an interlaced mode the electron gun sweeps alternate line in each pass (each frame is displayed in two frames odd numbered being refreshed first and then the even numbered lines.).</a:t>
                      </a:r>
                    </a:p>
                    <a:p>
                      <a:pPr algn="just"/>
                      <a:endParaRPr lang="en-US" dirty="0"/>
                    </a:p>
                  </a:txBody>
                  <a:tcPr/>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960591188"/>
              </p:ext>
            </p:extLst>
          </p:nvPr>
        </p:nvGraphicFramePr>
        <p:xfrm>
          <a:off x="457200" y="3581400"/>
          <a:ext cx="6096000" cy="91440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20000"/>
                    </a:ext>
                  </a:extLst>
                </a:gridCol>
              </a:tblGrid>
              <a:tr h="370840">
                <a:tc>
                  <a:txBody>
                    <a:bodyPr/>
                    <a:lstStyle/>
                    <a:p>
                      <a:pPr eaLnBrk="1" hangingPunct="1"/>
                      <a:r>
                        <a:rPr lang="en-US" sz="1800" dirty="0" smtClean="0">
                          <a:solidFill>
                            <a:schemeClr val="bg1"/>
                          </a:solidFill>
                          <a:latin typeface="Comic Sans MS" pitchFamily="66" charset="0"/>
                        </a:rPr>
                        <a:t>* This is an effective       </a:t>
                      </a:r>
                    </a:p>
                    <a:p>
                      <a:pPr eaLnBrk="1" hangingPunct="1"/>
                      <a:r>
                        <a:rPr lang="en-US" sz="1800" dirty="0" smtClean="0">
                          <a:solidFill>
                            <a:schemeClr val="bg1"/>
                          </a:solidFill>
                          <a:latin typeface="Comic Sans MS" pitchFamily="66" charset="0"/>
                        </a:rPr>
                        <a:t>  technique  for avoiding flicker</a:t>
                      </a:r>
                    </a:p>
                    <a:p>
                      <a:endParaRPr lang="en-US" dirty="0"/>
                    </a:p>
                  </a:txBody>
                  <a:tcPr/>
                </a:tc>
                <a:extLst>
                  <a:ext uri="{0D108BD9-81ED-4DB2-BD59-A6C34878D82A}">
                    <a16:rowId xmlns:a16="http://schemas.microsoft.com/office/drawing/2014/main" val="10000"/>
                  </a:ext>
                </a:extLst>
              </a:tr>
            </a:tbl>
          </a:graphicData>
        </a:graphic>
      </p:graphicFrame>
      <p:grpSp>
        <p:nvGrpSpPr>
          <p:cNvPr id="6" name="Group 13"/>
          <p:cNvGrpSpPr>
            <a:grpSpLocks/>
          </p:cNvGrpSpPr>
          <p:nvPr/>
        </p:nvGrpSpPr>
        <p:grpSpPr bwMode="auto">
          <a:xfrm>
            <a:off x="4383088" y="3581400"/>
            <a:ext cx="4032250" cy="2667000"/>
            <a:chOff x="2925" y="2659"/>
            <a:chExt cx="2540" cy="1451"/>
          </a:xfrm>
        </p:grpSpPr>
        <p:pic>
          <p:nvPicPr>
            <p:cNvPr id="7" name="Picture 7" descr="interlace_diagram_interla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8" y="2705"/>
              <a:ext cx="2414" cy="1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2"/>
            <p:cNvSpPr>
              <a:spLocks noChangeArrowheads="1"/>
            </p:cNvSpPr>
            <p:nvPr/>
          </p:nvSpPr>
          <p:spPr bwMode="auto">
            <a:xfrm>
              <a:off x="2925" y="2659"/>
              <a:ext cx="2540" cy="1451"/>
            </a:xfrm>
            <a:prstGeom prst="rect">
              <a:avLst/>
            </a:prstGeom>
            <a:noFill/>
            <a:ln w="5715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17150237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View Storage Tube</a:t>
            </a:r>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392546949"/>
              </p:ext>
            </p:extLst>
          </p:nvPr>
        </p:nvGraphicFramePr>
        <p:xfrm>
          <a:off x="1295400" y="1828800"/>
          <a:ext cx="6858000" cy="3581400"/>
        </p:xfrm>
        <a:graphic>
          <a:graphicData uri="http://schemas.openxmlformats.org/presentationml/2006/ole">
            <mc:AlternateContent xmlns:mc="http://schemas.openxmlformats.org/markup-compatibility/2006">
              <mc:Choice xmlns:v="urn:schemas-microsoft-com:vml" Requires="v">
                <p:oleObj spid="_x0000_s15469" name="Bitmap Image" r:id="rId3" imgW="0" imgH="0" progId="Paint.Picture">
                  <p:embed/>
                </p:oleObj>
              </mc:Choice>
              <mc:Fallback>
                <p:oleObj name="Bitmap Image" r:id="rId3" imgW="0" imgH="0"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828800"/>
                        <a:ext cx="6858000" cy="3581400"/>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853629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FFFFFF"/>
                  </a:outerShdw>
                </a:effectLst>
              </a:rPr>
              <a:t>Direct View Storage Tube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36960691"/>
              </p:ext>
            </p:extLst>
          </p:nvPr>
        </p:nvGraphicFramePr>
        <p:xfrm>
          <a:off x="457200" y="1600200"/>
          <a:ext cx="8229600" cy="2574036"/>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370840">
                <a:tc>
                  <a:txBody>
                    <a:bodyPr/>
                    <a:lstStyle/>
                    <a:p>
                      <a:pPr marL="285750" indent="-285750" algn="just">
                        <a:lnSpc>
                          <a:spcPct val="115000"/>
                        </a:lnSpc>
                        <a:buFont typeface="Arial" pitchFamily="34" charset="0"/>
                        <a:buChar char="•"/>
                      </a:pPr>
                      <a:r>
                        <a:rPr lang="en-US" sz="1800" dirty="0" smtClean="0">
                          <a:solidFill>
                            <a:schemeClr val="bg1"/>
                          </a:solidFill>
                          <a:latin typeface="Comic Sans MS" pitchFamily="66" charset="0"/>
                        </a:rPr>
                        <a:t>In all the earlier technologies we need refreshing of the screen</a:t>
                      </a:r>
                    </a:p>
                    <a:p>
                      <a:pPr marL="285750" indent="-285750" algn="just">
                        <a:lnSpc>
                          <a:spcPct val="115000"/>
                        </a:lnSpc>
                        <a:buFont typeface="Arial" pitchFamily="34" charset="0"/>
                        <a:buChar char="•"/>
                      </a:pPr>
                      <a:r>
                        <a:rPr lang="en-US" sz="1800" dirty="0" smtClean="0">
                          <a:solidFill>
                            <a:schemeClr val="bg1"/>
                          </a:solidFill>
                          <a:latin typeface="Comic Sans MS" pitchFamily="66" charset="0"/>
                        </a:rPr>
                        <a:t>An alternative method is Direct View Storage Tube. It stores the picture information as a charge distribution just behind the phosphor coated screen.</a:t>
                      </a:r>
                    </a:p>
                    <a:p>
                      <a:pPr marL="285750" indent="-285750" algn="just">
                        <a:lnSpc>
                          <a:spcPct val="115000"/>
                        </a:lnSpc>
                        <a:buFont typeface="Arial" pitchFamily="34" charset="0"/>
                        <a:buChar char="•"/>
                      </a:pPr>
                      <a:r>
                        <a:rPr lang="en-US" sz="1800" dirty="0" smtClean="0">
                          <a:solidFill>
                            <a:schemeClr val="bg1"/>
                          </a:solidFill>
                          <a:latin typeface="Comic Sans MS" pitchFamily="66" charset="0"/>
                        </a:rPr>
                        <a:t>Two electron guns primary gun and flood gun are used</a:t>
                      </a:r>
                    </a:p>
                    <a:p>
                      <a:pPr marL="285750" indent="-285750" algn="just">
                        <a:lnSpc>
                          <a:spcPct val="115000"/>
                        </a:lnSpc>
                        <a:buFont typeface="Arial" pitchFamily="34" charset="0"/>
                        <a:buChar char="•"/>
                      </a:pPr>
                      <a:r>
                        <a:rPr lang="en-US" sz="1800" dirty="0" smtClean="0">
                          <a:solidFill>
                            <a:schemeClr val="bg1"/>
                          </a:solidFill>
                          <a:latin typeface="Comic Sans MS" pitchFamily="66" charset="0"/>
                        </a:rPr>
                        <a:t>Primary gun stores the picture pattern and flood gun maintains the picture display</a:t>
                      </a:r>
                      <a:endParaRPr lang="en-IN" sz="1800" dirty="0" smtClean="0">
                        <a:solidFill>
                          <a:schemeClr val="bg1"/>
                        </a:solidFill>
                        <a:latin typeface="Comic Sans MS" pitchFamily="66" charset="0"/>
                      </a:endParaRPr>
                    </a:p>
                    <a:p>
                      <a:endParaRPr lang="en-US"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9207891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DVST v</a:t>
            </a:r>
            <a:r>
              <a:rPr lang="en-US" dirty="0" smtClean="0"/>
              <a:t>s </a:t>
            </a:r>
            <a:r>
              <a:rPr lang="en-US" dirty="0"/>
              <a:t>Refresh CRT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70250163"/>
              </p:ext>
            </p:extLst>
          </p:nvPr>
        </p:nvGraphicFramePr>
        <p:xfrm>
          <a:off x="457200" y="1600200"/>
          <a:ext cx="8229600" cy="1627632"/>
        </p:xfrm>
        <a:graphic>
          <a:graphicData uri="http://schemas.openxmlformats.org/drawingml/2006/table">
            <a:tbl>
              <a:tblPr firstRow="1" bandRow="1">
                <a:tableStyleId>{5C22544A-7EE6-4342-B048-85BDC9FD1C3A}</a:tableStyleId>
              </a:tblPr>
              <a:tblGrid>
                <a:gridCol w="8229600">
                  <a:extLst>
                    <a:ext uri="{9D8B030D-6E8A-4147-A177-3AD203B41FA5}">
                      <a16:colId xmlns:a16="http://schemas.microsoft.com/office/drawing/2014/main" val="20000"/>
                    </a:ext>
                  </a:extLst>
                </a:gridCol>
              </a:tblGrid>
              <a:tr h="370840">
                <a:tc>
                  <a:txBody>
                    <a:bodyPr/>
                    <a:lstStyle/>
                    <a:p>
                      <a:pPr algn="just" eaLnBrk="1" hangingPunct="1">
                        <a:lnSpc>
                          <a:spcPct val="115000"/>
                        </a:lnSpc>
                      </a:pPr>
                      <a:r>
                        <a:rPr lang="en-US" sz="1800" dirty="0" smtClean="0">
                          <a:solidFill>
                            <a:schemeClr val="bg1"/>
                          </a:solidFill>
                          <a:latin typeface="Comic Sans MS" pitchFamily="66" charset="0"/>
                        </a:rPr>
                        <a:t>In DVST since no refreshing required so complex pictures can be displayed at higher resolution without flicker.</a:t>
                      </a:r>
                    </a:p>
                    <a:p>
                      <a:pPr algn="just" eaLnBrk="1" hangingPunct="1">
                        <a:lnSpc>
                          <a:spcPct val="115000"/>
                        </a:lnSpc>
                      </a:pPr>
                      <a:r>
                        <a:rPr lang="en-US" sz="1800" dirty="0" smtClean="0">
                          <a:solidFill>
                            <a:schemeClr val="bg1"/>
                          </a:solidFill>
                          <a:latin typeface="Comic Sans MS" pitchFamily="66" charset="0"/>
                        </a:rPr>
                        <a:t>However DVST ordinarily does not display colors and parts of image cannot be erased here so not good for animation</a:t>
                      </a:r>
                    </a:p>
                    <a:p>
                      <a:endParaRPr lang="en-US" dirty="0"/>
                    </a:p>
                  </a:txBody>
                  <a:tcPr/>
                </a:tc>
                <a:extLst>
                  <a:ext uri="{0D108BD9-81ED-4DB2-BD59-A6C34878D82A}">
                    <a16:rowId xmlns:a16="http://schemas.microsoft.com/office/drawing/2014/main" val="10000"/>
                  </a:ext>
                </a:extLst>
              </a:tr>
            </a:tbl>
          </a:graphicData>
        </a:graphic>
      </p:graphicFrame>
      <p:grpSp>
        <p:nvGrpSpPr>
          <p:cNvPr id="5" name="Group 8"/>
          <p:cNvGrpSpPr>
            <a:grpSpLocks/>
          </p:cNvGrpSpPr>
          <p:nvPr/>
        </p:nvGrpSpPr>
        <p:grpSpPr bwMode="auto">
          <a:xfrm>
            <a:off x="2895600" y="3276600"/>
            <a:ext cx="3024188" cy="2303463"/>
            <a:chOff x="3424" y="1344"/>
            <a:chExt cx="2223" cy="1632"/>
          </a:xfrm>
        </p:grpSpPr>
        <p:pic>
          <p:nvPicPr>
            <p:cNvPr id="6" name="Picture 5" descr="tektroni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5" y="1434"/>
              <a:ext cx="2042" cy="1451"/>
            </a:xfrm>
            <a:prstGeom prst="rect">
              <a:avLst/>
            </a:prstGeom>
            <a:noFill/>
            <a:ln w="57150">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Rectangle 7"/>
            <p:cNvSpPr>
              <a:spLocks noChangeArrowheads="1"/>
            </p:cNvSpPr>
            <p:nvPr/>
          </p:nvSpPr>
          <p:spPr bwMode="auto">
            <a:xfrm>
              <a:off x="3424" y="1344"/>
              <a:ext cx="2223" cy="1632"/>
            </a:xfrm>
            <a:prstGeom prst="rect">
              <a:avLst/>
            </a:prstGeom>
            <a:noFill/>
            <a:ln w="5715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7754437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CRT Display: Advantages and Disadvantages</a:t>
            </a:r>
          </a:p>
        </p:txBody>
      </p:sp>
      <p:sp>
        <p:nvSpPr>
          <p:cNvPr id="3" name="Content Placeholder 2"/>
          <p:cNvSpPr>
            <a:spLocks noGrp="1"/>
          </p:cNvSpPr>
          <p:nvPr>
            <p:ph idx="1"/>
          </p:nvPr>
        </p:nvSpPr>
        <p:spPr/>
        <p:txBody>
          <a:bodyPr>
            <a:normAutofit fontScale="85000" lnSpcReduction="20000"/>
          </a:bodyPr>
          <a:lstStyle/>
          <a:p>
            <a:r>
              <a:rPr lang="en-US" b="1" dirty="0" smtClean="0"/>
              <a:t>Advantages</a:t>
            </a:r>
            <a:r>
              <a:rPr lang="en-US" b="1" dirty="0"/>
              <a:t>: </a:t>
            </a:r>
            <a:endParaRPr lang="en-US" dirty="0"/>
          </a:p>
          <a:p>
            <a:pPr lvl="1"/>
            <a:r>
              <a:rPr lang="en-US" dirty="0" smtClean="0"/>
              <a:t>Offers </a:t>
            </a:r>
            <a:r>
              <a:rPr lang="en-US" dirty="0"/>
              <a:t>greater resolution . </a:t>
            </a:r>
          </a:p>
          <a:p>
            <a:pPr lvl="1"/>
            <a:r>
              <a:rPr lang="en-US" dirty="0" smtClean="0"/>
              <a:t>Widest </a:t>
            </a:r>
            <a:r>
              <a:rPr lang="en-US" dirty="0"/>
              <a:t>viewing angle when compared to any other technology. </a:t>
            </a:r>
          </a:p>
          <a:p>
            <a:pPr lvl="1"/>
            <a:r>
              <a:rPr lang="en-US" dirty="0" smtClean="0"/>
              <a:t>It </a:t>
            </a:r>
            <a:r>
              <a:rPr lang="en-US" dirty="0"/>
              <a:t>is cheap as compared to LCD,PLASMA displays. </a:t>
            </a:r>
          </a:p>
          <a:p>
            <a:r>
              <a:rPr lang="en-US" b="1" dirty="0" smtClean="0"/>
              <a:t>Disadvantages</a:t>
            </a:r>
            <a:r>
              <a:rPr lang="en-US" b="1" dirty="0"/>
              <a:t>: </a:t>
            </a:r>
            <a:endParaRPr lang="en-US" dirty="0"/>
          </a:p>
          <a:p>
            <a:pPr lvl="1"/>
            <a:r>
              <a:rPr lang="en-US" dirty="0" smtClean="0"/>
              <a:t>Thickness </a:t>
            </a:r>
            <a:r>
              <a:rPr lang="en-US" dirty="0"/>
              <a:t>is much larger as compared to LCD, PLASMA display. </a:t>
            </a:r>
          </a:p>
          <a:p>
            <a:pPr lvl="1"/>
            <a:r>
              <a:rPr lang="en-US" dirty="0" smtClean="0"/>
              <a:t>Cannot </a:t>
            </a:r>
            <a:r>
              <a:rPr lang="en-US" dirty="0"/>
              <a:t>be used for smaller displays like watches, calculators, portable devices. </a:t>
            </a:r>
          </a:p>
          <a:p>
            <a:pPr lvl="1"/>
            <a:r>
              <a:rPr lang="en-US" dirty="0" smtClean="0"/>
              <a:t>View </a:t>
            </a:r>
            <a:r>
              <a:rPr lang="en-US" dirty="0"/>
              <a:t>area is less than the offered monitor size. </a:t>
            </a:r>
          </a:p>
          <a:p>
            <a:pPr lvl="1"/>
            <a:r>
              <a:rPr lang="en-US" dirty="0" smtClean="0"/>
              <a:t>It </a:t>
            </a:r>
            <a:r>
              <a:rPr lang="en-US" dirty="0"/>
              <a:t>is more fragile and bulky. </a:t>
            </a:r>
          </a:p>
          <a:p>
            <a:endParaRPr lang="en-US" dirty="0"/>
          </a:p>
        </p:txBody>
      </p:sp>
    </p:spTree>
    <p:extLst>
      <p:ext uri="{BB962C8B-B14F-4D97-AF65-F5344CB8AC3E}">
        <p14:creationId xmlns:p14="http://schemas.microsoft.com/office/powerpoint/2010/main" val="31721083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Flat Panel Displays </a:t>
            </a:r>
          </a:p>
        </p:txBody>
      </p:sp>
      <p:sp>
        <p:nvSpPr>
          <p:cNvPr id="3" name="Content Placeholder 2"/>
          <p:cNvSpPr>
            <a:spLocks noGrp="1"/>
          </p:cNvSpPr>
          <p:nvPr>
            <p:ph idx="1"/>
          </p:nvPr>
        </p:nvSpPr>
        <p:spPr/>
        <p:txBody>
          <a:bodyPr>
            <a:normAutofit fontScale="77500" lnSpcReduction="20000"/>
          </a:bodyPr>
          <a:lstStyle/>
          <a:p>
            <a:pPr algn="just"/>
            <a:r>
              <a:rPr lang="en-US" dirty="0" smtClean="0"/>
              <a:t>Flat-Panel </a:t>
            </a:r>
            <a:r>
              <a:rPr lang="en-US" dirty="0"/>
              <a:t>Display refers to a class of display devices that have reduced volume, weight and power requirements compared to CRT. </a:t>
            </a:r>
          </a:p>
          <a:p>
            <a:pPr algn="just"/>
            <a:r>
              <a:rPr lang="en-US" dirty="0" smtClean="0"/>
              <a:t>There </a:t>
            </a:r>
            <a:r>
              <a:rPr lang="en-US" dirty="0"/>
              <a:t>are two categories of flat panel displays: </a:t>
            </a:r>
          </a:p>
          <a:p>
            <a:pPr lvl="1" algn="just"/>
            <a:r>
              <a:rPr lang="en-US" dirty="0" smtClean="0"/>
              <a:t>Emissive </a:t>
            </a:r>
            <a:r>
              <a:rPr lang="en-US" dirty="0"/>
              <a:t>Displays </a:t>
            </a:r>
          </a:p>
          <a:p>
            <a:pPr lvl="1" algn="just"/>
            <a:r>
              <a:rPr lang="en-US" dirty="0" smtClean="0"/>
              <a:t>Non-Emissive </a:t>
            </a:r>
            <a:r>
              <a:rPr lang="en-US" dirty="0"/>
              <a:t>Displays </a:t>
            </a:r>
          </a:p>
          <a:p>
            <a:pPr algn="just"/>
            <a:r>
              <a:rPr lang="en-US" b="1" dirty="0" smtClean="0"/>
              <a:t>Emissive </a:t>
            </a:r>
            <a:r>
              <a:rPr lang="en-US" b="1" dirty="0"/>
              <a:t>Displays </a:t>
            </a:r>
            <a:r>
              <a:rPr lang="en-US" dirty="0"/>
              <a:t>(or emitters) are devices that convert electrical energy into light. Plasma Panel (PDP) and light emitting diodes (LED) are examples of </a:t>
            </a:r>
            <a:r>
              <a:rPr lang="en-US" b="1" dirty="0"/>
              <a:t>emissive displays</a:t>
            </a:r>
            <a:r>
              <a:rPr lang="en-US" dirty="0"/>
              <a:t>. </a:t>
            </a:r>
          </a:p>
          <a:p>
            <a:pPr algn="just"/>
            <a:r>
              <a:rPr lang="en-US" b="1" dirty="0" smtClean="0"/>
              <a:t>Non-emissive </a:t>
            </a:r>
            <a:r>
              <a:rPr lang="en-US" dirty="0"/>
              <a:t>displays ( or non-emitters) use optical effects to convert sunlight or light from some other source into graphics pattern </a:t>
            </a:r>
            <a:r>
              <a:rPr lang="en-US" dirty="0" err="1"/>
              <a:t>e.g</a:t>
            </a:r>
            <a:r>
              <a:rPr lang="en-US" dirty="0"/>
              <a:t> Liquid Crystal Display (LCD) </a:t>
            </a:r>
          </a:p>
          <a:p>
            <a:pPr algn="just"/>
            <a:endParaRPr lang="en-US" dirty="0"/>
          </a:p>
        </p:txBody>
      </p:sp>
    </p:spTree>
    <p:extLst>
      <p:ext uri="{BB962C8B-B14F-4D97-AF65-F5344CB8AC3E}">
        <p14:creationId xmlns:p14="http://schemas.microsoft.com/office/powerpoint/2010/main" val="9473786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Liquid Crystal Display (LCD) </a:t>
            </a:r>
          </a:p>
        </p:txBody>
      </p:sp>
      <p:sp>
        <p:nvSpPr>
          <p:cNvPr id="3" name="Content Placeholder 2"/>
          <p:cNvSpPr>
            <a:spLocks noGrp="1"/>
          </p:cNvSpPr>
          <p:nvPr>
            <p:ph idx="1"/>
          </p:nvPr>
        </p:nvSpPr>
        <p:spPr/>
        <p:txBody>
          <a:bodyPr>
            <a:normAutofit fontScale="70000" lnSpcReduction="20000"/>
          </a:bodyPr>
          <a:lstStyle/>
          <a:p>
            <a:pPr algn="just"/>
            <a:r>
              <a:rPr lang="en-US" dirty="0" smtClean="0"/>
              <a:t>A </a:t>
            </a:r>
            <a:r>
              <a:rPr lang="en-US" b="1" dirty="0"/>
              <a:t>liquid crystal display </a:t>
            </a:r>
            <a:r>
              <a:rPr lang="en-US" dirty="0"/>
              <a:t>is a thin, flat display device made up of any number of pixels arrayed in front of a light source or reflector. </a:t>
            </a:r>
          </a:p>
          <a:p>
            <a:pPr algn="just"/>
            <a:r>
              <a:rPr lang="en-US" dirty="0" smtClean="0"/>
              <a:t>It </a:t>
            </a:r>
            <a:r>
              <a:rPr lang="en-US" dirty="0"/>
              <a:t>uses very small amounts of electric power, and is suitable for use in battery-powered electronic devices. </a:t>
            </a:r>
          </a:p>
          <a:p>
            <a:pPr algn="just"/>
            <a:r>
              <a:rPr lang="en-US" dirty="0" err="1" smtClean="0"/>
              <a:t>Colour</a:t>
            </a:r>
            <a:r>
              <a:rPr lang="en-US" dirty="0" smtClean="0"/>
              <a:t> </a:t>
            </a:r>
            <a:r>
              <a:rPr lang="en-US" dirty="0"/>
              <a:t>displays are possible by incorporating </a:t>
            </a:r>
            <a:r>
              <a:rPr lang="en-US" dirty="0" err="1"/>
              <a:t>colour</a:t>
            </a:r>
            <a:r>
              <a:rPr lang="en-US" dirty="0"/>
              <a:t> filters. </a:t>
            </a:r>
          </a:p>
          <a:p>
            <a:pPr algn="just"/>
            <a:r>
              <a:rPr lang="en-US" dirty="0" smtClean="0"/>
              <a:t>The </a:t>
            </a:r>
            <a:r>
              <a:rPr lang="en-US" dirty="0"/>
              <a:t>heart of all liquid crystal displays (LCDs) is a liquid crystal itself. A liquid crystal is a substance that flows like a liquid, but its molecules orient themselves in the manner of a crystal. </a:t>
            </a:r>
          </a:p>
          <a:p>
            <a:pPr algn="just"/>
            <a:r>
              <a:rPr lang="en-US" dirty="0" smtClean="0"/>
              <a:t>That </a:t>
            </a:r>
            <a:r>
              <a:rPr lang="en-US" dirty="0"/>
              <a:t>is, it is an organic compounds, whose macroscopic behavior resemble that of liquid but shows physical properties of crystals. </a:t>
            </a:r>
          </a:p>
          <a:p>
            <a:pPr algn="just"/>
            <a:r>
              <a:rPr lang="en-US" dirty="0" smtClean="0"/>
              <a:t>A </a:t>
            </a:r>
            <a:r>
              <a:rPr lang="en-US" dirty="0"/>
              <a:t>plane has </a:t>
            </a:r>
            <a:r>
              <a:rPr lang="en-US" dirty="0" err="1"/>
              <a:t>nematic</a:t>
            </a:r>
            <a:r>
              <a:rPr lang="en-US" dirty="0"/>
              <a:t>-like structure, but with each plane molecules change their direction. As a result the molecules display a helical twist through the material. </a:t>
            </a:r>
          </a:p>
          <a:p>
            <a:pPr algn="just"/>
            <a:r>
              <a:rPr lang="en-US" dirty="0" smtClean="0"/>
              <a:t>They </a:t>
            </a:r>
            <a:r>
              <a:rPr lang="en-US" dirty="0"/>
              <a:t>have characteristics like: rod-like molecular structure, or easily polarizable constituents. </a:t>
            </a:r>
          </a:p>
          <a:p>
            <a:pPr algn="just"/>
            <a:endParaRPr lang="en-US" dirty="0"/>
          </a:p>
        </p:txBody>
      </p:sp>
    </p:spTree>
    <p:extLst>
      <p:ext uri="{BB962C8B-B14F-4D97-AF65-F5344CB8AC3E}">
        <p14:creationId xmlns:p14="http://schemas.microsoft.com/office/powerpoint/2010/main" val="21886800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LCD Construction </a:t>
            </a:r>
          </a:p>
        </p:txBody>
      </p:sp>
      <p:sp>
        <p:nvSpPr>
          <p:cNvPr id="3" name="Content Placeholder 2"/>
          <p:cNvSpPr>
            <a:spLocks noGrp="1"/>
          </p:cNvSpPr>
          <p:nvPr>
            <p:ph idx="1"/>
          </p:nvPr>
        </p:nvSpPr>
        <p:spPr/>
        <p:txBody>
          <a:bodyPr/>
          <a:lstStyle/>
          <a:p>
            <a:pPr algn="just"/>
            <a:r>
              <a:rPr lang="en-US" sz="2400" dirty="0" smtClean="0"/>
              <a:t>Each </a:t>
            </a:r>
            <a:r>
              <a:rPr lang="en-US" sz="2400" dirty="0"/>
              <a:t>pixel of an LCD consists of a layer of molecules aligned between two transparent electrodes, and two polarizing filters, whose axes are perpendicular. </a:t>
            </a:r>
          </a:p>
          <a:p>
            <a:pPr algn="just"/>
            <a:r>
              <a:rPr lang="en-US" sz="2400" dirty="0" smtClean="0"/>
              <a:t>Orientation </a:t>
            </a:r>
            <a:r>
              <a:rPr lang="en-US" sz="2400" dirty="0"/>
              <a:t>of the liquid crystal molecules is determined by the alignment at the surfaces. </a:t>
            </a:r>
          </a:p>
          <a:p>
            <a:pPr algn="just"/>
            <a:r>
              <a:rPr lang="en-US" sz="2400" b="1" dirty="0" smtClean="0"/>
              <a:t>Six </a:t>
            </a:r>
            <a:r>
              <a:rPr lang="en-US" sz="2400" b="1" dirty="0"/>
              <a:t>Layers: </a:t>
            </a:r>
            <a:endParaRPr lang="en-US" sz="2400" dirty="0"/>
          </a:p>
          <a:p>
            <a:pPr algn="just"/>
            <a:endParaRPr lang="en-US"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581400"/>
            <a:ext cx="5486400" cy="292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7753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425" y="228600"/>
            <a:ext cx="843915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96099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Basic Principle </a:t>
            </a:r>
          </a:p>
        </p:txBody>
      </p:sp>
      <p:sp>
        <p:nvSpPr>
          <p:cNvPr id="3" name="Content Placeholder 2"/>
          <p:cNvSpPr>
            <a:spLocks noGrp="1"/>
          </p:cNvSpPr>
          <p:nvPr>
            <p:ph idx="1"/>
          </p:nvPr>
        </p:nvSpPr>
        <p:spPr/>
        <p:txBody>
          <a:bodyPr>
            <a:normAutofit/>
          </a:bodyPr>
          <a:lstStyle/>
          <a:p>
            <a:pPr algn="just"/>
            <a:r>
              <a:rPr lang="en-US" sz="2000" dirty="0" smtClean="0"/>
              <a:t>Most </a:t>
            </a:r>
            <a:r>
              <a:rPr lang="en-US" sz="2000" dirty="0"/>
              <a:t>of the LCDs use twisted </a:t>
            </a:r>
            <a:r>
              <a:rPr lang="en-US" sz="2000" dirty="0" err="1"/>
              <a:t>nematic</a:t>
            </a:r>
            <a:r>
              <a:rPr lang="en-US" sz="2000" dirty="0"/>
              <a:t> cells. </a:t>
            </a:r>
          </a:p>
          <a:p>
            <a:pPr algn="just"/>
            <a:r>
              <a:rPr lang="en-US" sz="2000" dirty="0" smtClean="0"/>
              <a:t>When </a:t>
            </a:r>
            <a:r>
              <a:rPr lang="en-US" sz="2000" dirty="0"/>
              <a:t>a </a:t>
            </a:r>
            <a:r>
              <a:rPr lang="en-US" sz="2000" dirty="0" err="1"/>
              <a:t>nematic</a:t>
            </a:r>
            <a:r>
              <a:rPr lang="en-US" sz="2000" dirty="0"/>
              <a:t> liquid crystal material comes into contact with a solid surface molecules become aligned either perpendicular to the surface (</a:t>
            </a:r>
            <a:r>
              <a:rPr lang="en-US" sz="2000" dirty="0" err="1"/>
              <a:t>homeotropic</a:t>
            </a:r>
            <a:r>
              <a:rPr lang="en-US" sz="2000" dirty="0"/>
              <a:t> ordering) or parallel to the surface (homogeneous ordering). </a:t>
            </a:r>
          </a:p>
          <a:p>
            <a:pPr algn="just"/>
            <a:r>
              <a:rPr lang="en-US" sz="2000" dirty="0" smtClean="0"/>
              <a:t>These </a:t>
            </a:r>
            <a:r>
              <a:rPr lang="en-US" sz="2000" dirty="0"/>
              <a:t>two forms can be produced by suitable treatment of the surface. </a:t>
            </a:r>
          </a:p>
          <a:p>
            <a:pPr algn="just"/>
            <a:r>
              <a:rPr lang="en-US" sz="2000" dirty="0" smtClean="0"/>
              <a:t>The </a:t>
            </a:r>
            <a:r>
              <a:rPr lang="en-US" sz="2000" dirty="0"/>
              <a:t>most important electrical characteristic of liquid crystal materials is that the direction of the molecules can be controlled by the electric field. Usually the molecules tend to be orientated along the electric field. </a:t>
            </a:r>
          </a:p>
          <a:p>
            <a:pPr algn="just"/>
            <a:endParaRPr lang="en-US" sz="2000"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343400"/>
            <a:ext cx="6375400"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72402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Basic Principle (2</a:t>
            </a:r>
            <a:r>
              <a:rPr lang="en-US" dirty="0" smtClean="0"/>
              <a:t>)</a:t>
            </a:r>
            <a:endParaRPr lang="en-US" dirty="0"/>
          </a:p>
        </p:txBody>
      </p:sp>
      <p:sp>
        <p:nvSpPr>
          <p:cNvPr id="3" name="Content Placeholder 2"/>
          <p:cNvSpPr>
            <a:spLocks noGrp="1"/>
          </p:cNvSpPr>
          <p:nvPr>
            <p:ph idx="1"/>
          </p:nvPr>
        </p:nvSpPr>
        <p:spPr/>
        <p:txBody>
          <a:bodyPr>
            <a:normAutofit/>
          </a:bodyPr>
          <a:lstStyle/>
          <a:p>
            <a:pPr algn="just"/>
            <a:r>
              <a:rPr lang="en-US" sz="2400" dirty="0" smtClean="0"/>
              <a:t>When </a:t>
            </a:r>
            <a:r>
              <a:rPr lang="en-US" sz="2400" dirty="0"/>
              <a:t>a beam of </a:t>
            </a:r>
            <a:r>
              <a:rPr lang="en-US" sz="2400" dirty="0" err="1"/>
              <a:t>polarised</a:t>
            </a:r>
            <a:r>
              <a:rPr lang="en-US" sz="2400" dirty="0"/>
              <a:t> light is incident on the cell the liquid causes rotation of </a:t>
            </a:r>
            <a:r>
              <a:rPr lang="en-US" sz="2400" dirty="0" err="1"/>
              <a:t>polarisation</a:t>
            </a:r>
            <a:r>
              <a:rPr lang="en-US" sz="2400" dirty="0"/>
              <a:t> plane. </a:t>
            </a:r>
          </a:p>
          <a:p>
            <a:pPr algn="just"/>
            <a:r>
              <a:rPr lang="en-US" sz="2400" dirty="0" smtClean="0"/>
              <a:t>A </a:t>
            </a:r>
            <a:r>
              <a:rPr lang="en-US" sz="2400" dirty="0"/>
              <a:t>strong enough electric field changes orientation of molecules and in this state the molecules have no effect on an incident light beam. </a:t>
            </a:r>
          </a:p>
          <a:p>
            <a:pPr algn="just"/>
            <a:endParaRPr lang="en-US" sz="2400"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3810000"/>
            <a:ext cx="8959850" cy="221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25288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a:t>
            </a:r>
          </a:p>
        </p:txBody>
      </p:sp>
      <p:sp>
        <p:nvSpPr>
          <p:cNvPr id="3" name="Content Placeholder 2"/>
          <p:cNvSpPr>
            <a:spLocks noGrp="1"/>
          </p:cNvSpPr>
          <p:nvPr>
            <p:ph idx="1"/>
          </p:nvPr>
        </p:nvSpPr>
        <p:spPr/>
        <p:txBody>
          <a:bodyPr/>
          <a:lstStyle/>
          <a:p>
            <a:endParaRPr lang="en-US"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1576388"/>
            <a:ext cx="8162925" cy="370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98846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Working Principle of LCD </a:t>
            </a:r>
            <a:br>
              <a:rPr lang="en-US" dirty="0"/>
            </a:br>
            <a:endParaRPr lang="en-US" dirty="0"/>
          </a:p>
        </p:txBody>
      </p:sp>
      <p:sp>
        <p:nvSpPr>
          <p:cNvPr id="3" name="Content Placeholder 2"/>
          <p:cNvSpPr>
            <a:spLocks noGrp="1"/>
          </p:cNvSpPr>
          <p:nvPr>
            <p:ph idx="1"/>
          </p:nvPr>
        </p:nvSpPr>
        <p:spPr>
          <a:xfrm>
            <a:off x="457200" y="1112837"/>
            <a:ext cx="8229600" cy="5211763"/>
          </a:xfrm>
        </p:spPr>
        <p:txBody>
          <a:bodyPr>
            <a:normAutofit fontScale="70000" lnSpcReduction="20000"/>
          </a:bodyPr>
          <a:lstStyle/>
          <a:p>
            <a:pPr algn="just"/>
            <a:r>
              <a:rPr lang="en-US" dirty="0" smtClean="0"/>
              <a:t>Before </a:t>
            </a:r>
            <a:r>
              <a:rPr lang="en-US" dirty="0"/>
              <a:t>applying Electric field, the molecules arrange themselves in a helical structure, or twist. </a:t>
            </a:r>
          </a:p>
          <a:p>
            <a:pPr algn="just"/>
            <a:r>
              <a:rPr lang="en-US" dirty="0" smtClean="0"/>
              <a:t>When </a:t>
            </a:r>
            <a:r>
              <a:rPr lang="en-US" dirty="0"/>
              <a:t>a voltage is applied across the electrodes, a torque acts to align the liquid crystal molecules parallel to the electric field, distorting the helical structure . </a:t>
            </a:r>
          </a:p>
          <a:p>
            <a:pPr algn="just"/>
            <a:r>
              <a:rPr lang="en-US" dirty="0" smtClean="0"/>
              <a:t>This </a:t>
            </a:r>
            <a:r>
              <a:rPr lang="en-US" dirty="0"/>
              <a:t>reduces the rotation of the polarization of the incident light. </a:t>
            </a:r>
          </a:p>
          <a:p>
            <a:pPr algn="just"/>
            <a:r>
              <a:rPr lang="en-US" b="1" dirty="0" smtClean="0"/>
              <a:t>Classification </a:t>
            </a:r>
            <a:r>
              <a:rPr lang="en-US" b="1" dirty="0"/>
              <a:t>of LCD: </a:t>
            </a:r>
            <a:endParaRPr lang="en-US" dirty="0"/>
          </a:p>
          <a:p>
            <a:pPr lvl="1" algn="just"/>
            <a:r>
              <a:rPr lang="en-US" dirty="0" err="1" smtClean="0"/>
              <a:t>Transmissive</a:t>
            </a:r>
            <a:r>
              <a:rPr lang="en-US" dirty="0" smtClean="0"/>
              <a:t> </a:t>
            </a:r>
            <a:r>
              <a:rPr lang="en-US" dirty="0"/>
              <a:t>displays: </a:t>
            </a:r>
          </a:p>
          <a:p>
            <a:pPr lvl="2" algn="just"/>
            <a:r>
              <a:rPr lang="en-US" dirty="0" smtClean="0"/>
              <a:t>Transmission </a:t>
            </a:r>
            <a:r>
              <a:rPr lang="en-US" dirty="0"/>
              <a:t>LCD displays do not have the reflector and must be provided with rear illumination. They operate in a very similar fashion to the reflective displays. </a:t>
            </a:r>
          </a:p>
          <a:p>
            <a:pPr lvl="2" algn="just"/>
            <a:r>
              <a:rPr lang="en-US" dirty="0" smtClean="0"/>
              <a:t>It </a:t>
            </a:r>
            <a:r>
              <a:rPr lang="en-US" dirty="0"/>
              <a:t>is illuminated from the back by a backlight and viewed from the opposite side (front). Ex: Computer display. </a:t>
            </a:r>
          </a:p>
          <a:p>
            <a:pPr lvl="1" algn="just"/>
            <a:r>
              <a:rPr lang="en-US" dirty="0" smtClean="0"/>
              <a:t>Reflective </a:t>
            </a:r>
            <a:r>
              <a:rPr lang="en-US" dirty="0"/>
              <a:t>displays: </a:t>
            </a:r>
          </a:p>
          <a:p>
            <a:pPr lvl="2" algn="just"/>
            <a:r>
              <a:rPr lang="en-US" dirty="0" smtClean="0"/>
              <a:t>It </a:t>
            </a:r>
            <a:r>
              <a:rPr lang="en-US" dirty="0"/>
              <a:t>is illuminated by external light reflected by diffusing reflector behind the display. Ex: Calculator. </a:t>
            </a:r>
          </a:p>
        </p:txBody>
      </p:sp>
    </p:spTree>
    <p:extLst>
      <p:ext uri="{BB962C8B-B14F-4D97-AF65-F5344CB8AC3E}">
        <p14:creationId xmlns:p14="http://schemas.microsoft.com/office/powerpoint/2010/main" val="30274049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Applications, Advantages &amp; Limitations of LCD </a:t>
            </a:r>
          </a:p>
        </p:txBody>
      </p:sp>
      <p:sp>
        <p:nvSpPr>
          <p:cNvPr id="3" name="Content Placeholder 2"/>
          <p:cNvSpPr>
            <a:spLocks noGrp="1"/>
          </p:cNvSpPr>
          <p:nvPr>
            <p:ph idx="1"/>
          </p:nvPr>
        </p:nvSpPr>
        <p:spPr/>
        <p:txBody>
          <a:bodyPr>
            <a:normAutofit fontScale="40000" lnSpcReduction="20000"/>
          </a:bodyPr>
          <a:lstStyle/>
          <a:p>
            <a:r>
              <a:rPr lang="en-US" sz="6000" b="1" dirty="0" smtClean="0"/>
              <a:t>Applications</a:t>
            </a:r>
            <a:r>
              <a:rPr lang="en-US" sz="6000" b="1" dirty="0"/>
              <a:t>: </a:t>
            </a:r>
            <a:endParaRPr lang="en-US" sz="6000" dirty="0"/>
          </a:p>
          <a:p>
            <a:pPr lvl="1"/>
            <a:r>
              <a:rPr lang="en-US" sz="4000" dirty="0" smtClean="0"/>
              <a:t>LCDs </a:t>
            </a:r>
            <a:r>
              <a:rPr lang="en-US" sz="4000" dirty="0"/>
              <a:t>with a small number of segments, are used in digital watches and pocket calculators, Small monochrome displays in personal organizers, or older laptop screens </a:t>
            </a:r>
          </a:p>
          <a:p>
            <a:pPr lvl="1"/>
            <a:r>
              <a:rPr lang="en-US" sz="4000" dirty="0" smtClean="0"/>
              <a:t>High-resolution </a:t>
            </a:r>
            <a:r>
              <a:rPr lang="en-US" sz="4000" dirty="0"/>
              <a:t>color displays such as modern LCD computer monitors and televisions; </a:t>
            </a:r>
          </a:p>
          <a:p>
            <a:endParaRPr lang="en-US" sz="6000" dirty="0"/>
          </a:p>
          <a:p>
            <a:r>
              <a:rPr lang="en-US" sz="6000" b="1" dirty="0"/>
              <a:t>Advantages: </a:t>
            </a:r>
            <a:endParaRPr lang="en-US" sz="6000" dirty="0"/>
          </a:p>
          <a:p>
            <a:pPr lvl="1"/>
            <a:r>
              <a:rPr lang="en-US" sz="4000" dirty="0" smtClean="0"/>
              <a:t>An </a:t>
            </a:r>
            <a:r>
              <a:rPr lang="en-US" sz="4000" dirty="0"/>
              <a:t>LCD cell consumes only microwatts of power over a thousand times less than LED displays. </a:t>
            </a:r>
          </a:p>
          <a:p>
            <a:pPr lvl="1"/>
            <a:r>
              <a:rPr lang="en-US" sz="4000" dirty="0" smtClean="0"/>
              <a:t>LCDs </a:t>
            </a:r>
            <a:r>
              <a:rPr lang="en-US" sz="4000" dirty="0"/>
              <a:t>can operate on voltages as low as 2 to 3 V and are easily driven by MOS IC drivers. </a:t>
            </a:r>
          </a:p>
          <a:p>
            <a:endParaRPr lang="en-US" sz="6000" dirty="0"/>
          </a:p>
          <a:p>
            <a:r>
              <a:rPr lang="en-US" sz="6000" b="1" dirty="0"/>
              <a:t>Limitations: </a:t>
            </a:r>
            <a:endParaRPr lang="en-US" sz="6000" dirty="0"/>
          </a:p>
          <a:p>
            <a:pPr lvl="1"/>
            <a:r>
              <a:rPr lang="en-US" sz="4000" dirty="0" smtClean="0"/>
              <a:t>They </a:t>
            </a:r>
            <a:r>
              <a:rPr lang="en-US" sz="4000" dirty="0"/>
              <a:t>cannot be seen in the dark, </a:t>
            </a:r>
          </a:p>
          <a:p>
            <a:pPr lvl="1"/>
            <a:r>
              <a:rPr lang="en-US" sz="4000" dirty="0" smtClean="0"/>
              <a:t>They </a:t>
            </a:r>
            <a:r>
              <a:rPr lang="en-US" sz="4000" dirty="0"/>
              <a:t>have a limited viewing angle; </a:t>
            </a:r>
          </a:p>
          <a:p>
            <a:pPr lvl="1"/>
            <a:r>
              <a:rPr lang="en-US" sz="4000" dirty="0" smtClean="0"/>
              <a:t>They </a:t>
            </a:r>
            <a:r>
              <a:rPr lang="en-US" sz="4000" dirty="0"/>
              <a:t>can be operated in limited temperature range. </a:t>
            </a:r>
          </a:p>
          <a:p>
            <a:endParaRPr lang="en-US" b="1" dirty="0"/>
          </a:p>
        </p:txBody>
      </p:sp>
    </p:spTree>
    <p:extLst>
      <p:ext uri="{BB962C8B-B14F-4D97-AF65-F5344CB8AC3E}">
        <p14:creationId xmlns:p14="http://schemas.microsoft.com/office/powerpoint/2010/main" val="25817189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Thin Film Transistor (TFT) Technology </a:t>
            </a:r>
          </a:p>
        </p:txBody>
      </p:sp>
      <p:sp>
        <p:nvSpPr>
          <p:cNvPr id="3" name="Content Placeholder 2"/>
          <p:cNvSpPr>
            <a:spLocks noGrp="1"/>
          </p:cNvSpPr>
          <p:nvPr>
            <p:ph idx="1"/>
          </p:nvPr>
        </p:nvSpPr>
        <p:spPr/>
        <p:txBody>
          <a:bodyPr>
            <a:normAutofit fontScale="55000" lnSpcReduction="20000"/>
          </a:bodyPr>
          <a:lstStyle/>
          <a:p>
            <a:pPr algn="just"/>
            <a:r>
              <a:rPr lang="en-US" dirty="0" smtClean="0"/>
              <a:t>Normal </a:t>
            </a:r>
            <a:r>
              <a:rPr lang="en-US" dirty="0"/>
              <a:t>LCDs like those found in calculators have direct driven image elements – a voltage can be applied across one segment without interfering with other segments of the display. </a:t>
            </a:r>
          </a:p>
          <a:p>
            <a:pPr algn="just"/>
            <a:r>
              <a:rPr lang="en-US" dirty="0" smtClean="0"/>
              <a:t>This </a:t>
            </a:r>
            <a:r>
              <a:rPr lang="en-US" dirty="0"/>
              <a:t>is impractical for a large display with a large number of picture elements (pixels), since it would require millions of connections - top and bottom connections for each one of the three colors (red, green and blue) of every pixel. </a:t>
            </a:r>
          </a:p>
          <a:p>
            <a:pPr algn="just"/>
            <a:r>
              <a:rPr lang="en-US" dirty="0" smtClean="0"/>
              <a:t>To </a:t>
            </a:r>
            <a:r>
              <a:rPr lang="en-US" dirty="0"/>
              <a:t>avoid this issue, the pixels are addressed in rows and columns which reduce the connection count from millions to thousands. </a:t>
            </a:r>
          </a:p>
          <a:p>
            <a:pPr algn="just"/>
            <a:r>
              <a:rPr lang="en-US" dirty="0" smtClean="0"/>
              <a:t>The </a:t>
            </a:r>
            <a:r>
              <a:rPr lang="en-US" dirty="0"/>
              <a:t>solution to the problem is to supply each pixel with its own transistor switch which allows each pixel to be individually controlled. </a:t>
            </a:r>
          </a:p>
          <a:p>
            <a:pPr algn="just"/>
            <a:r>
              <a:rPr lang="en-US" dirty="0" smtClean="0"/>
              <a:t>A </a:t>
            </a:r>
            <a:r>
              <a:rPr lang="en-US" b="1" dirty="0"/>
              <a:t>thin film transistor </a:t>
            </a:r>
            <a:r>
              <a:rPr lang="en-US" dirty="0"/>
              <a:t>(</a:t>
            </a:r>
            <a:r>
              <a:rPr lang="en-US" b="1" dirty="0"/>
              <a:t>TFT</a:t>
            </a:r>
            <a:r>
              <a:rPr lang="en-US" dirty="0"/>
              <a:t>) is a special kind of field effect transistor made by depositing thin films for the metallic contacts, semiconductor active layer, and dielectric layer. </a:t>
            </a:r>
          </a:p>
          <a:p>
            <a:pPr algn="just"/>
            <a:r>
              <a:rPr lang="en-US" b="1" dirty="0" smtClean="0"/>
              <a:t>TFT-LCD </a:t>
            </a:r>
            <a:r>
              <a:rPr lang="en-US" dirty="0"/>
              <a:t>(</a:t>
            </a:r>
            <a:r>
              <a:rPr lang="en-US" b="1" dirty="0"/>
              <a:t>Thin Film Transistor Liquid Crystal Display</a:t>
            </a:r>
            <a:r>
              <a:rPr lang="en-US" dirty="0"/>
              <a:t>) is a variant of liquid crystal display (LCD) which uses thin film transistor (TFT) technology to improve image quality. </a:t>
            </a:r>
          </a:p>
          <a:p>
            <a:pPr algn="just"/>
            <a:r>
              <a:rPr lang="en-US" dirty="0" smtClean="0"/>
              <a:t>TFT </a:t>
            </a:r>
            <a:r>
              <a:rPr lang="en-US" dirty="0"/>
              <a:t>LCD is one type of </a:t>
            </a:r>
            <a:r>
              <a:rPr lang="en-US" i="1" dirty="0"/>
              <a:t>active matrix </a:t>
            </a:r>
            <a:r>
              <a:rPr lang="en-US" dirty="0"/>
              <a:t>LCD. It is usually synonymous with LCD. </a:t>
            </a:r>
          </a:p>
          <a:p>
            <a:pPr algn="just"/>
            <a:r>
              <a:rPr lang="en-US" dirty="0" smtClean="0"/>
              <a:t>It </a:t>
            </a:r>
            <a:r>
              <a:rPr lang="en-US" dirty="0"/>
              <a:t>is used in both flat panel displays and projectors. </a:t>
            </a:r>
          </a:p>
          <a:p>
            <a:pPr algn="just"/>
            <a:endParaRPr lang="en-US" dirty="0"/>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6200" y="76200"/>
            <a:ext cx="135255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67518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TFT-LCD </a:t>
            </a:r>
          </a:p>
        </p:txBody>
      </p:sp>
      <p:sp>
        <p:nvSpPr>
          <p:cNvPr id="3" name="Content Placeholder 2"/>
          <p:cNvSpPr>
            <a:spLocks noGrp="1"/>
          </p:cNvSpPr>
          <p:nvPr>
            <p:ph idx="1"/>
          </p:nvPr>
        </p:nvSpPr>
        <p:spPr/>
        <p:txBody>
          <a:bodyPr/>
          <a:lstStyle/>
          <a:p>
            <a:endParaRPr lang="en-US" dirty="0"/>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888" y="1395413"/>
            <a:ext cx="7896225"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48967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Construction of TFT Displays </a:t>
            </a:r>
          </a:p>
        </p:txBody>
      </p:sp>
      <p:sp>
        <p:nvSpPr>
          <p:cNvPr id="3" name="Content Placeholder 2"/>
          <p:cNvSpPr>
            <a:spLocks noGrp="1"/>
          </p:cNvSpPr>
          <p:nvPr>
            <p:ph idx="1"/>
          </p:nvPr>
        </p:nvSpPr>
        <p:spPr>
          <a:xfrm>
            <a:off x="457200" y="1219200"/>
            <a:ext cx="8229600" cy="4906963"/>
          </a:xfrm>
        </p:spPr>
        <p:txBody>
          <a:bodyPr>
            <a:normAutofit fontScale="70000" lnSpcReduction="20000"/>
          </a:bodyPr>
          <a:lstStyle/>
          <a:p>
            <a:pPr algn="just"/>
            <a:r>
              <a:rPr lang="en-US" dirty="0" smtClean="0"/>
              <a:t>Material</a:t>
            </a:r>
            <a:r>
              <a:rPr lang="en-US" dirty="0"/>
              <a:t>: </a:t>
            </a:r>
          </a:p>
          <a:p>
            <a:pPr lvl="1" algn="just"/>
            <a:r>
              <a:rPr lang="en-US" dirty="0" smtClean="0"/>
              <a:t>TFTs </a:t>
            </a:r>
            <a:r>
              <a:rPr lang="en-US" dirty="0"/>
              <a:t>are Metal-Insulator-Semiconductor Field Effect Transistors, which are used more often as bottom-gate. </a:t>
            </a:r>
          </a:p>
          <a:p>
            <a:pPr lvl="1" algn="just"/>
            <a:r>
              <a:rPr lang="en-US" dirty="0" smtClean="0"/>
              <a:t>Indium </a:t>
            </a:r>
            <a:r>
              <a:rPr lang="en-US" dirty="0"/>
              <a:t>tin oxide (ITO) is usually employed for the electrodes. </a:t>
            </a:r>
          </a:p>
          <a:p>
            <a:pPr lvl="1" algn="just"/>
            <a:r>
              <a:rPr lang="en-US" dirty="0" smtClean="0"/>
              <a:t>Most </a:t>
            </a:r>
            <a:r>
              <a:rPr lang="en-US" dirty="0"/>
              <a:t>TFTs are not transparent themselves, since many of them are based on hydrogenated amorphous silicon (</a:t>
            </a:r>
            <a:r>
              <a:rPr lang="en-US" dirty="0" err="1"/>
              <a:t>A-Si:H</a:t>
            </a:r>
            <a:r>
              <a:rPr lang="en-US" dirty="0"/>
              <a:t>) (A-Si, used as Gate-dielectric) have Low mask count; Small number of mask alignments and requires less processing steps). </a:t>
            </a:r>
          </a:p>
          <a:p>
            <a:pPr lvl="1" algn="just"/>
            <a:r>
              <a:rPr lang="en-US" dirty="0" smtClean="0"/>
              <a:t>The </a:t>
            </a:r>
            <a:r>
              <a:rPr lang="en-US" dirty="0" err="1"/>
              <a:t>bandgap</a:t>
            </a:r>
            <a:r>
              <a:rPr lang="en-US" dirty="0"/>
              <a:t> od S-Si is assumed to be less than that of crystalline silicon (1.12eV). </a:t>
            </a:r>
          </a:p>
          <a:p>
            <a:pPr algn="just"/>
            <a:r>
              <a:rPr lang="en-US" dirty="0" smtClean="0"/>
              <a:t>Construction</a:t>
            </a:r>
            <a:r>
              <a:rPr lang="en-US" dirty="0"/>
              <a:t>: </a:t>
            </a:r>
          </a:p>
          <a:p>
            <a:pPr lvl="1" algn="just"/>
            <a:r>
              <a:rPr lang="en-US" dirty="0" smtClean="0"/>
              <a:t>A </a:t>
            </a:r>
            <a:r>
              <a:rPr lang="en-US" dirty="0"/>
              <a:t>transistor switch which allows each pixel be individually controlled. </a:t>
            </a:r>
          </a:p>
          <a:p>
            <a:pPr lvl="1" algn="just"/>
            <a:r>
              <a:rPr lang="en-US" dirty="0" smtClean="0"/>
              <a:t>Each </a:t>
            </a:r>
            <a:r>
              <a:rPr lang="en-US" dirty="0"/>
              <a:t>pixel is a small capacitor with a transparent ITO [indium tin oxide ]layer at the front, a transparent layer at the back, and a layer of insulating liquid crystal between (refer to figure in previous slide). </a:t>
            </a:r>
          </a:p>
          <a:p>
            <a:pPr lvl="1" algn="just"/>
            <a:r>
              <a:rPr lang="en-US" dirty="0" smtClean="0"/>
              <a:t>All </a:t>
            </a:r>
            <a:r>
              <a:rPr lang="en-US" dirty="0"/>
              <a:t>the pixels in one row are driven with a positive voltage and all the pixels in one column are driven with a negative voltage. </a:t>
            </a:r>
          </a:p>
          <a:p>
            <a:pPr algn="just"/>
            <a:endParaRPr lang="en-US" dirty="0"/>
          </a:p>
        </p:txBody>
      </p:sp>
    </p:spTree>
    <p:extLst>
      <p:ext uri="{BB962C8B-B14F-4D97-AF65-F5344CB8AC3E}">
        <p14:creationId xmlns:p14="http://schemas.microsoft.com/office/powerpoint/2010/main" val="3369841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Advantages and Disadvantages of TFT </a:t>
            </a:r>
          </a:p>
        </p:txBody>
      </p:sp>
      <p:sp>
        <p:nvSpPr>
          <p:cNvPr id="3" name="Content Placeholder 2"/>
          <p:cNvSpPr>
            <a:spLocks noGrp="1"/>
          </p:cNvSpPr>
          <p:nvPr>
            <p:ph idx="1"/>
          </p:nvPr>
        </p:nvSpPr>
        <p:spPr/>
        <p:txBody>
          <a:bodyPr>
            <a:normAutofit fontScale="85000" lnSpcReduction="10000"/>
          </a:bodyPr>
          <a:lstStyle/>
          <a:p>
            <a:r>
              <a:rPr lang="en-US" dirty="0" smtClean="0"/>
              <a:t>Advantages</a:t>
            </a:r>
            <a:r>
              <a:rPr lang="en-US" dirty="0"/>
              <a:t>: </a:t>
            </a:r>
          </a:p>
          <a:p>
            <a:pPr lvl="1"/>
            <a:r>
              <a:rPr lang="en-US" dirty="0" smtClean="0"/>
              <a:t>Fast </a:t>
            </a:r>
            <a:r>
              <a:rPr lang="en-US" dirty="0"/>
              <a:t>response time has been a great feature of TN (twisted </a:t>
            </a:r>
            <a:r>
              <a:rPr lang="en-US" dirty="0" err="1"/>
              <a:t>nematics</a:t>
            </a:r>
            <a:r>
              <a:rPr lang="en-US" dirty="0"/>
              <a:t>) displays. </a:t>
            </a:r>
          </a:p>
          <a:p>
            <a:pPr lvl="1"/>
            <a:r>
              <a:rPr lang="en-US" dirty="0" smtClean="0"/>
              <a:t>Lower </a:t>
            </a:r>
            <a:r>
              <a:rPr lang="en-US" dirty="0"/>
              <a:t>cost of production </a:t>
            </a:r>
          </a:p>
          <a:p>
            <a:pPr lvl="1"/>
            <a:r>
              <a:rPr lang="en-US" dirty="0" smtClean="0"/>
              <a:t>Less </a:t>
            </a:r>
            <a:r>
              <a:rPr lang="en-US" dirty="0"/>
              <a:t>noise or glitter seen on the panel surface </a:t>
            </a:r>
          </a:p>
          <a:p>
            <a:endParaRPr lang="en-US" dirty="0"/>
          </a:p>
          <a:p>
            <a:r>
              <a:rPr lang="en-US" dirty="0" smtClean="0"/>
              <a:t>Disadvantages</a:t>
            </a:r>
            <a:r>
              <a:rPr lang="en-US" dirty="0"/>
              <a:t>: </a:t>
            </a:r>
          </a:p>
          <a:p>
            <a:pPr lvl="1"/>
            <a:r>
              <a:rPr lang="en-US" dirty="0" smtClean="0"/>
              <a:t>The </a:t>
            </a:r>
            <a:r>
              <a:rPr lang="en-US" dirty="0"/>
              <a:t>TFT display suffers from limited viewing angles, especially in the vertical direction. </a:t>
            </a:r>
          </a:p>
          <a:p>
            <a:pPr lvl="1"/>
            <a:r>
              <a:rPr lang="en-US" dirty="0" smtClean="0"/>
              <a:t>They </a:t>
            </a:r>
            <a:r>
              <a:rPr lang="en-US" dirty="0"/>
              <a:t>are unable to display the full 16.7 million colors (24-bit true color) available from modern graphics cards. </a:t>
            </a:r>
          </a:p>
        </p:txBody>
      </p:sp>
    </p:spTree>
    <p:extLst>
      <p:ext uri="{BB962C8B-B14F-4D97-AF65-F5344CB8AC3E}">
        <p14:creationId xmlns:p14="http://schemas.microsoft.com/office/powerpoint/2010/main" val="39881035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Plasma Display </a:t>
            </a:r>
          </a:p>
        </p:txBody>
      </p:sp>
      <p:sp>
        <p:nvSpPr>
          <p:cNvPr id="3" name="Content Placeholder 2"/>
          <p:cNvSpPr>
            <a:spLocks noGrp="1"/>
          </p:cNvSpPr>
          <p:nvPr>
            <p:ph idx="1"/>
          </p:nvPr>
        </p:nvSpPr>
        <p:spPr/>
        <p:txBody>
          <a:bodyPr>
            <a:normAutofit fontScale="92500" lnSpcReduction="20000"/>
          </a:bodyPr>
          <a:lstStyle/>
          <a:p>
            <a:pPr algn="just"/>
            <a:r>
              <a:rPr lang="en-US" dirty="0" smtClean="0"/>
              <a:t>A </a:t>
            </a:r>
            <a:r>
              <a:rPr lang="en-US" b="1" dirty="0"/>
              <a:t>plasma display panel (PDP) </a:t>
            </a:r>
            <a:r>
              <a:rPr lang="en-US" dirty="0"/>
              <a:t>is a type of flat panel display, suitable and now commonly used for large TV displays (typically above 37-inch or 940 mm. </a:t>
            </a:r>
          </a:p>
          <a:p>
            <a:pPr algn="just"/>
            <a:r>
              <a:rPr lang="en-US" b="1" dirty="0" smtClean="0"/>
              <a:t>Construction</a:t>
            </a:r>
            <a:r>
              <a:rPr lang="en-US" b="1" dirty="0"/>
              <a:t>: </a:t>
            </a:r>
            <a:endParaRPr lang="en-US" dirty="0"/>
          </a:p>
          <a:p>
            <a:pPr lvl="1" algn="just"/>
            <a:r>
              <a:rPr lang="en-US" dirty="0" smtClean="0"/>
              <a:t>The </a:t>
            </a:r>
            <a:r>
              <a:rPr lang="en-US" dirty="0"/>
              <a:t>xenon and neon gas in a plasma television is contained in hundreds of thousands of tiny cells positioned between two plates of glass. </a:t>
            </a:r>
          </a:p>
          <a:p>
            <a:pPr lvl="1" algn="just"/>
            <a:r>
              <a:rPr lang="en-US" dirty="0" smtClean="0"/>
              <a:t>Long </a:t>
            </a:r>
            <a:r>
              <a:rPr lang="en-US" dirty="0"/>
              <a:t>electrodes are also sandwiched between the glass plates, in front of and behind the cells. </a:t>
            </a:r>
          </a:p>
          <a:p>
            <a:pPr lvl="1" algn="just"/>
            <a:r>
              <a:rPr lang="en-US" dirty="0" smtClean="0"/>
              <a:t>Cell </a:t>
            </a:r>
            <a:r>
              <a:rPr lang="en-US" dirty="0"/>
              <a:t>are covered with a magnesium oxide protective layer. </a:t>
            </a:r>
          </a:p>
        </p:txBody>
      </p:sp>
    </p:spTree>
    <p:extLst>
      <p:ext uri="{BB962C8B-B14F-4D97-AF65-F5344CB8AC3E}">
        <p14:creationId xmlns:p14="http://schemas.microsoft.com/office/powerpoint/2010/main" val="37000199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dirty="0"/>
              <a:t>Working of PDP </a:t>
            </a:r>
          </a:p>
        </p:txBody>
      </p:sp>
      <p:sp>
        <p:nvSpPr>
          <p:cNvPr id="3" name="Content Placeholder 2"/>
          <p:cNvSpPr>
            <a:spLocks noGrp="1"/>
          </p:cNvSpPr>
          <p:nvPr>
            <p:ph idx="1"/>
          </p:nvPr>
        </p:nvSpPr>
        <p:spPr>
          <a:xfrm>
            <a:off x="457200" y="1295400"/>
            <a:ext cx="8229600" cy="4830763"/>
          </a:xfrm>
        </p:spPr>
        <p:txBody>
          <a:bodyPr>
            <a:normAutofit fontScale="70000" lnSpcReduction="20000"/>
          </a:bodyPr>
          <a:lstStyle/>
          <a:p>
            <a:pPr algn="just"/>
            <a:r>
              <a:rPr lang="en-US" dirty="0" smtClean="0"/>
              <a:t>Control </a:t>
            </a:r>
            <a:r>
              <a:rPr lang="en-US" dirty="0"/>
              <a:t>circuitry charges the electrodes that cross paths at cell, </a:t>
            </a:r>
          </a:p>
          <a:p>
            <a:pPr algn="just"/>
            <a:r>
              <a:rPr lang="en-US" dirty="0" smtClean="0"/>
              <a:t>This </a:t>
            </a:r>
            <a:r>
              <a:rPr lang="en-US" dirty="0"/>
              <a:t>creates a voltage difference between front and back and causing the gas to ionize and form a plasma. </a:t>
            </a:r>
          </a:p>
          <a:p>
            <a:pPr algn="just"/>
            <a:r>
              <a:rPr lang="en-US" dirty="0" smtClean="0"/>
              <a:t>As </a:t>
            </a:r>
            <a:r>
              <a:rPr lang="en-US" dirty="0"/>
              <a:t>the gas ions rush to the electrodes and collide, photons are emitted. </a:t>
            </a:r>
          </a:p>
          <a:p>
            <a:pPr algn="just"/>
            <a:r>
              <a:rPr lang="en-US" dirty="0" smtClean="0"/>
              <a:t>In </a:t>
            </a:r>
            <a:r>
              <a:rPr lang="en-US" dirty="0"/>
              <a:t>color panels, the back of each cell is coated with a phosphor. The ultraviolet photons emitted by the plasma excite these phosphors to give off colored light. </a:t>
            </a:r>
          </a:p>
          <a:p>
            <a:pPr algn="just"/>
            <a:r>
              <a:rPr lang="en-US" dirty="0" smtClean="0"/>
              <a:t>The </a:t>
            </a:r>
            <a:r>
              <a:rPr lang="en-US" dirty="0"/>
              <a:t>display panel is only about 6 cm (2½ inches) thick, and total thickness less than 10 cm. </a:t>
            </a:r>
          </a:p>
          <a:p>
            <a:pPr algn="just"/>
            <a:r>
              <a:rPr lang="en-US" dirty="0" smtClean="0"/>
              <a:t>They </a:t>
            </a:r>
            <a:r>
              <a:rPr lang="en-US" dirty="0"/>
              <a:t>can be produce fairly large sizes, up to 262 cm (103 inches) diagonally. </a:t>
            </a:r>
          </a:p>
          <a:p>
            <a:pPr algn="just"/>
            <a:r>
              <a:rPr lang="en-US" dirty="0" smtClean="0"/>
              <a:t>Bright </a:t>
            </a:r>
            <a:r>
              <a:rPr lang="en-US" dirty="0"/>
              <a:t>scenes (say a football game) will draw significantly more power than darker scenes. </a:t>
            </a:r>
          </a:p>
          <a:p>
            <a:pPr algn="just"/>
            <a:r>
              <a:rPr lang="en-US" dirty="0" smtClean="0"/>
              <a:t>Limited </a:t>
            </a:r>
            <a:r>
              <a:rPr lang="en-US" dirty="0"/>
              <a:t>life time: Their lifetime is estimated at 60,000 hours </a:t>
            </a:r>
          </a:p>
        </p:txBody>
      </p:sp>
    </p:spTree>
    <p:extLst>
      <p:ext uri="{BB962C8B-B14F-4D97-AF65-F5344CB8AC3E}">
        <p14:creationId xmlns:p14="http://schemas.microsoft.com/office/powerpoint/2010/main" val="16410477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and Disadvantages </a:t>
            </a:r>
          </a:p>
        </p:txBody>
      </p:sp>
      <p:sp>
        <p:nvSpPr>
          <p:cNvPr id="3" name="Content Placeholder 2"/>
          <p:cNvSpPr>
            <a:spLocks noGrp="1"/>
          </p:cNvSpPr>
          <p:nvPr>
            <p:ph idx="1"/>
          </p:nvPr>
        </p:nvSpPr>
        <p:spPr/>
        <p:txBody>
          <a:bodyPr>
            <a:normAutofit fontScale="85000" lnSpcReduction="20000"/>
          </a:bodyPr>
          <a:lstStyle/>
          <a:p>
            <a:pPr algn="just"/>
            <a:r>
              <a:rPr lang="en-US" dirty="0" smtClean="0"/>
              <a:t>Advantages</a:t>
            </a:r>
            <a:r>
              <a:rPr lang="en-US" dirty="0"/>
              <a:t>: </a:t>
            </a:r>
          </a:p>
          <a:p>
            <a:pPr lvl="1" algn="just"/>
            <a:r>
              <a:rPr lang="en-US" dirty="0" smtClean="0"/>
              <a:t>Supports </a:t>
            </a:r>
            <a:r>
              <a:rPr lang="en-US" dirty="0"/>
              <a:t>large displays ,up to 103 inches diagonally. </a:t>
            </a:r>
          </a:p>
          <a:p>
            <a:pPr lvl="1" algn="just"/>
            <a:r>
              <a:rPr lang="en-US" dirty="0" smtClean="0"/>
              <a:t>Overall </a:t>
            </a:r>
            <a:r>
              <a:rPr lang="en-US" dirty="0"/>
              <a:t>thickness of monitor is less than 10 cm. and can be installed on a wall. </a:t>
            </a:r>
          </a:p>
          <a:p>
            <a:pPr lvl="1" algn="just"/>
            <a:r>
              <a:rPr lang="en-US" dirty="0" smtClean="0"/>
              <a:t>Faster </a:t>
            </a:r>
            <a:r>
              <a:rPr lang="en-US" dirty="0"/>
              <a:t>response time, Greater color spectrum, Wider viewing angle </a:t>
            </a:r>
          </a:p>
          <a:p>
            <a:pPr algn="just"/>
            <a:r>
              <a:rPr lang="en-US" dirty="0" smtClean="0"/>
              <a:t>Disadvantages</a:t>
            </a:r>
            <a:r>
              <a:rPr lang="en-US" dirty="0"/>
              <a:t>: </a:t>
            </a:r>
          </a:p>
          <a:p>
            <a:pPr lvl="1" algn="just"/>
            <a:r>
              <a:rPr lang="en-US" dirty="0" smtClean="0"/>
              <a:t>They </a:t>
            </a:r>
            <a:r>
              <a:rPr lang="en-US" dirty="0"/>
              <a:t>are costly as compared to CRT</a:t>
            </a:r>
            <a:r>
              <a:rPr lang="en-US" dirty="0" smtClean="0"/>
              <a:t>, LCD </a:t>
            </a:r>
            <a:r>
              <a:rPr lang="en-US" dirty="0"/>
              <a:t>displays. </a:t>
            </a:r>
          </a:p>
          <a:p>
            <a:pPr lvl="1" algn="just"/>
            <a:r>
              <a:rPr lang="en-US" dirty="0" smtClean="0"/>
              <a:t>Burn-in </a:t>
            </a:r>
            <a:r>
              <a:rPr lang="en-US" dirty="0"/>
              <a:t>problem: </a:t>
            </a:r>
          </a:p>
          <a:p>
            <a:pPr lvl="1" algn="just"/>
            <a:r>
              <a:rPr lang="en-US" dirty="0" smtClean="0"/>
              <a:t>Static </a:t>
            </a:r>
            <a:r>
              <a:rPr lang="en-US" dirty="0"/>
              <a:t>images can leave a permanent mark on screen. That is why they are not used in computer monitors and video game displays. </a:t>
            </a:r>
          </a:p>
        </p:txBody>
      </p:sp>
    </p:spTree>
    <p:extLst>
      <p:ext uri="{BB962C8B-B14F-4D97-AF65-F5344CB8AC3E}">
        <p14:creationId xmlns:p14="http://schemas.microsoft.com/office/powerpoint/2010/main" val="4911471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574</TotalTime>
  <Words>2555</Words>
  <Application>Microsoft Office PowerPoint</Application>
  <PresentationFormat>On-screen Show (4:3)</PresentationFormat>
  <Paragraphs>197</Paragraphs>
  <Slides>47</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3" baseType="lpstr">
      <vt:lpstr>Arial</vt:lpstr>
      <vt:lpstr>Calibri</vt:lpstr>
      <vt:lpstr>Comic Sans MS</vt:lpstr>
      <vt:lpstr>Wingdings</vt:lpstr>
      <vt:lpstr>Office Theme</vt:lpstr>
      <vt:lpstr>Bitmap Image</vt:lpstr>
      <vt:lpstr>Display Basics</vt:lpstr>
      <vt:lpstr>Functions</vt:lpstr>
      <vt:lpstr>Types of Video Display Devices Available</vt:lpstr>
      <vt:lpstr>Terminology related to display devices</vt:lpstr>
      <vt:lpstr>Terminology related to display devices</vt:lpstr>
      <vt:lpstr>Terminology related to display devices</vt:lpstr>
      <vt:lpstr>Terminology related to display devices</vt:lpstr>
      <vt:lpstr>PowerPoint Presentation</vt:lpstr>
      <vt:lpstr>PowerPoint Presentation</vt:lpstr>
      <vt:lpstr>PowerPoint Presentation</vt:lpstr>
      <vt:lpstr>PowerPoint Presentation</vt:lpstr>
      <vt:lpstr>CRT Display </vt:lpstr>
      <vt:lpstr>PowerPoint Presentation</vt:lpstr>
      <vt:lpstr>PowerPoint Presentation</vt:lpstr>
      <vt:lpstr>CRT Working Principle </vt:lpstr>
      <vt:lpstr>Components of CRT </vt:lpstr>
      <vt:lpstr>Working of a Cathode Ray Tube</vt:lpstr>
      <vt:lpstr>Working of a Cathode Ray Tube</vt:lpstr>
      <vt:lpstr>Color CRT</vt:lpstr>
      <vt:lpstr>Beam Penetration Method</vt:lpstr>
      <vt:lpstr>Shadow Mask Method</vt:lpstr>
      <vt:lpstr>Shadow Mask Method</vt:lpstr>
      <vt:lpstr>CRT Monitor Technology</vt:lpstr>
      <vt:lpstr>Random Scan Displays (also known as Stroke-writing, Vector Or Calligraphic Displays)</vt:lpstr>
      <vt:lpstr>Raster Scan Display</vt:lpstr>
      <vt:lpstr>Raster Scan Display</vt:lpstr>
      <vt:lpstr>Interlaced Systems</vt:lpstr>
      <vt:lpstr>Direct View Storage Tube</vt:lpstr>
      <vt:lpstr>Direct View Storage Tube</vt:lpstr>
      <vt:lpstr>DVST vs Refresh CRT </vt:lpstr>
      <vt:lpstr>CRT Display: Advantages and Disadvantages</vt:lpstr>
      <vt:lpstr>Flat Panel Displays </vt:lpstr>
      <vt:lpstr>Liquid Crystal Display (LCD) </vt:lpstr>
      <vt:lpstr>LCD Construction </vt:lpstr>
      <vt:lpstr>PowerPoint Presentation</vt:lpstr>
      <vt:lpstr>Basic Principle </vt:lpstr>
      <vt:lpstr>Basic Principle (2)</vt:lpstr>
      <vt:lpstr>Characteristics </vt:lpstr>
      <vt:lpstr>Working Principle of LCD  </vt:lpstr>
      <vt:lpstr>Applications, Advantages &amp; Limitations of LCD </vt:lpstr>
      <vt:lpstr>Thin Film Transistor (TFT) Technology </vt:lpstr>
      <vt:lpstr>TFT-LCD </vt:lpstr>
      <vt:lpstr>Construction of TFT Displays </vt:lpstr>
      <vt:lpstr>Advantages and Disadvantages of TFT </vt:lpstr>
      <vt:lpstr>Plasma Display </vt:lpstr>
      <vt:lpstr>Working of PDP </vt:lpstr>
      <vt:lpstr>Advantages and Disadvantages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Display Basics</dc:title>
  <dc:creator>ASUS</dc:creator>
  <cp:lastModifiedBy>Lenovo</cp:lastModifiedBy>
  <cp:revision>65</cp:revision>
  <dcterms:created xsi:type="dcterms:W3CDTF">2006-08-16T00:00:00Z</dcterms:created>
  <dcterms:modified xsi:type="dcterms:W3CDTF">2026-03-03T05:20:47Z</dcterms:modified>
</cp:coreProperties>
</file>