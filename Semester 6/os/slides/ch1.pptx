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y="6858000" cx="9144000"/>
  <p:notesSz cx="6881800" cy="9296400"/>
  <p:embeddedFontLst>
    <p:embeddedFont>
      <p:font typeface="Helvetica Neue"/>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http://customooxmlschemas.google.com/">
      <go:slidesCustomData xmlns:go="http://customooxmlschemas.google.com/" r:id="rId85" roundtripDataSignature="AMtx7miyt25H8kKMYlHiavulWg77GbOv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HelveticaNeue-boldItalic.fntdata"/><Relationship Id="rId83" Type="http://schemas.openxmlformats.org/officeDocument/2006/relationships/font" Target="fonts/HelveticaNeue-italic.fntdata"/><Relationship Id="rId42" Type="http://schemas.openxmlformats.org/officeDocument/2006/relationships/slide" Target="slides/slide37.xml"/><Relationship Id="rId41" Type="http://schemas.openxmlformats.org/officeDocument/2006/relationships/slide" Target="slides/slide36.xml"/><Relationship Id="rId85" Type="http://customschemas.google.com/relationships/presentationmetadata" Target="meta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font" Target="fonts/HelveticaNeue-bold.fntdata"/><Relationship Id="rId81"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1325" cy="463550"/>
          </a:xfrm>
          <a:prstGeom prst="rect">
            <a:avLst/>
          </a:prstGeom>
          <a:noFill/>
          <a:ln>
            <a:noFill/>
          </a:ln>
        </p:spPr>
        <p:txBody>
          <a:bodyPr anchorCtr="0" anchor="ctr" bIns="46200" lIns="92425" spcFirstLastPara="1" rIns="92425" wrap="square" tIns="462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3900488" y="0"/>
            <a:ext cx="2981325" cy="463550"/>
          </a:xfrm>
          <a:prstGeom prst="rect">
            <a:avLst/>
          </a:prstGeom>
          <a:noFill/>
          <a:ln>
            <a:noFill/>
          </a:ln>
        </p:spPr>
        <p:txBody>
          <a:bodyPr anchorCtr="0" anchor="ctr" bIns="46200" lIns="92425" spcFirstLastPara="1" rIns="92425" wrap="square" tIns="462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7575" y="4416425"/>
            <a:ext cx="5046663" cy="4181475"/>
          </a:xfrm>
          <a:prstGeom prst="rect">
            <a:avLst/>
          </a:prstGeom>
          <a:noFill/>
          <a:ln>
            <a:noFill/>
          </a:ln>
        </p:spPr>
        <p:txBody>
          <a:bodyPr anchorCtr="0" anchor="ctr" bIns="46200" lIns="92425" spcFirstLastPara="1" rIns="92425" wrap="square" tIns="462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32850"/>
            <a:ext cx="2981325" cy="463550"/>
          </a:xfrm>
          <a:prstGeom prst="rect">
            <a:avLst/>
          </a:prstGeom>
          <a:noFill/>
          <a:ln>
            <a:noFill/>
          </a:ln>
        </p:spPr>
        <p:txBody>
          <a:bodyPr anchorCtr="0" anchor="b" bIns="46200" lIns="92425" spcFirstLastPara="1" rIns="92425" wrap="square" tIns="462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3900488" y="8832850"/>
            <a:ext cx="2981325" cy="463550"/>
          </a:xfrm>
          <a:prstGeom prst="rect">
            <a:avLst/>
          </a:prstGeom>
          <a:noFill/>
          <a:ln>
            <a:noFill/>
          </a:ln>
        </p:spPr>
        <p:txBody>
          <a:bodyPr anchorCtr="0" anchor="b" bIns="46200" lIns="92425" spcFirstLastPara="1" rIns="92425" wrap="square" tIns="462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2" type="sldNum"/>
          </p:nvPr>
        </p:nvSpPr>
        <p:spPr>
          <a:xfrm>
            <a:off x="3900488" y="8832850"/>
            <a:ext cx="2981325" cy="463550"/>
          </a:xfrm>
          <a:prstGeom prst="rect">
            <a:avLst/>
          </a:prstGeom>
          <a:noFill/>
          <a:ln>
            <a:noFill/>
          </a:ln>
        </p:spPr>
        <p:txBody>
          <a:bodyPr anchorCtr="0" anchor="b" bIns="46200" lIns="92425" spcFirstLastPara="1" rIns="92425" wrap="square" tIns="462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4" name="Google Shape;74;p1: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1:notes"/>
          <p:cNvSpPr txBox="1"/>
          <p:nvPr>
            <p:ph idx="1" type="body"/>
          </p:nvPr>
        </p:nvSpPr>
        <p:spPr>
          <a:xfrm>
            <a:off x="917575" y="4416425"/>
            <a:ext cx="5046663" cy="4181475"/>
          </a:xfrm>
          <a:prstGeom prst="rect">
            <a:avLst/>
          </a:prstGeom>
          <a:noFill/>
          <a:ln>
            <a:noFill/>
          </a:ln>
        </p:spPr>
        <p:txBody>
          <a:bodyPr anchorCtr="0" anchor="ctr"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4: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1198563" y="701675"/>
            <a:ext cx="4681537"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5:notes"/>
          <p:cNvSpPr txBox="1"/>
          <p:nvPr>
            <p:ph idx="1" type="body"/>
          </p:nvPr>
        </p:nvSpPr>
        <p:spPr>
          <a:xfrm>
            <a:off x="708025" y="4448175"/>
            <a:ext cx="5662613" cy="4213225"/>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6: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7: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116" name="Google Shape;116;p8: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9: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9efe5b4fd_2_0:notes"/>
          <p:cNvSpPr/>
          <p:nvPr>
            <p:ph idx="2" type="sldImg"/>
          </p:nvPr>
        </p:nvSpPr>
        <p:spPr>
          <a:xfrm>
            <a:off x="1117600" y="698500"/>
            <a:ext cx="4648200" cy="34863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9efe5b4fd_2_0:notes"/>
          <p:cNvSpPr txBox="1"/>
          <p:nvPr>
            <p:ph idx="1" type="body"/>
          </p:nvPr>
        </p:nvSpPr>
        <p:spPr>
          <a:xfrm>
            <a:off x="917575" y="4416425"/>
            <a:ext cx="5046600" cy="4181400"/>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129" name="Google Shape;129;g119efe5b4fd_2_0:notes"/>
          <p:cNvSpPr txBox="1"/>
          <p:nvPr>
            <p:ph idx="12" type="sldNum"/>
          </p:nvPr>
        </p:nvSpPr>
        <p:spPr>
          <a:xfrm>
            <a:off x="3900488" y="8832850"/>
            <a:ext cx="2981400" cy="463500"/>
          </a:xfrm>
          <a:prstGeom prst="rect">
            <a:avLst/>
          </a:prstGeom>
        </p:spPr>
        <p:txBody>
          <a:bodyPr anchorCtr="0" anchor="b" bIns="46200" lIns="92425" spcFirstLastPara="1" rIns="92425" wrap="square" tIns="462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10: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11: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1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4: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16: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7: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8: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9: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20: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21: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2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2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216" name="Google Shape;216;p24: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2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6: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26: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7: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27: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8: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8: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9: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29: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0: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30: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1: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31: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3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3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4: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34: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3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6: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36: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7: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37: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8: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38: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9: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39: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0: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40: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1: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41: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4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4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4: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44: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4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6: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46: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7: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47: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8: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48: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9: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371" name="Google Shape;371;p49: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0: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50: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51: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51: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5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5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5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4: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401" name="Google Shape;401;p54: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5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6: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413" name="Google Shape;413;p56: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7: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419" name="Google Shape;419;p57: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8: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58: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59: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430" name="Google Shape;430;p59: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0: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436" name="Google Shape;436;p60: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61: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442" name="Google Shape;442;p61: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6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6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6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6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64: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64: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6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6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66: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66: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67: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481" name="Google Shape;481;p67: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68: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68: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69: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69: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70:notes"/>
          <p:cNvSpPr txBox="1"/>
          <p:nvPr>
            <p:ph idx="12" type="sldNum"/>
          </p:nvPr>
        </p:nvSpPr>
        <p:spPr>
          <a:xfrm>
            <a:off x="3900488" y="8832850"/>
            <a:ext cx="2981325" cy="463550"/>
          </a:xfrm>
          <a:prstGeom prst="rect">
            <a:avLst/>
          </a:prstGeom>
          <a:noFill/>
          <a:ln>
            <a:noFill/>
          </a:ln>
        </p:spPr>
        <p:txBody>
          <a:bodyPr anchorCtr="0" anchor="b" bIns="46200" lIns="92425" spcFirstLastPara="1" rIns="92425" wrap="square" tIns="462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
        <p:nvSpPr>
          <p:cNvPr id="499" name="Google Shape;499;p70: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70:notes"/>
          <p:cNvSpPr txBox="1"/>
          <p:nvPr>
            <p:ph idx="1" type="body"/>
          </p:nvPr>
        </p:nvSpPr>
        <p:spPr>
          <a:xfrm>
            <a:off x="931414" y="4410392"/>
            <a:ext cx="5134874" cy="4175763"/>
          </a:xfrm>
          <a:prstGeom prst="rect">
            <a:avLst/>
          </a:prstGeom>
          <a:noFill/>
          <a:ln>
            <a:noFill/>
          </a:ln>
        </p:spPr>
        <p:txBody>
          <a:bodyPr anchorCtr="0" anchor="ctr"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71: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507" name="Google Shape;507;p71: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72: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516" name="Google Shape;516;p72: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73:notes"/>
          <p:cNvSpPr txBox="1"/>
          <p:nvPr>
            <p:ph idx="1" type="body"/>
          </p:nvPr>
        </p:nvSpPr>
        <p:spPr>
          <a:xfrm>
            <a:off x="917575" y="4416425"/>
            <a:ext cx="5046663" cy="4181475"/>
          </a:xfrm>
          <a:prstGeom prst="rect">
            <a:avLst/>
          </a:prstGeom>
        </p:spPr>
        <p:txBody>
          <a:bodyPr anchorCtr="0" anchor="ctr" bIns="46200" lIns="92425" spcFirstLastPara="1" rIns="92425" wrap="square" tIns="46200">
            <a:noAutofit/>
          </a:bodyPr>
          <a:lstStyle/>
          <a:p>
            <a:pPr indent="0" lvl="0" marL="0" rtl="0" algn="l">
              <a:spcBef>
                <a:spcPts val="360"/>
              </a:spcBef>
              <a:spcAft>
                <a:spcPts val="0"/>
              </a:spcAft>
              <a:buNone/>
            </a:pPr>
            <a:r>
              <a:t/>
            </a:r>
            <a:endParaRPr/>
          </a:p>
        </p:txBody>
      </p:sp>
      <p:sp>
        <p:nvSpPr>
          <p:cNvPr id="523" name="Google Shape;523;p73: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74:notes"/>
          <p:cNvSpPr txBox="1"/>
          <p:nvPr>
            <p:ph idx="12" type="sldNum"/>
          </p:nvPr>
        </p:nvSpPr>
        <p:spPr>
          <a:xfrm>
            <a:off x="3900488" y="8832850"/>
            <a:ext cx="2981325" cy="463550"/>
          </a:xfrm>
          <a:prstGeom prst="rect">
            <a:avLst/>
          </a:prstGeom>
          <a:noFill/>
          <a:ln>
            <a:noFill/>
          </a:ln>
        </p:spPr>
        <p:txBody>
          <a:bodyPr anchorCtr="0" anchor="b" bIns="46200" lIns="92425" spcFirstLastPara="1" rIns="92425" wrap="square" tIns="462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30" name="Google Shape;530;p74: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74:notes"/>
          <p:cNvSpPr txBox="1"/>
          <p:nvPr>
            <p:ph idx="1" type="body"/>
          </p:nvPr>
        </p:nvSpPr>
        <p:spPr>
          <a:xfrm>
            <a:off x="917575" y="4416425"/>
            <a:ext cx="5046663" cy="4181475"/>
          </a:xfrm>
          <a:prstGeom prst="rect">
            <a:avLst/>
          </a:prstGeom>
          <a:noFill/>
          <a:ln>
            <a:noFill/>
          </a:ln>
        </p:spPr>
        <p:txBody>
          <a:bodyPr anchorCtr="0" anchor="ctr" bIns="46200" lIns="92425" spcFirstLastPara="1" rIns="92425" wrap="square" tIns="462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76"/>
          <p:cNvGrpSpPr/>
          <p:nvPr/>
        </p:nvGrpSpPr>
        <p:grpSpPr>
          <a:xfrm>
            <a:off x="198438" y="2960688"/>
            <a:ext cx="8610600" cy="201612"/>
            <a:chOff x="125" y="1865"/>
            <a:chExt cx="5424" cy="127"/>
          </a:xfrm>
        </p:grpSpPr>
        <p:sp>
          <p:nvSpPr>
            <p:cNvPr id="23" name="Google Shape;23;p76"/>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76"/>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76"/>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76"/>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Silberschatz, Galvin and Gagne ©2018</a:t>
            </a:r>
            <a:endParaRPr/>
          </a:p>
        </p:txBody>
      </p:sp>
      <p:sp>
        <p:nvSpPr>
          <p:cNvPr id="27" name="Google Shape;27;p76"/>
          <p:cNvSpPr txBox="1"/>
          <p:nvPr/>
        </p:nvSpPr>
        <p:spPr>
          <a:xfrm>
            <a:off x="26988" y="6613525"/>
            <a:ext cx="2701925"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Operating System Concepts – 10</a:t>
            </a:r>
            <a:r>
              <a:rPr b="1" baseline="30000" i="0" lang="en-US" sz="1000" u="none" cap="none" strike="noStrike">
                <a:solidFill>
                  <a:srgbClr val="336699"/>
                </a:solidFill>
                <a:latin typeface="Helvetica Neue"/>
                <a:ea typeface="Helvetica Neue"/>
                <a:cs typeface="Helvetica Neue"/>
                <a:sym typeface="Helvetica Neue"/>
              </a:rPr>
              <a:t>h</a:t>
            </a:r>
            <a:r>
              <a:rPr b="1" i="0" lang="en-US" sz="1000" u="none" cap="none" strike="noStrike">
                <a:solidFill>
                  <a:srgbClr val="336699"/>
                </a:solidFill>
                <a:latin typeface="Helvetica Neue"/>
                <a:ea typeface="Helvetica Neue"/>
                <a:cs typeface="Helvetica Neue"/>
                <a:sym typeface="Helvetica Neue"/>
              </a:rPr>
              <a:t> Edition</a:t>
            </a:r>
            <a:endParaRPr/>
          </a:p>
        </p:txBody>
      </p:sp>
      <p:pic>
        <p:nvPicPr>
          <p:cNvPr descr="dino_4" id="28" name="Google Shape;28;p76"/>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76"/>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76"/>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78"/>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 name="Google Shape;34;p78"/>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79"/>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79"/>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38" name="Google Shape;38;p79"/>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8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2200"/>
              <a:buNone/>
              <a:defRPr sz="2000"/>
            </a:lvl1pPr>
            <a:lvl2pPr indent="-228600" lvl="1" marL="914400" algn="l">
              <a:spcBef>
                <a:spcPts val="630"/>
              </a:spcBef>
              <a:spcAft>
                <a:spcPts val="0"/>
              </a:spcAft>
              <a:buSzPts val="198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2"/>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8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7" name="Google Shape;47;p8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8" name="Google Shape;48;p8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9" name="Google Shape;49;p8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8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8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52119" lvl="0" marL="457200" algn="l">
              <a:spcBef>
                <a:spcPts val="1120"/>
              </a:spcBef>
              <a:spcAft>
                <a:spcPts val="0"/>
              </a:spcAft>
              <a:buSzPts val="3520"/>
              <a:buChar char="▪"/>
              <a:defRPr sz="3200"/>
            </a:lvl1pPr>
            <a:lvl2pPr indent="-424180" lvl="1" marL="914400" algn="l">
              <a:spcBef>
                <a:spcPts val="980"/>
              </a:spcBef>
              <a:spcAft>
                <a:spcPts val="0"/>
              </a:spcAft>
              <a:buSzPts val="3080"/>
              <a:buFont typeface="Noto Sans Symbols"/>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3" name="Google Shape;53;p8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8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84"/>
          <p:cNvSpPr/>
          <p:nvPr>
            <p:ph idx="2" type="pic"/>
          </p:nvPr>
        </p:nvSpPr>
        <p:spPr>
          <a:xfrm>
            <a:off x="1792288" y="612775"/>
            <a:ext cx="5486400" cy="4114800"/>
          </a:xfrm>
          <a:prstGeom prst="rect">
            <a:avLst/>
          </a:prstGeom>
          <a:noFill/>
          <a:ln>
            <a:noFill/>
          </a:ln>
        </p:spPr>
      </p:sp>
      <p:sp>
        <p:nvSpPr>
          <p:cNvPr id="57" name="Google Shape;57;p8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85"/>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85"/>
          <p:cNvSpPr txBox="1"/>
          <p:nvPr>
            <p:ph idx="1" type="body"/>
          </p:nvPr>
        </p:nvSpPr>
        <p:spPr>
          <a:xfrm rot="5400000">
            <a:off x="2655888" y="-615950"/>
            <a:ext cx="4530725" cy="8229600"/>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86"/>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86"/>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spTree>
      <p:nvGrpSpPr>
        <p:cNvPr id="64" name="Shape 64"/>
        <p:cNvGrpSpPr/>
        <p:nvPr/>
      </p:nvGrpSpPr>
      <p:grpSpPr>
        <a:xfrm>
          <a:off x="0" y="0"/>
          <a:ext cx="0" cy="0"/>
          <a:chOff x="0" y="0"/>
          <a:chExt cx="0" cy="0"/>
        </a:xfrm>
      </p:grpSpPr>
      <p:sp>
        <p:nvSpPr>
          <p:cNvPr id="65" name="Google Shape;65;g12cf8383360_0_123"/>
          <p:cNvSpPr/>
          <p:nvPr/>
        </p:nvSpPr>
        <p:spPr>
          <a:xfrm>
            <a:off x="0" y="0"/>
            <a:ext cx="9144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12cf8383360_0_123"/>
          <p:cNvSpPr/>
          <p:nvPr/>
        </p:nvSpPr>
        <p:spPr>
          <a:xfrm>
            <a:off x="0" y="0"/>
            <a:ext cx="9144000" cy="2471100"/>
          </a:xfrm>
          <a:prstGeom prst="rect">
            <a:avLst/>
          </a:prstGeom>
          <a:gradFill>
            <a:gsLst>
              <a:gs pos="0">
                <a:srgbClr val="696969"/>
              </a:gs>
              <a:gs pos="100000">
                <a:srgbClr val="1D1D1D"/>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12cf8383360_0_123"/>
          <p:cNvSpPr/>
          <p:nvPr/>
        </p:nvSpPr>
        <p:spPr>
          <a:xfrm rot="-5400000">
            <a:off x="8218350" y="5831650"/>
            <a:ext cx="1056900" cy="792600"/>
          </a:xfrm>
          <a:prstGeom prst="rtTriangl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12cf8383360_0_123"/>
          <p:cNvSpPr/>
          <p:nvPr/>
        </p:nvSpPr>
        <p:spPr>
          <a:xfrm rot="-5400000">
            <a:off x="6980850" y="308950"/>
            <a:ext cx="2471100" cy="1853400"/>
          </a:xfrm>
          <a:prstGeom prst="rtTriangle">
            <a:avLst/>
          </a:prstGeom>
          <a:solidFill>
            <a:srgbClr val="336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12cf8383360_0_123"/>
          <p:cNvSpPr txBox="1"/>
          <p:nvPr>
            <p:ph type="title"/>
          </p:nvPr>
        </p:nvSpPr>
        <p:spPr>
          <a:xfrm>
            <a:off x="311700" y="1002267"/>
            <a:ext cx="6721500" cy="1343100"/>
          </a:xfrm>
          <a:prstGeom prst="rect">
            <a:avLst/>
          </a:prstGeom>
          <a:noFill/>
        </p:spPr>
        <p:txBody>
          <a:bodyPr anchorCtr="0" anchor="b" bIns="45700" lIns="91425" spcFirstLastPara="1" rIns="91425" wrap="square" tIns="45700">
            <a:noAutofit/>
          </a:bodyPr>
          <a:lstStyle>
            <a:lvl1pPr lvl="0" algn="l">
              <a:lnSpc>
                <a:spcPct val="100000"/>
              </a:lnSpc>
              <a:spcBef>
                <a:spcPts val="0"/>
              </a:spcBef>
              <a:spcAft>
                <a:spcPts val="0"/>
              </a:spcAft>
              <a:buClr>
                <a:srgbClr val="FFFFFF"/>
              </a:buClr>
              <a:buSzPts val="2800"/>
              <a:buNone/>
              <a:defRPr sz="2800">
                <a:solidFill>
                  <a:srgbClr val="FFFFFF"/>
                </a:solidFill>
              </a:defRPr>
            </a:lvl1pPr>
            <a:lvl2pPr lvl="1" algn="l">
              <a:lnSpc>
                <a:spcPct val="100000"/>
              </a:lnSpc>
              <a:spcBef>
                <a:spcPts val="0"/>
              </a:spcBef>
              <a:spcAft>
                <a:spcPts val="0"/>
              </a:spcAft>
              <a:buClr>
                <a:srgbClr val="FFFFFF"/>
              </a:buClr>
              <a:buSzPts val="2800"/>
              <a:buNone/>
              <a:defRPr sz="2800">
                <a:solidFill>
                  <a:srgbClr val="FFFFFF"/>
                </a:solidFill>
              </a:defRPr>
            </a:lvl2pPr>
            <a:lvl3pPr lvl="2" algn="l">
              <a:lnSpc>
                <a:spcPct val="100000"/>
              </a:lnSpc>
              <a:spcBef>
                <a:spcPts val="0"/>
              </a:spcBef>
              <a:spcAft>
                <a:spcPts val="0"/>
              </a:spcAft>
              <a:buClr>
                <a:srgbClr val="FFFFFF"/>
              </a:buClr>
              <a:buSzPts val="2800"/>
              <a:buNone/>
              <a:defRPr sz="2800">
                <a:solidFill>
                  <a:srgbClr val="FFFFFF"/>
                </a:solidFill>
              </a:defRPr>
            </a:lvl3pPr>
            <a:lvl4pPr lvl="3" algn="l">
              <a:lnSpc>
                <a:spcPct val="100000"/>
              </a:lnSpc>
              <a:spcBef>
                <a:spcPts val="0"/>
              </a:spcBef>
              <a:spcAft>
                <a:spcPts val="0"/>
              </a:spcAft>
              <a:buClr>
                <a:srgbClr val="FFFFFF"/>
              </a:buClr>
              <a:buSzPts val="2800"/>
              <a:buNone/>
              <a:defRPr sz="2800">
                <a:solidFill>
                  <a:srgbClr val="FFFFFF"/>
                </a:solidFill>
              </a:defRPr>
            </a:lvl4pPr>
            <a:lvl5pPr lvl="4" algn="l">
              <a:lnSpc>
                <a:spcPct val="100000"/>
              </a:lnSpc>
              <a:spcBef>
                <a:spcPts val="0"/>
              </a:spcBef>
              <a:spcAft>
                <a:spcPts val="0"/>
              </a:spcAft>
              <a:buClr>
                <a:srgbClr val="FFFFFF"/>
              </a:buClr>
              <a:buSzPts val="2800"/>
              <a:buNone/>
              <a:defRPr sz="2800">
                <a:solidFill>
                  <a:srgbClr val="FFFFFF"/>
                </a:solidFill>
              </a:defRPr>
            </a:lvl5pPr>
            <a:lvl6pPr lvl="5" algn="l">
              <a:lnSpc>
                <a:spcPct val="100000"/>
              </a:lnSpc>
              <a:spcBef>
                <a:spcPts val="0"/>
              </a:spcBef>
              <a:spcAft>
                <a:spcPts val="0"/>
              </a:spcAft>
              <a:buClr>
                <a:srgbClr val="FFFFFF"/>
              </a:buClr>
              <a:buSzPts val="2800"/>
              <a:buNone/>
              <a:defRPr sz="2800">
                <a:solidFill>
                  <a:srgbClr val="FFFFFF"/>
                </a:solidFill>
              </a:defRPr>
            </a:lvl6pPr>
            <a:lvl7pPr lvl="6" algn="l">
              <a:lnSpc>
                <a:spcPct val="100000"/>
              </a:lnSpc>
              <a:spcBef>
                <a:spcPts val="0"/>
              </a:spcBef>
              <a:spcAft>
                <a:spcPts val="0"/>
              </a:spcAft>
              <a:buClr>
                <a:srgbClr val="FFFFFF"/>
              </a:buClr>
              <a:buSzPts val="2800"/>
              <a:buNone/>
              <a:defRPr sz="2800">
                <a:solidFill>
                  <a:srgbClr val="FFFFFF"/>
                </a:solidFill>
              </a:defRPr>
            </a:lvl7pPr>
            <a:lvl8pPr lvl="7" algn="l">
              <a:lnSpc>
                <a:spcPct val="100000"/>
              </a:lnSpc>
              <a:spcBef>
                <a:spcPts val="0"/>
              </a:spcBef>
              <a:spcAft>
                <a:spcPts val="0"/>
              </a:spcAft>
              <a:buClr>
                <a:srgbClr val="FFFFFF"/>
              </a:buClr>
              <a:buSzPts val="2800"/>
              <a:buNone/>
              <a:defRPr sz="2800">
                <a:solidFill>
                  <a:srgbClr val="FFFFFF"/>
                </a:solidFill>
              </a:defRPr>
            </a:lvl8pPr>
            <a:lvl9pPr lvl="8" algn="l">
              <a:lnSpc>
                <a:spcPct val="100000"/>
              </a:lnSpc>
              <a:spcBef>
                <a:spcPts val="0"/>
              </a:spcBef>
              <a:spcAft>
                <a:spcPts val="0"/>
              </a:spcAft>
              <a:buClr>
                <a:srgbClr val="FFFFFF"/>
              </a:buClr>
              <a:buSzPts val="2800"/>
              <a:buNone/>
              <a:defRPr sz="2800">
                <a:solidFill>
                  <a:srgbClr val="FFFFFF"/>
                </a:solidFill>
              </a:defRPr>
            </a:lvl9pPr>
          </a:lstStyle>
          <a:p/>
        </p:txBody>
      </p:sp>
      <p:sp>
        <p:nvSpPr>
          <p:cNvPr id="70" name="Google Shape;70;g12cf8383360_0_123"/>
          <p:cNvSpPr txBox="1"/>
          <p:nvPr>
            <p:ph idx="1" type="body"/>
          </p:nvPr>
        </p:nvSpPr>
        <p:spPr>
          <a:xfrm>
            <a:off x="311700" y="2759667"/>
            <a:ext cx="8520600" cy="3332400"/>
          </a:xfrm>
          <a:prstGeom prst="rect">
            <a:avLst/>
          </a:prstGeom>
          <a:noFill/>
        </p:spPr>
        <p:txBody>
          <a:bodyPr anchorCtr="0" anchor="t" bIns="45700" lIns="91425" spcFirstLastPara="1" rIns="91425" wrap="square" tIns="45700">
            <a:noAutofit/>
          </a:bodyPr>
          <a:lstStyle>
            <a:lvl1pPr indent="-342900" lvl="0" marL="457200" algn="l">
              <a:lnSpc>
                <a:spcPct val="115000"/>
              </a:lnSpc>
              <a:spcBef>
                <a:spcPts val="630"/>
              </a:spcBef>
              <a:spcAft>
                <a:spcPts val="0"/>
              </a:spcAft>
              <a:buClr>
                <a:schemeClr val="dk2"/>
              </a:buClr>
              <a:buSzPts val="1800"/>
              <a:buChar char="▪"/>
              <a:defRPr sz="1800">
                <a:solidFill>
                  <a:schemeClr val="dk2"/>
                </a:solidFill>
              </a:defRPr>
            </a:lvl1pPr>
            <a:lvl2pPr indent="-354330" lvl="1" marL="914400" algn="l">
              <a:lnSpc>
                <a:spcPct val="115000"/>
              </a:lnSpc>
              <a:spcBef>
                <a:spcPts val="1600"/>
              </a:spcBef>
              <a:spcAft>
                <a:spcPts val="0"/>
              </a:spcAft>
              <a:buClr>
                <a:schemeClr val="dk2"/>
              </a:buClr>
              <a:buSzPts val="1980"/>
              <a:buChar char="•"/>
              <a:defRPr sz="1400">
                <a:solidFill>
                  <a:schemeClr val="dk2"/>
                </a:solidFill>
              </a:defRPr>
            </a:lvl2pPr>
            <a:lvl3pPr indent="-314325" lvl="2" marL="1371600" algn="l">
              <a:lnSpc>
                <a:spcPct val="115000"/>
              </a:lnSpc>
              <a:spcBef>
                <a:spcPts val="1600"/>
              </a:spcBef>
              <a:spcAft>
                <a:spcPts val="0"/>
              </a:spcAft>
              <a:buClr>
                <a:schemeClr val="dk2"/>
              </a:buClr>
              <a:buSzPts val="1350"/>
              <a:buChar char="4"/>
              <a:defRPr sz="1400">
                <a:solidFill>
                  <a:schemeClr val="dk2"/>
                </a:solidFill>
              </a:defRPr>
            </a:lvl3pPr>
            <a:lvl4pPr indent="-314325" lvl="3" marL="1828800" algn="l">
              <a:lnSpc>
                <a:spcPct val="115000"/>
              </a:lnSpc>
              <a:spcBef>
                <a:spcPts val="1600"/>
              </a:spcBef>
              <a:spcAft>
                <a:spcPts val="0"/>
              </a:spcAft>
              <a:buClr>
                <a:schemeClr val="dk2"/>
              </a:buClr>
              <a:buSzPts val="1350"/>
              <a:buChar char="–"/>
              <a:defRPr sz="1400">
                <a:solidFill>
                  <a:schemeClr val="dk2"/>
                </a:solidFill>
              </a:defRPr>
            </a:lvl4pPr>
            <a:lvl5pPr indent="-314325" lvl="4" marL="2286000" algn="l">
              <a:lnSpc>
                <a:spcPct val="115000"/>
              </a:lnSpc>
              <a:spcBef>
                <a:spcPts val="1600"/>
              </a:spcBef>
              <a:spcAft>
                <a:spcPts val="0"/>
              </a:spcAft>
              <a:buClr>
                <a:schemeClr val="dk2"/>
              </a:buClr>
              <a:buSzPts val="1350"/>
              <a:buChar char="»"/>
              <a:defRPr sz="1400">
                <a:solidFill>
                  <a:schemeClr val="dk2"/>
                </a:solidFill>
              </a:defRPr>
            </a:lvl5pPr>
            <a:lvl6pPr indent="-314325" lvl="5" marL="2743200" algn="l">
              <a:lnSpc>
                <a:spcPct val="115000"/>
              </a:lnSpc>
              <a:spcBef>
                <a:spcPts val="1600"/>
              </a:spcBef>
              <a:spcAft>
                <a:spcPts val="0"/>
              </a:spcAft>
              <a:buClr>
                <a:schemeClr val="dk2"/>
              </a:buClr>
              <a:buSzPts val="1350"/>
              <a:buChar char="»"/>
              <a:defRPr sz="1400">
                <a:solidFill>
                  <a:schemeClr val="dk2"/>
                </a:solidFill>
              </a:defRPr>
            </a:lvl6pPr>
            <a:lvl7pPr indent="-314325" lvl="6" marL="3200400" algn="l">
              <a:lnSpc>
                <a:spcPct val="115000"/>
              </a:lnSpc>
              <a:spcBef>
                <a:spcPts val="1600"/>
              </a:spcBef>
              <a:spcAft>
                <a:spcPts val="0"/>
              </a:spcAft>
              <a:buClr>
                <a:schemeClr val="dk2"/>
              </a:buClr>
              <a:buSzPts val="1350"/>
              <a:buChar char="»"/>
              <a:defRPr sz="1400">
                <a:solidFill>
                  <a:schemeClr val="dk2"/>
                </a:solidFill>
              </a:defRPr>
            </a:lvl7pPr>
            <a:lvl8pPr indent="-314325" lvl="7" marL="3657600" algn="l">
              <a:lnSpc>
                <a:spcPct val="115000"/>
              </a:lnSpc>
              <a:spcBef>
                <a:spcPts val="1600"/>
              </a:spcBef>
              <a:spcAft>
                <a:spcPts val="0"/>
              </a:spcAft>
              <a:buClr>
                <a:schemeClr val="dk2"/>
              </a:buClr>
              <a:buSzPts val="1350"/>
              <a:buChar char="»"/>
              <a:defRPr sz="1400">
                <a:solidFill>
                  <a:schemeClr val="dk2"/>
                </a:solidFill>
              </a:defRPr>
            </a:lvl8pPr>
            <a:lvl9pPr indent="-314325" lvl="8" marL="4114800" algn="l">
              <a:lnSpc>
                <a:spcPct val="115000"/>
              </a:lnSpc>
              <a:spcBef>
                <a:spcPts val="1600"/>
              </a:spcBef>
              <a:spcAft>
                <a:spcPts val="1600"/>
              </a:spcAft>
              <a:buClr>
                <a:schemeClr val="dk2"/>
              </a:buClr>
              <a:buSzPts val="1350"/>
              <a:buChar char="»"/>
              <a:defRPr sz="1400">
                <a:solidFill>
                  <a:schemeClr val="dk2"/>
                </a:solidFill>
              </a:defRPr>
            </a:lvl9pPr>
          </a:lstStyle>
          <a:p/>
        </p:txBody>
      </p:sp>
      <p:sp>
        <p:nvSpPr>
          <p:cNvPr id="71" name="Google Shape;71;g12cf8383360_0_1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8.jpg"/><Relationship Id="rId2" Type="http://schemas.openxmlformats.org/officeDocument/2006/relationships/image" Target="../media/image7.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75"/>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75"/>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2" name="Google Shape;12;p75"/>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54330" lvl="0" marL="457200" marR="0" rtl="0" algn="l">
              <a:spcBef>
                <a:spcPts val="630"/>
              </a:spcBef>
              <a:spcAft>
                <a:spcPts val="0"/>
              </a:spcAft>
              <a:buClr>
                <a:srgbClr val="993300"/>
              </a:buClr>
              <a:buSzPts val="1980"/>
              <a:buFont typeface="Noto Sans Symbols"/>
              <a:buChar char="▪"/>
              <a:defRPr b="0" i="0" sz="1800" u="none" cap="none" strike="noStrike">
                <a:solidFill>
                  <a:schemeClr val="dk1"/>
                </a:solidFill>
                <a:latin typeface="Helvetica Neue"/>
                <a:ea typeface="Helvetica Neue"/>
                <a:cs typeface="Helvetica Neue"/>
                <a:sym typeface="Helvetica Neue"/>
              </a:defRPr>
            </a:lvl1pPr>
            <a:lvl2pPr indent="-354330" lvl="1" marL="914400" marR="0" rtl="0" algn="l">
              <a:spcBef>
                <a:spcPts val="630"/>
              </a:spcBef>
              <a:spcAft>
                <a:spcPts val="0"/>
              </a:spcAft>
              <a:buClr>
                <a:srgbClr val="CC6600"/>
              </a:buClr>
              <a:buSzPts val="198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75"/>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75"/>
          <p:cNvCxnSpPr/>
          <p:nvPr/>
        </p:nvCxnSpPr>
        <p:spPr>
          <a:xfrm>
            <a:off x="457200" y="860425"/>
            <a:ext cx="8077200" cy="0"/>
          </a:xfrm>
          <a:prstGeom prst="straightConnector1">
            <a:avLst/>
          </a:prstGeom>
          <a:noFill/>
          <a:ln cap="flat" cmpd="sng" w="19050">
            <a:solidFill>
              <a:srgbClr val="336699"/>
            </a:solidFill>
            <a:prstDash val="solid"/>
            <a:round/>
            <a:headEnd len="med" w="med" type="none"/>
            <a:tailEnd len="med" w="med" type="none"/>
          </a:ln>
        </p:spPr>
      </p:cxnSp>
      <p:sp>
        <p:nvSpPr>
          <p:cNvPr id="15" name="Google Shape;15;p75"/>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75"/>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75"/>
          <p:cNvSpPr txBox="1"/>
          <p:nvPr/>
        </p:nvSpPr>
        <p:spPr>
          <a:xfrm>
            <a:off x="4257675" y="6613525"/>
            <a:ext cx="444500"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1.</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75"/>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Silberschatz, Galvin and Gagne ©2018</a:t>
            </a:r>
            <a:endParaRPr/>
          </a:p>
        </p:txBody>
      </p:sp>
      <p:sp>
        <p:nvSpPr>
          <p:cNvPr id="19" name="Google Shape;19;p75"/>
          <p:cNvSpPr txBox="1"/>
          <p:nvPr/>
        </p:nvSpPr>
        <p:spPr>
          <a:xfrm>
            <a:off x="185738" y="6621463"/>
            <a:ext cx="27305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Operating System Concepts – 10</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a:p>
        </p:txBody>
      </p:sp>
      <p:pic>
        <p:nvPicPr>
          <p:cNvPr descr="dino_6" id="20" name="Google Shape;20;p75"/>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19.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12.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2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 Id="rId3" Type="http://schemas.openxmlformats.org/officeDocument/2006/relationships/image" Target="../media/image2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2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
          <p:cNvSpPr txBox="1"/>
          <p:nvPr>
            <p:ph type="ctrTitle"/>
          </p:nvPr>
        </p:nvSpPr>
        <p:spPr>
          <a:xfrm>
            <a:off x="371475" y="1900238"/>
            <a:ext cx="84582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1:  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idx="4294967295" type="title"/>
          </p:nvPr>
        </p:nvSpPr>
        <p:spPr>
          <a:xfrm>
            <a:off x="457200" y="203200"/>
            <a:ext cx="8034338"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1: Introduction</a:t>
            </a:r>
            <a:endParaRPr/>
          </a:p>
        </p:txBody>
      </p:sp>
      <p:sp>
        <p:nvSpPr>
          <p:cNvPr id="83" name="Google Shape;83;p2"/>
          <p:cNvSpPr txBox="1"/>
          <p:nvPr>
            <p:ph idx="4294967295"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What Operating Systems Do</a:t>
            </a:r>
            <a:endParaRPr/>
          </a:p>
          <a:p>
            <a:pPr indent="-342900" lvl="0" marL="342900" rtl="0" algn="l">
              <a:spcBef>
                <a:spcPts val="630"/>
              </a:spcBef>
              <a:spcAft>
                <a:spcPts val="0"/>
              </a:spcAft>
              <a:buSzPts val="1980"/>
              <a:buChar char="▪"/>
            </a:pPr>
            <a:r>
              <a:rPr lang="en-US"/>
              <a:t>Computer-System Organization</a:t>
            </a:r>
            <a:endParaRPr/>
          </a:p>
          <a:p>
            <a:pPr indent="-342900" lvl="0" marL="342900" rtl="0" algn="l">
              <a:spcBef>
                <a:spcPts val="630"/>
              </a:spcBef>
              <a:spcAft>
                <a:spcPts val="0"/>
              </a:spcAft>
              <a:buSzPts val="1980"/>
              <a:buChar char="▪"/>
            </a:pPr>
            <a:r>
              <a:rPr lang="en-US"/>
              <a:t>Computer-System Architecture</a:t>
            </a:r>
            <a:endParaRPr/>
          </a:p>
          <a:p>
            <a:pPr indent="-342900" lvl="0" marL="342900" rtl="0" algn="l">
              <a:spcBef>
                <a:spcPts val="630"/>
              </a:spcBef>
              <a:spcAft>
                <a:spcPts val="0"/>
              </a:spcAft>
              <a:buSzPts val="1980"/>
              <a:buChar char="▪"/>
            </a:pPr>
            <a:r>
              <a:rPr lang="en-US"/>
              <a:t>Operating-System Operations</a:t>
            </a:r>
            <a:endParaRPr/>
          </a:p>
          <a:p>
            <a:pPr indent="-342900" lvl="0" marL="342900" rtl="0" algn="l">
              <a:spcBef>
                <a:spcPts val="630"/>
              </a:spcBef>
              <a:spcAft>
                <a:spcPts val="0"/>
              </a:spcAft>
              <a:buSzPts val="1980"/>
              <a:buChar char="▪"/>
            </a:pPr>
            <a:r>
              <a:rPr lang="en-US"/>
              <a:t>Resource Management</a:t>
            </a:r>
            <a:endParaRPr/>
          </a:p>
          <a:p>
            <a:pPr indent="-342900" lvl="0" marL="342900" rtl="0" algn="l">
              <a:spcBef>
                <a:spcPts val="630"/>
              </a:spcBef>
              <a:spcAft>
                <a:spcPts val="0"/>
              </a:spcAft>
              <a:buSzPts val="1980"/>
              <a:buChar char="▪"/>
            </a:pPr>
            <a:r>
              <a:rPr lang="en-US"/>
              <a:t>Security and Protection</a:t>
            </a:r>
            <a:endParaRPr/>
          </a:p>
          <a:p>
            <a:pPr indent="-342900" lvl="0" marL="342900" rtl="0" algn="l">
              <a:spcBef>
                <a:spcPts val="630"/>
              </a:spcBef>
              <a:spcAft>
                <a:spcPts val="0"/>
              </a:spcAft>
              <a:buSzPts val="1980"/>
              <a:buChar char="▪"/>
            </a:pPr>
            <a:r>
              <a:rPr lang="en-US"/>
              <a:t>Virtualization</a:t>
            </a:r>
            <a:endParaRPr/>
          </a:p>
          <a:p>
            <a:pPr indent="-342900" lvl="0" marL="342900" rtl="0" algn="l">
              <a:spcBef>
                <a:spcPts val="630"/>
              </a:spcBef>
              <a:spcAft>
                <a:spcPts val="0"/>
              </a:spcAft>
              <a:buSzPts val="1980"/>
              <a:buChar char="▪"/>
            </a:pPr>
            <a:r>
              <a:rPr lang="en-US"/>
              <a:t>Distributed Systems</a:t>
            </a:r>
            <a:endParaRPr/>
          </a:p>
          <a:p>
            <a:pPr indent="-342900" lvl="0" marL="342900" rtl="0" algn="l">
              <a:spcBef>
                <a:spcPts val="630"/>
              </a:spcBef>
              <a:spcAft>
                <a:spcPts val="0"/>
              </a:spcAft>
              <a:buSzPts val="1980"/>
              <a:buChar char="▪"/>
            </a:pPr>
            <a:r>
              <a:rPr lang="en-US"/>
              <a:t>Kernel Data Structures</a:t>
            </a:r>
            <a:endParaRPr/>
          </a:p>
          <a:p>
            <a:pPr indent="-342900" lvl="0" marL="342900" rtl="0" algn="l">
              <a:spcBef>
                <a:spcPts val="630"/>
              </a:spcBef>
              <a:spcAft>
                <a:spcPts val="0"/>
              </a:spcAft>
              <a:buSzPts val="1980"/>
              <a:buChar char="▪"/>
            </a:pPr>
            <a:r>
              <a:rPr lang="en-US"/>
              <a:t>Computing Environments</a:t>
            </a:r>
            <a:endParaRPr/>
          </a:p>
          <a:p>
            <a:pPr indent="-342900" lvl="0" marL="342900" rtl="0" algn="l">
              <a:spcBef>
                <a:spcPts val="630"/>
              </a:spcBef>
              <a:spcAft>
                <a:spcPts val="0"/>
              </a:spcAft>
              <a:buSzPts val="1980"/>
              <a:buChar char="▪"/>
            </a:pPr>
            <a:r>
              <a:rPr lang="en-US"/>
              <a:t>Free/Libre and Open-Source Operating Systems</a:t>
            </a:r>
            <a:endParaRPr/>
          </a:p>
          <a:p>
            <a:pPr indent="-34290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txBox="1"/>
          <p:nvPr>
            <p:ph idx="4294967295" type="title"/>
          </p:nvPr>
        </p:nvSpPr>
        <p:spPr>
          <a:xfrm>
            <a:off x="457200" y="166688"/>
            <a:ext cx="8015288" cy="61753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Objectives</a:t>
            </a:r>
            <a:endParaRPr/>
          </a:p>
        </p:txBody>
      </p:sp>
      <p:sp>
        <p:nvSpPr>
          <p:cNvPr id="89" name="Google Shape;89;p3"/>
          <p:cNvSpPr txBox="1"/>
          <p:nvPr>
            <p:ph idx="4294967295" type="body"/>
          </p:nvPr>
        </p:nvSpPr>
        <p:spPr>
          <a:xfrm>
            <a:off x="806450" y="1233488"/>
            <a:ext cx="7666038"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Describe the general organization of a computer system and the role of interrupts</a:t>
            </a:r>
            <a:endParaRPr/>
          </a:p>
          <a:p>
            <a:pPr indent="-342900" lvl="0" marL="342900" rtl="0" algn="l">
              <a:spcBef>
                <a:spcPts val="630"/>
              </a:spcBef>
              <a:spcAft>
                <a:spcPts val="0"/>
              </a:spcAft>
              <a:buSzPts val="1980"/>
              <a:buChar char="▪"/>
            </a:pPr>
            <a:r>
              <a:rPr lang="en-US"/>
              <a:t>Describe the components in a modern, multiprocessor computer system</a:t>
            </a:r>
            <a:endParaRPr/>
          </a:p>
          <a:p>
            <a:pPr indent="-342900" lvl="0" marL="342900" rtl="0" algn="l">
              <a:spcBef>
                <a:spcPts val="630"/>
              </a:spcBef>
              <a:spcAft>
                <a:spcPts val="0"/>
              </a:spcAft>
              <a:buSzPts val="1980"/>
              <a:buChar char="▪"/>
            </a:pPr>
            <a:r>
              <a:rPr lang="en-US"/>
              <a:t>Illustrate the transition from user mode to kernel mode</a:t>
            </a:r>
            <a:endParaRPr/>
          </a:p>
          <a:p>
            <a:pPr indent="-342900" lvl="0" marL="342900" rtl="0" algn="l">
              <a:spcBef>
                <a:spcPts val="630"/>
              </a:spcBef>
              <a:spcAft>
                <a:spcPts val="0"/>
              </a:spcAft>
              <a:buSzPts val="1980"/>
              <a:buChar char="▪"/>
            </a:pPr>
            <a:r>
              <a:rPr lang="en-US"/>
              <a:t>Discuss how operating systems are used in various computing environments</a:t>
            </a:r>
            <a:endParaRPr/>
          </a:p>
          <a:p>
            <a:pPr indent="-342900" lvl="0" marL="342900" rtl="0" algn="l">
              <a:spcBef>
                <a:spcPts val="630"/>
              </a:spcBef>
              <a:spcAft>
                <a:spcPts val="0"/>
              </a:spcAft>
              <a:buSzPts val="1980"/>
              <a:buChar char="▪"/>
            </a:pPr>
            <a:r>
              <a:rPr lang="en-US"/>
              <a:t>Provide examples of free and open-source operating systems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idx="4294967295" type="title"/>
          </p:nvPr>
        </p:nvSpPr>
        <p:spPr>
          <a:xfrm>
            <a:off x="1251856" y="123144"/>
            <a:ext cx="8015288" cy="61753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600"/>
              <a:t>What Does the Term Operating System Mean?</a:t>
            </a:r>
            <a:endParaRPr/>
          </a:p>
        </p:txBody>
      </p:sp>
      <p:sp>
        <p:nvSpPr>
          <p:cNvPr id="95" name="Google Shape;95;p4"/>
          <p:cNvSpPr txBox="1"/>
          <p:nvPr>
            <p:ph idx="4294967295" type="body"/>
          </p:nvPr>
        </p:nvSpPr>
        <p:spPr>
          <a:xfrm>
            <a:off x="806450" y="1233488"/>
            <a:ext cx="7666038"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An operating system is “fill in the blanks”</a:t>
            </a:r>
            <a:endParaRPr/>
          </a:p>
          <a:p>
            <a:pPr indent="-342900" lvl="0" marL="342900" rtl="0" algn="l">
              <a:spcBef>
                <a:spcPts val="630"/>
              </a:spcBef>
              <a:spcAft>
                <a:spcPts val="0"/>
              </a:spcAft>
              <a:buSzPts val="1980"/>
              <a:buChar char="▪"/>
            </a:pPr>
            <a:r>
              <a:rPr lang="en-US"/>
              <a:t>What about:</a:t>
            </a:r>
            <a:endParaRPr/>
          </a:p>
          <a:p>
            <a:pPr indent="-285750" lvl="1" marL="742950" rtl="0" algn="l">
              <a:spcBef>
                <a:spcPts val="630"/>
              </a:spcBef>
              <a:spcAft>
                <a:spcPts val="0"/>
              </a:spcAft>
              <a:buSzPts val="1980"/>
              <a:buChar char="•"/>
            </a:pPr>
            <a:r>
              <a:rPr lang="en-US"/>
              <a:t>Car </a:t>
            </a:r>
            <a:endParaRPr/>
          </a:p>
          <a:p>
            <a:pPr indent="-285750" lvl="1" marL="742950" rtl="0" algn="l">
              <a:spcBef>
                <a:spcPts val="630"/>
              </a:spcBef>
              <a:spcAft>
                <a:spcPts val="0"/>
              </a:spcAft>
              <a:buSzPts val="1980"/>
              <a:buChar char="•"/>
            </a:pPr>
            <a:r>
              <a:rPr lang="en-US"/>
              <a:t>Airplane</a:t>
            </a:r>
            <a:endParaRPr/>
          </a:p>
          <a:p>
            <a:pPr indent="-285750" lvl="1" marL="742950" rtl="0" algn="l">
              <a:spcBef>
                <a:spcPts val="630"/>
              </a:spcBef>
              <a:spcAft>
                <a:spcPts val="0"/>
              </a:spcAft>
              <a:buSzPts val="1980"/>
              <a:buChar char="•"/>
            </a:pPr>
            <a:r>
              <a:rPr lang="en-US"/>
              <a:t>Printer</a:t>
            </a:r>
            <a:endParaRPr/>
          </a:p>
          <a:p>
            <a:pPr indent="-285750" lvl="1" marL="742950" rtl="0" algn="l">
              <a:spcBef>
                <a:spcPts val="630"/>
              </a:spcBef>
              <a:spcAft>
                <a:spcPts val="0"/>
              </a:spcAft>
              <a:buSzPts val="1980"/>
              <a:buChar char="•"/>
            </a:pPr>
            <a:r>
              <a:rPr lang="en-US"/>
              <a:t>Washing Machine</a:t>
            </a:r>
            <a:endParaRPr/>
          </a:p>
          <a:p>
            <a:pPr indent="-285750" lvl="1" marL="742950" rtl="0" algn="l">
              <a:spcBef>
                <a:spcPts val="630"/>
              </a:spcBef>
              <a:spcAft>
                <a:spcPts val="0"/>
              </a:spcAft>
              <a:buSzPts val="1980"/>
              <a:buChar char="•"/>
            </a:pPr>
            <a:r>
              <a:rPr lang="en-US"/>
              <a:t>Toaster</a:t>
            </a:r>
            <a:endParaRPr/>
          </a:p>
          <a:p>
            <a:pPr indent="-285750" lvl="1" marL="742950" rtl="0" algn="l">
              <a:spcBef>
                <a:spcPts val="630"/>
              </a:spcBef>
              <a:spcAft>
                <a:spcPts val="0"/>
              </a:spcAft>
              <a:buSzPts val="1980"/>
              <a:buChar char="•"/>
            </a:pPr>
            <a:r>
              <a:rPr lang="en-US"/>
              <a:t>Compiler</a:t>
            </a:r>
            <a:endParaRPr/>
          </a:p>
          <a:p>
            <a:pPr indent="-285750" lvl="1" marL="742950" rtl="0" algn="l">
              <a:spcBef>
                <a:spcPts val="630"/>
              </a:spcBef>
              <a:spcAft>
                <a:spcPts val="0"/>
              </a:spcAft>
              <a:buSzPts val="1980"/>
              <a:buChar char="•"/>
            </a:pPr>
            <a:r>
              <a:rPr lang="en-US"/>
              <a:t>Etc.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txBox="1"/>
          <p:nvPr>
            <p:ph idx="4294967295" type="title"/>
          </p:nvPr>
        </p:nvSpPr>
        <p:spPr>
          <a:xfrm>
            <a:off x="963613" y="198438"/>
            <a:ext cx="77231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What is an Operating System?</a:t>
            </a:r>
            <a:endParaRPr/>
          </a:p>
        </p:txBody>
      </p:sp>
      <p:sp>
        <p:nvSpPr>
          <p:cNvPr id="101" name="Google Shape;101;p5"/>
          <p:cNvSpPr txBox="1"/>
          <p:nvPr>
            <p:ph idx="4294967295" type="body"/>
          </p:nvPr>
        </p:nvSpPr>
        <p:spPr>
          <a:xfrm>
            <a:off x="925513" y="1268413"/>
            <a:ext cx="7121525" cy="41592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A program that acts as an intermediary between a user of a computer and the computer hardware</a:t>
            </a:r>
            <a:endParaRPr/>
          </a:p>
          <a:p>
            <a:pPr indent="-342900" lvl="0" marL="342900" rtl="0" algn="l">
              <a:spcBef>
                <a:spcPts val="630"/>
              </a:spcBef>
              <a:spcAft>
                <a:spcPts val="0"/>
              </a:spcAft>
              <a:buSzPts val="1980"/>
              <a:buChar char="▪"/>
            </a:pPr>
            <a:r>
              <a:rPr lang="en-US"/>
              <a:t>Operating system goals:</a:t>
            </a:r>
            <a:endParaRPr/>
          </a:p>
          <a:p>
            <a:pPr indent="-285750" lvl="1" marL="742950" rtl="0" algn="l">
              <a:spcBef>
                <a:spcPts val="630"/>
              </a:spcBef>
              <a:spcAft>
                <a:spcPts val="0"/>
              </a:spcAft>
              <a:buSzPts val="1980"/>
              <a:buChar char="•"/>
            </a:pPr>
            <a:r>
              <a:rPr lang="en-US"/>
              <a:t>Execute user programs and make solving user problems easier</a:t>
            </a:r>
            <a:endParaRPr/>
          </a:p>
          <a:p>
            <a:pPr indent="-285750" lvl="1" marL="742950" rtl="0" algn="l">
              <a:spcBef>
                <a:spcPts val="630"/>
              </a:spcBef>
              <a:spcAft>
                <a:spcPts val="0"/>
              </a:spcAft>
              <a:buSzPts val="1980"/>
              <a:buChar char="•"/>
            </a:pPr>
            <a:r>
              <a:rPr lang="en-US"/>
              <a:t>Make the computer system convenient to use</a:t>
            </a:r>
            <a:endParaRPr/>
          </a:p>
          <a:p>
            <a:pPr indent="-285750" lvl="1" marL="742950" rtl="0" algn="l">
              <a:spcBef>
                <a:spcPts val="630"/>
              </a:spcBef>
              <a:spcAft>
                <a:spcPts val="0"/>
              </a:spcAft>
              <a:buSzPts val="1980"/>
              <a:buChar char="•"/>
            </a:pPr>
            <a:r>
              <a:rPr lang="en-US"/>
              <a:t>Use the computer hardware in an efficient manner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idx="4294967295" type="title"/>
          </p:nvPr>
        </p:nvSpPr>
        <p:spPr>
          <a:xfrm>
            <a:off x="1041400" y="201613"/>
            <a:ext cx="753268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Computer System Structure</a:t>
            </a:r>
            <a:endParaRPr/>
          </a:p>
        </p:txBody>
      </p:sp>
      <p:sp>
        <p:nvSpPr>
          <p:cNvPr id="107" name="Google Shape;107;p6"/>
          <p:cNvSpPr txBox="1"/>
          <p:nvPr>
            <p:ph idx="4294967295" type="body"/>
          </p:nvPr>
        </p:nvSpPr>
        <p:spPr>
          <a:xfrm>
            <a:off x="801688" y="1204913"/>
            <a:ext cx="77724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Computer system can be divided into four components:</a:t>
            </a:r>
            <a:endParaRPr/>
          </a:p>
          <a:p>
            <a:pPr indent="-285750" lvl="1" marL="742950" rtl="0" algn="l">
              <a:spcBef>
                <a:spcPts val="630"/>
              </a:spcBef>
              <a:spcAft>
                <a:spcPts val="0"/>
              </a:spcAft>
              <a:buSzPts val="1980"/>
              <a:buChar char="•"/>
            </a:pPr>
            <a:r>
              <a:rPr lang="en-US"/>
              <a:t>Hardware – provides basic computing resources</a:t>
            </a:r>
            <a:endParaRPr/>
          </a:p>
          <a:p>
            <a:pPr indent="-228600" lvl="2" marL="1085850" rtl="0" algn="l">
              <a:spcBef>
                <a:spcPts val="630"/>
              </a:spcBef>
              <a:spcAft>
                <a:spcPts val="0"/>
              </a:spcAft>
              <a:buSzPts val="1350"/>
              <a:buChar char="4"/>
            </a:pPr>
            <a:r>
              <a:rPr lang="en-US"/>
              <a:t>CPU, memory, I/O devices</a:t>
            </a:r>
            <a:endParaRPr/>
          </a:p>
          <a:p>
            <a:pPr indent="-285750" lvl="1" marL="742950" rtl="0" algn="l">
              <a:spcBef>
                <a:spcPts val="630"/>
              </a:spcBef>
              <a:spcAft>
                <a:spcPts val="0"/>
              </a:spcAft>
              <a:buSzPts val="1980"/>
              <a:buChar char="•"/>
            </a:pPr>
            <a:r>
              <a:rPr lang="en-US"/>
              <a:t>Operating system</a:t>
            </a:r>
            <a:endParaRPr/>
          </a:p>
          <a:p>
            <a:pPr indent="-228600" lvl="2" marL="1085850" rtl="0" algn="l">
              <a:spcBef>
                <a:spcPts val="630"/>
              </a:spcBef>
              <a:spcAft>
                <a:spcPts val="0"/>
              </a:spcAft>
              <a:buSzPts val="1350"/>
              <a:buChar char="4"/>
            </a:pPr>
            <a:r>
              <a:rPr lang="en-US"/>
              <a:t>Controls and coordinates use of hardware among various   applications and users</a:t>
            </a:r>
            <a:endParaRPr/>
          </a:p>
          <a:p>
            <a:pPr indent="-285750" lvl="1" marL="742950" rtl="0" algn="l">
              <a:spcBef>
                <a:spcPts val="630"/>
              </a:spcBef>
              <a:spcAft>
                <a:spcPts val="0"/>
              </a:spcAft>
              <a:buSzPts val="1980"/>
              <a:buChar char="•"/>
            </a:pPr>
            <a:r>
              <a:rPr lang="en-US"/>
              <a:t>Application programs – define the ways in which the system resources are used to solve the computing problems of the users</a:t>
            </a:r>
            <a:endParaRPr/>
          </a:p>
          <a:p>
            <a:pPr indent="-228600" lvl="2" marL="1085850" rtl="0" algn="l">
              <a:spcBef>
                <a:spcPts val="630"/>
              </a:spcBef>
              <a:spcAft>
                <a:spcPts val="0"/>
              </a:spcAft>
              <a:buSzPts val="1350"/>
              <a:buChar char="4"/>
            </a:pPr>
            <a:r>
              <a:rPr lang="en-US"/>
              <a:t>Word processors, compilers, web browsers, database systems, video games</a:t>
            </a:r>
            <a:endParaRPr/>
          </a:p>
          <a:p>
            <a:pPr indent="-285750" lvl="1" marL="742950" rtl="0" algn="l">
              <a:spcBef>
                <a:spcPts val="630"/>
              </a:spcBef>
              <a:spcAft>
                <a:spcPts val="0"/>
              </a:spcAft>
              <a:buSzPts val="1980"/>
              <a:buChar char="•"/>
            </a:pPr>
            <a:r>
              <a:rPr lang="en-US"/>
              <a:t>Users</a:t>
            </a:r>
            <a:endParaRPr/>
          </a:p>
          <a:p>
            <a:pPr indent="-228600" lvl="2" marL="1085850" rtl="0" algn="l">
              <a:spcBef>
                <a:spcPts val="630"/>
              </a:spcBef>
              <a:spcAft>
                <a:spcPts val="0"/>
              </a:spcAft>
              <a:buSzPts val="1350"/>
              <a:buChar char="4"/>
            </a:pPr>
            <a:r>
              <a:rPr lang="en-US"/>
              <a:t>People, machines, other computers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4294967295" type="title"/>
          </p:nvPr>
        </p:nvSpPr>
        <p:spPr>
          <a:xfrm>
            <a:off x="1041400" y="182563"/>
            <a:ext cx="7645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Abstract View of Components of Computer</a:t>
            </a:r>
            <a:endParaRPr/>
          </a:p>
        </p:txBody>
      </p:sp>
      <p:pic>
        <p:nvPicPr>
          <p:cNvPr id="113" name="Google Shape;113;p7"/>
          <p:cNvPicPr preferRelativeResize="0"/>
          <p:nvPr/>
        </p:nvPicPr>
        <p:blipFill rotWithShape="1">
          <a:blip r:embed="rId3">
            <a:alphaModFix/>
          </a:blip>
          <a:srcRect b="0" l="0" r="0" t="0"/>
          <a:stretch/>
        </p:blipFill>
        <p:spPr>
          <a:xfrm>
            <a:off x="2427288" y="1871663"/>
            <a:ext cx="4621212" cy="3276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8"/>
          <p:cNvSpPr txBox="1"/>
          <p:nvPr>
            <p:ph idx="4294967295" type="title"/>
          </p:nvPr>
        </p:nvSpPr>
        <p:spPr>
          <a:xfrm>
            <a:off x="457200" y="201613"/>
            <a:ext cx="8126413"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What Operating Systems Do</a:t>
            </a:r>
            <a:endParaRPr/>
          </a:p>
        </p:txBody>
      </p:sp>
      <p:sp>
        <p:nvSpPr>
          <p:cNvPr id="119" name="Google Shape;119;p8"/>
          <p:cNvSpPr txBox="1"/>
          <p:nvPr>
            <p:ph idx="4294967295" type="body"/>
          </p:nvPr>
        </p:nvSpPr>
        <p:spPr>
          <a:xfrm>
            <a:off x="746125" y="1120775"/>
            <a:ext cx="7940675"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Depends on the point of view</a:t>
            </a:r>
            <a:endParaRPr/>
          </a:p>
          <a:p>
            <a:pPr indent="-342900" lvl="0" marL="342900" rtl="0" algn="l">
              <a:spcBef>
                <a:spcPts val="630"/>
              </a:spcBef>
              <a:spcAft>
                <a:spcPts val="0"/>
              </a:spcAft>
              <a:buSzPts val="1980"/>
              <a:buChar char="▪"/>
            </a:pPr>
            <a:r>
              <a:rPr lang="en-US"/>
              <a:t>Users want convenience, </a:t>
            </a:r>
            <a:r>
              <a:rPr b="1" lang="en-US">
                <a:solidFill>
                  <a:srgbClr val="006699"/>
                </a:solidFill>
                <a:latin typeface="Arial"/>
                <a:ea typeface="Arial"/>
                <a:cs typeface="Arial"/>
                <a:sym typeface="Arial"/>
              </a:rPr>
              <a:t>ease of use </a:t>
            </a:r>
            <a:r>
              <a:rPr lang="en-US"/>
              <a:t>and</a:t>
            </a:r>
            <a:r>
              <a:rPr b="1" lang="en-US">
                <a:solidFill>
                  <a:srgbClr val="3366FF"/>
                </a:solidFill>
              </a:rPr>
              <a:t> </a:t>
            </a:r>
            <a:r>
              <a:rPr b="1" lang="en-US">
                <a:solidFill>
                  <a:srgbClr val="006699"/>
                </a:solidFill>
                <a:latin typeface="Arial"/>
                <a:ea typeface="Arial"/>
                <a:cs typeface="Arial"/>
                <a:sym typeface="Arial"/>
              </a:rPr>
              <a:t>good performance </a:t>
            </a:r>
            <a:endParaRPr/>
          </a:p>
          <a:p>
            <a:pPr indent="-285750" lvl="1" marL="742950" rtl="0" algn="l">
              <a:spcBef>
                <a:spcPts val="630"/>
              </a:spcBef>
              <a:spcAft>
                <a:spcPts val="0"/>
              </a:spcAft>
              <a:buSzPts val="1980"/>
              <a:buChar char="•"/>
            </a:pPr>
            <a:r>
              <a:rPr lang="en-US"/>
              <a:t>Don’t care about </a:t>
            </a:r>
            <a:r>
              <a:rPr b="1" lang="en-US">
                <a:solidFill>
                  <a:srgbClr val="006699"/>
                </a:solidFill>
                <a:latin typeface="Arial"/>
                <a:ea typeface="Arial"/>
                <a:cs typeface="Arial"/>
                <a:sym typeface="Arial"/>
              </a:rPr>
              <a:t>resource utilization</a:t>
            </a:r>
            <a:endParaRPr/>
          </a:p>
          <a:p>
            <a:pPr indent="-342900" lvl="0" marL="342900" rtl="0" algn="l">
              <a:spcBef>
                <a:spcPts val="630"/>
              </a:spcBef>
              <a:spcAft>
                <a:spcPts val="0"/>
              </a:spcAft>
              <a:buSzPts val="1980"/>
              <a:buChar char="▪"/>
            </a:pPr>
            <a:r>
              <a:rPr lang="en-US"/>
              <a:t>But shared computer such as </a:t>
            </a:r>
            <a:r>
              <a:rPr b="1" lang="en-US">
                <a:solidFill>
                  <a:srgbClr val="006699"/>
                </a:solidFill>
                <a:latin typeface="Arial"/>
                <a:ea typeface="Arial"/>
                <a:cs typeface="Arial"/>
                <a:sym typeface="Arial"/>
              </a:rPr>
              <a:t>mainframe</a:t>
            </a:r>
            <a:r>
              <a:rPr lang="en-US"/>
              <a:t> or </a:t>
            </a:r>
            <a:r>
              <a:rPr b="1" lang="en-US">
                <a:solidFill>
                  <a:srgbClr val="006699"/>
                </a:solidFill>
                <a:latin typeface="Arial"/>
                <a:ea typeface="Arial"/>
                <a:cs typeface="Arial"/>
                <a:sym typeface="Arial"/>
              </a:rPr>
              <a:t>minicomputer</a:t>
            </a:r>
            <a:r>
              <a:rPr lang="en-US"/>
              <a:t> must keep all users happy</a:t>
            </a:r>
            <a:endParaRPr/>
          </a:p>
          <a:p>
            <a:pPr indent="-285750" lvl="1" marL="742950" rtl="0" algn="l">
              <a:spcBef>
                <a:spcPts val="630"/>
              </a:spcBef>
              <a:spcAft>
                <a:spcPts val="0"/>
              </a:spcAft>
              <a:buSzPts val="1980"/>
              <a:buChar char="•"/>
            </a:pPr>
            <a:r>
              <a:rPr lang="en-US"/>
              <a:t>Operating system is a </a:t>
            </a:r>
            <a:r>
              <a:rPr b="1" lang="en-US">
                <a:solidFill>
                  <a:srgbClr val="006699"/>
                </a:solidFill>
                <a:latin typeface="Arial"/>
                <a:ea typeface="Arial"/>
                <a:cs typeface="Arial"/>
                <a:sym typeface="Arial"/>
              </a:rPr>
              <a:t>resource allocator </a:t>
            </a:r>
            <a:r>
              <a:rPr lang="en-US"/>
              <a:t>and </a:t>
            </a:r>
            <a:r>
              <a:rPr b="1" lang="en-US">
                <a:solidFill>
                  <a:srgbClr val="006699"/>
                </a:solidFill>
                <a:latin typeface="Arial"/>
                <a:ea typeface="Arial"/>
                <a:cs typeface="Arial"/>
                <a:sym typeface="Arial"/>
              </a:rPr>
              <a:t>control program </a:t>
            </a:r>
            <a:r>
              <a:rPr lang="en-US"/>
              <a:t>making efficient use of HW and managing execution of user programs</a:t>
            </a:r>
            <a:endParaRPr/>
          </a:p>
          <a:p>
            <a:pPr indent="-342900" lvl="0" marL="342900" rtl="0" algn="l">
              <a:spcBef>
                <a:spcPts val="630"/>
              </a:spcBef>
              <a:spcAft>
                <a:spcPts val="0"/>
              </a:spcAft>
              <a:buSzPts val="1980"/>
              <a:buChar char="▪"/>
            </a:pPr>
            <a:r>
              <a:rPr lang="en-US"/>
              <a:t>Users of dedicate systems such as </a:t>
            </a:r>
            <a:r>
              <a:rPr b="1" lang="en-US">
                <a:solidFill>
                  <a:srgbClr val="006699"/>
                </a:solidFill>
                <a:latin typeface="Arial"/>
                <a:ea typeface="Arial"/>
                <a:cs typeface="Arial"/>
                <a:sym typeface="Arial"/>
              </a:rPr>
              <a:t>workstations</a:t>
            </a:r>
            <a:r>
              <a:rPr lang="en-US"/>
              <a:t> have dedicated resources but frequently use shared resources from </a:t>
            </a:r>
            <a:r>
              <a:rPr b="1" lang="en-US">
                <a:solidFill>
                  <a:srgbClr val="006699"/>
                </a:solidFill>
                <a:latin typeface="Arial"/>
                <a:ea typeface="Arial"/>
                <a:cs typeface="Arial"/>
                <a:sym typeface="Arial"/>
              </a:rPr>
              <a:t>servers</a:t>
            </a:r>
            <a:endParaRPr/>
          </a:p>
          <a:p>
            <a:pPr indent="-342900" lvl="0" marL="342900" rtl="0" algn="l">
              <a:spcBef>
                <a:spcPts val="630"/>
              </a:spcBef>
              <a:spcAft>
                <a:spcPts val="0"/>
              </a:spcAft>
              <a:buSzPts val="1980"/>
              <a:buChar char="▪"/>
            </a:pPr>
            <a:r>
              <a:rPr lang="en-US">
                <a:solidFill>
                  <a:srgbClr val="000000"/>
                </a:solidFill>
              </a:rPr>
              <a:t>Mobile devices like smartphones and tables are resource poor,  optimized for usability and battery life</a:t>
            </a:r>
            <a:endParaRPr/>
          </a:p>
          <a:p>
            <a:pPr indent="-285750" lvl="1" marL="742950" rtl="0" algn="l">
              <a:spcBef>
                <a:spcPts val="630"/>
              </a:spcBef>
              <a:spcAft>
                <a:spcPts val="0"/>
              </a:spcAft>
              <a:buSzPts val="1980"/>
              <a:buChar char="•"/>
            </a:pPr>
            <a:r>
              <a:rPr lang="en-US">
                <a:solidFill>
                  <a:srgbClr val="000000"/>
                </a:solidFill>
              </a:rPr>
              <a:t>Mobile user interfaces such as touch screens, voice recognition</a:t>
            </a:r>
            <a:endParaRPr/>
          </a:p>
          <a:p>
            <a:pPr indent="-342900" lvl="0" marL="342900" rtl="0" algn="l">
              <a:spcBef>
                <a:spcPts val="630"/>
              </a:spcBef>
              <a:spcAft>
                <a:spcPts val="0"/>
              </a:spcAft>
              <a:buSzPts val="1980"/>
              <a:buChar char="▪"/>
            </a:pPr>
            <a:r>
              <a:rPr lang="en-US">
                <a:solidFill>
                  <a:srgbClr val="000000"/>
                </a:solidFill>
              </a:rPr>
              <a:t>Some computers have little or no user interface, such as embedded computers in devices and automobiles</a:t>
            </a:r>
            <a:endParaRPr/>
          </a:p>
          <a:p>
            <a:pPr indent="-285750" lvl="1" marL="742950" rtl="0" algn="l">
              <a:spcBef>
                <a:spcPts val="630"/>
              </a:spcBef>
              <a:spcAft>
                <a:spcPts val="0"/>
              </a:spcAft>
              <a:buSzPts val="1980"/>
              <a:buChar char="•"/>
            </a:pPr>
            <a:r>
              <a:rPr lang="en-US">
                <a:solidFill>
                  <a:srgbClr val="000000"/>
                </a:solidFill>
              </a:rPr>
              <a:t>Run primarily without user intervention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ph idx="4294967295" type="title"/>
          </p:nvPr>
        </p:nvSpPr>
        <p:spPr>
          <a:xfrm>
            <a:off x="1176338" y="195263"/>
            <a:ext cx="73421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Defining Operating Systems</a:t>
            </a:r>
            <a:endParaRPr/>
          </a:p>
        </p:txBody>
      </p:sp>
      <p:sp>
        <p:nvSpPr>
          <p:cNvPr id="125" name="Google Shape;125;p9"/>
          <p:cNvSpPr txBox="1"/>
          <p:nvPr>
            <p:ph idx="4294967295" type="body"/>
          </p:nvPr>
        </p:nvSpPr>
        <p:spPr>
          <a:xfrm>
            <a:off x="755650" y="1028700"/>
            <a:ext cx="7441293" cy="419644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None/>
            </a:pPr>
            <a:r>
              <a:t/>
            </a:r>
            <a:endParaRPr/>
          </a:p>
          <a:p>
            <a:pPr indent="-342900" lvl="0" marL="342900" rtl="0" algn="l">
              <a:spcBef>
                <a:spcPts val="630"/>
              </a:spcBef>
              <a:spcAft>
                <a:spcPts val="0"/>
              </a:spcAft>
              <a:buSzPts val="1980"/>
              <a:buChar char="▪"/>
            </a:pPr>
            <a:r>
              <a:rPr lang="en-US"/>
              <a:t>Term OS covers many roles</a:t>
            </a:r>
            <a:endParaRPr/>
          </a:p>
          <a:p>
            <a:pPr indent="-285750" lvl="1" marL="742950" rtl="0" algn="l">
              <a:spcBef>
                <a:spcPts val="630"/>
              </a:spcBef>
              <a:spcAft>
                <a:spcPts val="0"/>
              </a:spcAft>
              <a:buSzPts val="1980"/>
              <a:buChar char="•"/>
            </a:pPr>
            <a:r>
              <a:rPr lang="en-US"/>
              <a:t>Because of myriad designs and uses of OSes</a:t>
            </a:r>
            <a:endParaRPr/>
          </a:p>
          <a:p>
            <a:pPr indent="-285750" lvl="1" marL="742950" rtl="0" algn="l">
              <a:spcBef>
                <a:spcPts val="630"/>
              </a:spcBef>
              <a:spcAft>
                <a:spcPts val="0"/>
              </a:spcAft>
              <a:buSzPts val="1980"/>
              <a:buChar char="•"/>
            </a:pPr>
            <a:r>
              <a:rPr lang="en-US"/>
              <a:t>Present in toasters through ships, spacecraft, game machines, TVs and industrial control systems</a:t>
            </a:r>
            <a:endParaRPr/>
          </a:p>
          <a:p>
            <a:pPr indent="-285750" lvl="1" marL="742950" rtl="0" algn="l">
              <a:spcBef>
                <a:spcPts val="630"/>
              </a:spcBef>
              <a:spcAft>
                <a:spcPts val="0"/>
              </a:spcAft>
              <a:buSzPts val="1980"/>
              <a:buChar char="•"/>
            </a:pPr>
            <a:r>
              <a:rPr lang="en-US"/>
              <a:t>Born when fixed use computers for military became more general purpose and needed resource management and program control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txBox="1"/>
          <p:nvPr>
            <p:ph idx="4294967295" type="title"/>
          </p:nvPr>
        </p:nvSpPr>
        <p:spPr>
          <a:xfrm>
            <a:off x="1033463" y="198438"/>
            <a:ext cx="75326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Operating System Definition</a:t>
            </a:r>
            <a:endParaRPr/>
          </a:p>
        </p:txBody>
      </p:sp>
      <p:sp>
        <p:nvSpPr>
          <p:cNvPr id="136" name="Google Shape;136;p10"/>
          <p:cNvSpPr txBox="1"/>
          <p:nvPr>
            <p:ph idx="4294967295" type="body"/>
          </p:nvPr>
        </p:nvSpPr>
        <p:spPr>
          <a:xfrm>
            <a:off x="784225" y="1247775"/>
            <a:ext cx="7989661" cy="472848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No universally accepted definition</a:t>
            </a:r>
            <a:endParaRPr/>
          </a:p>
          <a:p>
            <a:pPr indent="-342900" lvl="0" marL="342900" rtl="0" algn="l">
              <a:spcBef>
                <a:spcPts val="630"/>
              </a:spcBef>
              <a:spcAft>
                <a:spcPts val="0"/>
              </a:spcAft>
              <a:buSzPts val="1980"/>
              <a:buChar char="▪"/>
            </a:pPr>
            <a:r>
              <a:rPr lang="en-US"/>
              <a:t>“Everything a vendor ships when you order an operating system” is a good approximation</a:t>
            </a:r>
            <a:endParaRPr/>
          </a:p>
          <a:p>
            <a:pPr indent="-285750" lvl="1" marL="742950" rtl="0" algn="l">
              <a:spcBef>
                <a:spcPts val="630"/>
              </a:spcBef>
              <a:spcAft>
                <a:spcPts val="0"/>
              </a:spcAft>
              <a:buSzPts val="1980"/>
              <a:buChar char="•"/>
            </a:pPr>
            <a:r>
              <a:rPr lang="en-US"/>
              <a:t>But varies wildly</a:t>
            </a:r>
            <a:endParaRPr/>
          </a:p>
          <a:p>
            <a:pPr indent="-342900" lvl="0" marL="342900" rtl="0" algn="l">
              <a:spcBef>
                <a:spcPts val="630"/>
              </a:spcBef>
              <a:spcAft>
                <a:spcPts val="0"/>
              </a:spcAft>
              <a:buSzPts val="1980"/>
              <a:buChar char="▪"/>
            </a:pPr>
            <a:r>
              <a:rPr lang="en-US"/>
              <a:t>“The one program running at all times on the computer” is the </a:t>
            </a:r>
            <a:r>
              <a:rPr b="1" lang="en-US">
                <a:solidFill>
                  <a:srgbClr val="006699"/>
                </a:solidFill>
                <a:latin typeface="Arial"/>
                <a:ea typeface="Arial"/>
                <a:cs typeface="Arial"/>
                <a:sym typeface="Arial"/>
              </a:rPr>
              <a:t>kernel, </a:t>
            </a:r>
            <a:r>
              <a:rPr lang="en-US"/>
              <a:t>part of the operating system</a:t>
            </a:r>
            <a:endParaRPr/>
          </a:p>
          <a:p>
            <a:pPr indent="-342900" lvl="0" marL="342900" rtl="0" algn="l">
              <a:spcBef>
                <a:spcPts val="630"/>
              </a:spcBef>
              <a:spcAft>
                <a:spcPts val="0"/>
              </a:spcAft>
              <a:buSzPts val="1980"/>
              <a:buChar char="▪"/>
            </a:pPr>
            <a:r>
              <a:rPr lang="en-US"/>
              <a:t>Everything else is either</a:t>
            </a:r>
            <a:endParaRPr/>
          </a:p>
          <a:p>
            <a:pPr indent="-285750" lvl="1" marL="742950" rtl="0" algn="l">
              <a:spcBef>
                <a:spcPts val="630"/>
              </a:spcBef>
              <a:spcAft>
                <a:spcPts val="0"/>
              </a:spcAft>
              <a:buSzPts val="1980"/>
              <a:buChar char="•"/>
            </a:pPr>
            <a:r>
              <a:rPr lang="en-US"/>
              <a:t>A </a:t>
            </a:r>
            <a:r>
              <a:rPr b="1" i="1" lang="en-US">
                <a:solidFill>
                  <a:srgbClr val="006699"/>
                </a:solidFill>
                <a:latin typeface="Arial"/>
                <a:ea typeface="Arial"/>
                <a:cs typeface="Arial"/>
                <a:sym typeface="Arial"/>
              </a:rPr>
              <a:t>system program</a:t>
            </a:r>
            <a:r>
              <a:rPr b="1" lang="en-US">
                <a:solidFill>
                  <a:srgbClr val="3366FF"/>
                </a:solidFill>
              </a:rPr>
              <a:t> </a:t>
            </a:r>
            <a:r>
              <a:rPr lang="en-US"/>
              <a:t>(ships with the operating system, but not part of the kernel) , or</a:t>
            </a:r>
            <a:endParaRPr/>
          </a:p>
          <a:p>
            <a:pPr indent="-285750" lvl="1" marL="742950" rtl="0" algn="l">
              <a:spcBef>
                <a:spcPts val="630"/>
              </a:spcBef>
              <a:spcAft>
                <a:spcPts val="0"/>
              </a:spcAft>
              <a:buSzPts val="1980"/>
              <a:buChar char="•"/>
            </a:pPr>
            <a:r>
              <a:rPr lang="en-US"/>
              <a:t>An </a:t>
            </a:r>
            <a:r>
              <a:rPr b="1" i="1" lang="en-US">
                <a:solidFill>
                  <a:srgbClr val="006699"/>
                </a:solidFill>
                <a:latin typeface="Arial"/>
                <a:ea typeface="Arial"/>
                <a:cs typeface="Arial"/>
                <a:sym typeface="Arial"/>
              </a:rPr>
              <a:t>application program</a:t>
            </a:r>
            <a:r>
              <a:rPr lang="en-US"/>
              <a:t>, all programs not associated with the operating system</a:t>
            </a:r>
            <a:endParaRPr/>
          </a:p>
          <a:p>
            <a:pPr indent="-342900" lvl="0" marL="342900" rtl="0" algn="l">
              <a:spcBef>
                <a:spcPts val="630"/>
              </a:spcBef>
              <a:spcAft>
                <a:spcPts val="0"/>
              </a:spcAft>
              <a:buSzPts val="1980"/>
              <a:buChar char="▪"/>
            </a:pPr>
            <a:r>
              <a:rPr lang="en-US"/>
              <a:t>Today’s OSes for general purpose and mobile computing also include </a:t>
            </a:r>
            <a:r>
              <a:rPr b="1" i="1" lang="en-US">
                <a:solidFill>
                  <a:srgbClr val="006699"/>
                </a:solidFill>
                <a:latin typeface="Arial"/>
                <a:ea typeface="Arial"/>
                <a:cs typeface="Arial"/>
                <a:sym typeface="Arial"/>
              </a:rPr>
              <a:t>middleware</a:t>
            </a:r>
            <a:r>
              <a:rPr lang="en-US"/>
              <a:t> – a set of software frameworks that provide addition services to application developers such as databases, multimedia, graphics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1"/>
          <p:cNvSpPr txBox="1"/>
          <p:nvPr>
            <p:ph idx="4294967295" type="body"/>
          </p:nvPr>
        </p:nvSpPr>
        <p:spPr>
          <a:xfrm>
            <a:off x="292100" y="2897302"/>
            <a:ext cx="8813800" cy="1063396"/>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3520"/>
              <a:buNone/>
            </a:pPr>
            <a:r>
              <a:rPr b="1" lang="en-US" sz="3200">
                <a:solidFill>
                  <a:srgbClr val="006699"/>
                </a:solidFill>
                <a:latin typeface="Arial"/>
                <a:ea typeface="Arial"/>
                <a:cs typeface="Arial"/>
                <a:sym typeface="Arial"/>
              </a:rPr>
              <a:t>Overview of Computer System Structure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idx="4294967295" type="title"/>
          </p:nvPr>
        </p:nvSpPr>
        <p:spPr>
          <a:xfrm>
            <a:off x="868363" y="214313"/>
            <a:ext cx="76390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Computer System Organization</a:t>
            </a:r>
            <a:endParaRPr/>
          </a:p>
        </p:txBody>
      </p:sp>
      <p:sp>
        <p:nvSpPr>
          <p:cNvPr id="147" name="Google Shape;147;p12"/>
          <p:cNvSpPr txBox="1"/>
          <p:nvPr>
            <p:ph idx="4294967295" type="body"/>
          </p:nvPr>
        </p:nvSpPr>
        <p:spPr>
          <a:xfrm>
            <a:off x="774700" y="1233488"/>
            <a:ext cx="763905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Computer-system operation</a:t>
            </a:r>
            <a:endParaRPr/>
          </a:p>
          <a:p>
            <a:pPr indent="-285750" lvl="1" marL="742950" rtl="0" algn="l">
              <a:spcBef>
                <a:spcPts val="630"/>
              </a:spcBef>
              <a:spcAft>
                <a:spcPts val="0"/>
              </a:spcAft>
              <a:buSzPts val="1980"/>
              <a:buChar char="•"/>
            </a:pPr>
            <a:r>
              <a:rPr lang="en-US"/>
              <a:t>One or more CPUs, device controllers connect through common </a:t>
            </a:r>
            <a:r>
              <a:rPr b="1" lang="en-US">
                <a:solidFill>
                  <a:srgbClr val="006699"/>
                </a:solidFill>
                <a:latin typeface="Arial"/>
                <a:ea typeface="Arial"/>
                <a:cs typeface="Arial"/>
                <a:sym typeface="Arial"/>
              </a:rPr>
              <a:t>bus</a:t>
            </a:r>
            <a:r>
              <a:rPr lang="en-US"/>
              <a:t> providing access to shared memory</a:t>
            </a:r>
            <a:endParaRPr/>
          </a:p>
          <a:p>
            <a:pPr indent="-285750" lvl="1" marL="742950" rtl="0" algn="l">
              <a:spcBef>
                <a:spcPts val="630"/>
              </a:spcBef>
              <a:spcAft>
                <a:spcPts val="0"/>
              </a:spcAft>
              <a:buSzPts val="1980"/>
              <a:buChar char="•"/>
            </a:pPr>
            <a:r>
              <a:rPr lang="en-US"/>
              <a:t>Concurrent execution of CPUs and devices competing for memory cycles</a:t>
            </a:r>
            <a:endParaRPr/>
          </a:p>
          <a:p>
            <a:pPr indent="-160019" lvl="1" marL="742950" rtl="0" algn="l">
              <a:spcBef>
                <a:spcPts val="630"/>
              </a:spcBef>
              <a:spcAft>
                <a:spcPts val="0"/>
              </a:spcAft>
              <a:buSzPts val="1980"/>
              <a:buNone/>
            </a:pPr>
            <a:r>
              <a:t/>
            </a:r>
            <a:endParaRPr/>
          </a:p>
        </p:txBody>
      </p:sp>
      <p:pic>
        <p:nvPicPr>
          <p:cNvPr id="148" name="Google Shape;148;p12"/>
          <p:cNvPicPr preferRelativeResize="0"/>
          <p:nvPr/>
        </p:nvPicPr>
        <p:blipFill rotWithShape="1">
          <a:blip r:embed="rId3">
            <a:alphaModFix/>
          </a:blip>
          <a:srcRect b="0" l="0" r="0" t="0"/>
          <a:stretch/>
        </p:blipFill>
        <p:spPr>
          <a:xfrm>
            <a:off x="1716088" y="3098800"/>
            <a:ext cx="6216650" cy="3032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4294967295" type="title"/>
          </p:nvPr>
        </p:nvSpPr>
        <p:spPr>
          <a:xfrm>
            <a:off x="885825" y="220663"/>
            <a:ext cx="7605713"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Computer-System Operation</a:t>
            </a:r>
            <a:endParaRPr/>
          </a:p>
        </p:txBody>
      </p:sp>
      <p:sp>
        <p:nvSpPr>
          <p:cNvPr id="154" name="Google Shape;154;p13"/>
          <p:cNvSpPr txBox="1"/>
          <p:nvPr>
            <p:ph idx="4294967295" type="body"/>
          </p:nvPr>
        </p:nvSpPr>
        <p:spPr>
          <a:xfrm>
            <a:off x="806450" y="1233489"/>
            <a:ext cx="7390099" cy="452833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I</a:t>
            </a:r>
            <a:r>
              <a:rPr lang="en-US"/>
              <a:t>/O devices and the CPU </a:t>
            </a:r>
            <a:r>
              <a:rPr lang="en-US"/>
              <a:t>can execute concurrently</a:t>
            </a:r>
            <a:endParaRPr sz="800"/>
          </a:p>
          <a:p>
            <a:pPr indent="-342900" lvl="0" marL="342900" rtl="0" algn="l">
              <a:spcBef>
                <a:spcPts val="630"/>
              </a:spcBef>
              <a:spcAft>
                <a:spcPts val="0"/>
              </a:spcAft>
              <a:buSzPts val="1980"/>
              <a:buChar char="▪"/>
            </a:pPr>
            <a:r>
              <a:rPr lang="en-US"/>
              <a:t>Each device controller is in charge of a particular device type</a:t>
            </a:r>
            <a:endParaRPr sz="800"/>
          </a:p>
          <a:p>
            <a:pPr indent="-342900" lvl="0" marL="342900" rtl="0" algn="l">
              <a:spcBef>
                <a:spcPts val="630"/>
              </a:spcBef>
              <a:spcAft>
                <a:spcPts val="0"/>
              </a:spcAft>
              <a:buSzPts val="1980"/>
              <a:buChar char="▪"/>
            </a:pPr>
            <a:r>
              <a:rPr lang="en-US"/>
              <a:t>Each device controller has a local buffer</a:t>
            </a:r>
            <a:endParaRPr/>
          </a:p>
          <a:p>
            <a:pPr indent="-342900" lvl="0" marL="342900" rtl="0" algn="l">
              <a:spcBef>
                <a:spcPts val="630"/>
              </a:spcBef>
              <a:spcAft>
                <a:spcPts val="0"/>
              </a:spcAft>
              <a:buSzPts val="1980"/>
              <a:buChar char="▪"/>
            </a:pPr>
            <a:r>
              <a:rPr lang="en-US"/>
              <a:t>Each device controller type has an operating system </a:t>
            </a:r>
            <a:r>
              <a:rPr b="1" lang="en-US">
                <a:solidFill>
                  <a:srgbClr val="006699"/>
                </a:solidFill>
                <a:latin typeface="Arial"/>
                <a:ea typeface="Arial"/>
                <a:cs typeface="Arial"/>
                <a:sym typeface="Arial"/>
              </a:rPr>
              <a:t>device driver</a:t>
            </a:r>
            <a:r>
              <a:rPr lang="en-US"/>
              <a:t> to manage it</a:t>
            </a:r>
            <a:endParaRPr sz="800"/>
          </a:p>
          <a:p>
            <a:pPr indent="-342900" lvl="0" marL="342900" rtl="0" algn="l">
              <a:spcBef>
                <a:spcPts val="630"/>
              </a:spcBef>
              <a:spcAft>
                <a:spcPts val="0"/>
              </a:spcAft>
              <a:buSzPts val="1980"/>
              <a:buChar char="▪"/>
            </a:pPr>
            <a:r>
              <a:rPr lang="en-US"/>
              <a:t>CPU moves data from/to main memory to/from local buffers</a:t>
            </a:r>
            <a:endParaRPr sz="800"/>
          </a:p>
          <a:p>
            <a:pPr indent="-342900" lvl="0" marL="342900" rtl="0" algn="l">
              <a:spcBef>
                <a:spcPts val="630"/>
              </a:spcBef>
              <a:spcAft>
                <a:spcPts val="0"/>
              </a:spcAft>
              <a:buSzPts val="1980"/>
              <a:buChar char="▪"/>
            </a:pPr>
            <a:r>
              <a:rPr lang="en-US"/>
              <a:t>I/O is from the device to local buffer of controller</a:t>
            </a:r>
            <a:endParaRPr sz="800"/>
          </a:p>
          <a:p>
            <a:pPr indent="-342900" lvl="0" marL="342900" rtl="0" algn="l">
              <a:spcBef>
                <a:spcPts val="630"/>
              </a:spcBef>
              <a:spcAft>
                <a:spcPts val="0"/>
              </a:spcAft>
              <a:buSzPts val="1980"/>
              <a:buChar char="▪"/>
            </a:pPr>
            <a:r>
              <a:rPr lang="en-US"/>
              <a:t>Device controller informs CPU that it has finished its operation by causing an </a:t>
            </a:r>
            <a:r>
              <a:rPr b="1" lang="en-US">
                <a:solidFill>
                  <a:srgbClr val="006699"/>
                </a:solidFill>
                <a:latin typeface="Arial"/>
                <a:ea typeface="Arial"/>
                <a:cs typeface="Arial"/>
                <a:sym typeface="Arial"/>
              </a:rPr>
              <a:t>interrupt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4"/>
          <p:cNvSpPr txBox="1"/>
          <p:nvPr>
            <p:ph idx="4294967295" type="title"/>
          </p:nvPr>
        </p:nvSpPr>
        <p:spPr>
          <a:xfrm>
            <a:off x="946150" y="195263"/>
            <a:ext cx="75914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Common Functions of Interrupts</a:t>
            </a:r>
            <a:endParaRPr/>
          </a:p>
        </p:txBody>
      </p:sp>
      <p:sp>
        <p:nvSpPr>
          <p:cNvPr id="160" name="Google Shape;160;p14"/>
          <p:cNvSpPr txBox="1"/>
          <p:nvPr>
            <p:ph idx="4294967295" type="body"/>
          </p:nvPr>
        </p:nvSpPr>
        <p:spPr>
          <a:xfrm>
            <a:off x="806451" y="1233489"/>
            <a:ext cx="6993492" cy="438511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Interrupt transfers control to the interrupt service routine generally, through the </a:t>
            </a:r>
            <a:r>
              <a:rPr b="1" lang="en-US">
                <a:solidFill>
                  <a:srgbClr val="006699"/>
                </a:solidFill>
                <a:latin typeface="Arial"/>
                <a:ea typeface="Arial"/>
                <a:cs typeface="Arial"/>
                <a:sym typeface="Arial"/>
              </a:rPr>
              <a:t>interrupt vector</a:t>
            </a:r>
            <a:r>
              <a:rPr lang="en-US"/>
              <a:t>, which contains the addresses of all the service routines</a:t>
            </a:r>
            <a:endParaRPr sz="800"/>
          </a:p>
          <a:p>
            <a:pPr indent="-342900" lvl="0" marL="342900" rtl="0" algn="l">
              <a:spcBef>
                <a:spcPts val="630"/>
              </a:spcBef>
              <a:spcAft>
                <a:spcPts val="0"/>
              </a:spcAft>
              <a:buSzPts val="1980"/>
              <a:buChar char="▪"/>
            </a:pPr>
            <a:r>
              <a:rPr lang="en-US"/>
              <a:t>Interrupt architecture must save the address of the interrupted instruction</a:t>
            </a:r>
            <a:endParaRPr i="1" sz="800"/>
          </a:p>
          <a:p>
            <a:pPr indent="-342900" lvl="0" marL="342900" rtl="0" algn="l">
              <a:spcBef>
                <a:spcPts val="630"/>
              </a:spcBef>
              <a:spcAft>
                <a:spcPts val="0"/>
              </a:spcAft>
              <a:buSzPts val="1980"/>
              <a:buChar char="▪"/>
            </a:pPr>
            <a:r>
              <a:rPr lang="en-US"/>
              <a:t>A </a:t>
            </a:r>
            <a:r>
              <a:rPr b="1" lang="en-US">
                <a:solidFill>
                  <a:srgbClr val="006699"/>
                </a:solidFill>
                <a:latin typeface="Arial"/>
                <a:ea typeface="Arial"/>
                <a:cs typeface="Arial"/>
                <a:sym typeface="Arial"/>
              </a:rPr>
              <a:t>trap</a:t>
            </a:r>
            <a:r>
              <a:rPr lang="en-US"/>
              <a:t> or </a:t>
            </a:r>
            <a:r>
              <a:rPr b="1" lang="en-US">
                <a:solidFill>
                  <a:srgbClr val="006699"/>
                </a:solidFill>
                <a:latin typeface="Arial"/>
                <a:ea typeface="Arial"/>
                <a:cs typeface="Arial"/>
                <a:sym typeface="Arial"/>
              </a:rPr>
              <a:t>exception </a:t>
            </a:r>
            <a:r>
              <a:rPr lang="en-US"/>
              <a:t>is a software-generated interrupt caused either by an error or a user request</a:t>
            </a:r>
            <a:endParaRPr sz="800"/>
          </a:p>
          <a:p>
            <a:pPr indent="-342900" lvl="0" marL="342900" rtl="0" algn="l">
              <a:spcBef>
                <a:spcPts val="630"/>
              </a:spcBef>
              <a:spcAft>
                <a:spcPts val="0"/>
              </a:spcAft>
              <a:buSzPts val="1980"/>
              <a:buChar char="▪"/>
            </a:pPr>
            <a:r>
              <a:rPr lang="en-US"/>
              <a:t>An operating system is </a:t>
            </a:r>
            <a:r>
              <a:rPr b="1" lang="en-US">
                <a:solidFill>
                  <a:srgbClr val="006699"/>
                </a:solidFill>
                <a:latin typeface="Arial"/>
                <a:ea typeface="Arial"/>
                <a:cs typeface="Arial"/>
                <a:sym typeface="Arial"/>
              </a:rPr>
              <a:t>interrupt driven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5"/>
          <p:cNvSpPr txBox="1"/>
          <p:nvPr>
            <p:ph idx="4294967295" type="title"/>
          </p:nvPr>
        </p:nvSpPr>
        <p:spPr>
          <a:xfrm>
            <a:off x="457200" y="195263"/>
            <a:ext cx="80518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Interrupt Timeline</a:t>
            </a:r>
            <a:endParaRPr/>
          </a:p>
        </p:txBody>
      </p:sp>
      <p:pic>
        <p:nvPicPr>
          <p:cNvPr id="166" name="Google Shape;166;p15"/>
          <p:cNvPicPr preferRelativeResize="0"/>
          <p:nvPr/>
        </p:nvPicPr>
        <p:blipFill rotWithShape="1">
          <a:blip r:embed="rId3">
            <a:alphaModFix/>
          </a:blip>
          <a:srcRect b="0" l="0" r="0" t="0"/>
          <a:stretch/>
        </p:blipFill>
        <p:spPr>
          <a:xfrm>
            <a:off x="563563" y="1908175"/>
            <a:ext cx="8355012" cy="3648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311700" y="1002267"/>
            <a:ext cx="6721500" cy="1343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Interrupt Handling</a:t>
            </a:r>
            <a:endParaRPr/>
          </a:p>
        </p:txBody>
      </p:sp>
      <p:sp>
        <p:nvSpPr>
          <p:cNvPr id="172" name="Google Shape;172;p16"/>
          <p:cNvSpPr txBox="1"/>
          <p:nvPr>
            <p:ph idx="1" type="body"/>
          </p:nvPr>
        </p:nvSpPr>
        <p:spPr>
          <a:xfrm>
            <a:off x="311700" y="2759667"/>
            <a:ext cx="8520600" cy="3332400"/>
          </a:xfrm>
          <a:prstGeom prst="rect">
            <a:avLst/>
          </a:prstGeom>
        </p:spPr>
        <p:txBody>
          <a:bodyPr anchorCtr="0" anchor="t" bIns="45700" lIns="91425" spcFirstLastPara="1" rIns="91425" wrap="square" tIns="45700">
            <a:noAutofit/>
          </a:bodyPr>
          <a:lstStyle/>
          <a:p>
            <a:pPr indent="-331470" lvl="0" marL="342900" rtl="0" algn="l">
              <a:spcBef>
                <a:spcPts val="630"/>
              </a:spcBef>
              <a:spcAft>
                <a:spcPts val="0"/>
              </a:spcAft>
              <a:buSzPts val="1800"/>
              <a:buChar char="▪"/>
            </a:pPr>
            <a:r>
              <a:rPr lang="en-US"/>
              <a:t>The operating system preserves the state of the CPU by storing the registers and the program counter</a:t>
            </a:r>
            <a:endParaRPr/>
          </a:p>
          <a:p>
            <a:pPr indent="-331470" lvl="0" marL="342900" rtl="0" algn="l">
              <a:spcBef>
                <a:spcPts val="1600"/>
              </a:spcBef>
              <a:spcAft>
                <a:spcPts val="0"/>
              </a:spcAft>
              <a:buSzPts val="1800"/>
              <a:buChar char="▪"/>
            </a:pPr>
            <a:r>
              <a:rPr lang="en-US"/>
              <a:t>Determines which type of interrupt has occurred:</a:t>
            </a:r>
            <a:endParaRPr/>
          </a:p>
          <a:p>
            <a:pPr indent="-331470" lvl="0" marL="342900" rtl="0" algn="l">
              <a:spcBef>
                <a:spcPts val="1600"/>
              </a:spcBef>
              <a:spcAft>
                <a:spcPts val="1600"/>
              </a:spcAft>
              <a:buSzPts val="1800"/>
              <a:buChar char="▪"/>
            </a:pPr>
            <a:r>
              <a:rPr lang="en-US"/>
              <a:t>Separate segments of code determine what action should be taken for each type of interrupt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idx="4294967295" type="title"/>
          </p:nvPr>
        </p:nvSpPr>
        <p:spPr>
          <a:xfrm>
            <a:off x="457200" y="214313"/>
            <a:ext cx="811688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Interrupt-drive I/O Cycle</a:t>
            </a:r>
            <a:endParaRPr/>
          </a:p>
        </p:txBody>
      </p:sp>
      <p:pic>
        <p:nvPicPr>
          <p:cNvPr id="178" name="Google Shape;178;p17"/>
          <p:cNvPicPr preferRelativeResize="0"/>
          <p:nvPr/>
        </p:nvPicPr>
        <p:blipFill rotWithShape="1">
          <a:blip r:embed="rId3">
            <a:alphaModFix/>
          </a:blip>
          <a:srcRect b="0" l="0" r="0" t="0"/>
          <a:stretch/>
        </p:blipFill>
        <p:spPr>
          <a:xfrm>
            <a:off x="2090738" y="1179513"/>
            <a:ext cx="5084762" cy="50117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idx="4294967295" type="title"/>
          </p:nvPr>
        </p:nvSpPr>
        <p:spPr>
          <a:xfrm>
            <a:off x="457200" y="212725"/>
            <a:ext cx="809942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I/O Structure</a:t>
            </a:r>
            <a:endParaRPr/>
          </a:p>
        </p:txBody>
      </p:sp>
      <p:sp>
        <p:nvSpPr>
          <p:cNvPr id="184" name="Google Shape;184;p18"/>
          <p:cNvSpPr txBox="1"/>
          <p:nvPr>
            <p:ph idx="4294967295" type="body"/>
          </p:nvPr>
        </p:nvSpPr>
        <p:spPr>
          <a:xfrm>
            <a:off x="895351" y="1244600"/>
            <a:ext cx="6618153" cy="435196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lang="en-US"/>
              <a:t>Two methods for handling I/O</a:t>
            </a:r>
            <a:endParaRPr/>
          </a:p>
          <a:p>
            <a:pPr indent="-285750" lvl="1" marL="742950" rtl="0" algn="l">
              <a:lnSpc>
                <a:spcPct val="90000"/>
              </a:lnSpc>
              <a:spcBef>
                <a:spcPts val="630"/>
              </a:spcBef>
              <a:spcAft>
                <a:spcPts val="0"/>
              </a:spcAft>
              <a:buSzPts val="1980"/>
              <a:buChar char="•"/>
            </a:pPr>
            <a:r>
              <a:rPr lang="en-US"/>
              <a:t>After I/O starts, control returns to user program only upon I/O completion</a:t>
            </a:r>
            <a:endParaRPr/>
          </a:p>
          <a:p>
            <a:pPr indent="-285750" lvl="1" marL="742950" rtl="0" algn="l">
              <a:lnSpc>
                <a:spcPct val="90000"/>
              </a:lnSpc>
              <a:spcBef>
                <a:spcPts val="630"/>
              </a:spcBef>
              <a:spcAft>
                <a:spcPts val="0"/>
              </a:spcAft>
              <a:buSzPts val="1980"/>
              <a:buChar char="•"/>
            </a:pPr>
            <a:r>
              <a:rPr lang="en-US"/>
              <a:t>After I/O starts, control returns to user program without waiting for I/O completion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idx="4294967295" type="title"/>
          </p:nvPr>
        </p:nvSpPr>
        <p:spPr>
          <a:xfrm>
            <a:off x="457200" y="212725"/>
            <a:ext cx="809942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I/O Structure (Cont.)</a:t>
            </a:r>
            <a:endParaRPr/>
          </a:p>
        </p:txBody>
      </p:sp>
      <p:sp>
        <p:nvSpPr>
          <p:cNvPr id="190" name="Google Shape;190;p19"/>
          <p:cNvSpPr txBox="1"/>
          <p:nvPr>
            <p:ph idx="4294967295" type="body"/>
          </p:nvPr>
        </p:nvSpPr>
        <p:spPr>
          <a:xfrm>
            <a:off x="895351" y="1244600"/>
            <a:ext cx="7202048" cy="452823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lang="en-US"/>
              <a:t>After I/O starts, control returns to user program only upon I/O completion</a:t>
            </a:r>
            <a:endParaRPr/>
          </a:p>
          <a:p>
            <a:pPr indent="-285750" lvl="1" marL="742950" rtl="0" algn="l">
              <a:lnSpc>
                <a:spcPct val="90000"/>
              </a:lnSpc>
              <a:spcBef>
                <a:spcPts val="630"/>
              </a:spcBef>
              <a:spcAft>
                <a:spcPts val="0"/>
              </a:spcAft>
              <a:buSzPts val="1980"/>
              <a:buChar char="•"/>
            </a:pPr>
            <a:r>
              <a:rPr lang="en-US"/>
              <a:t>Wait instruction idles the CPU until the next interrupt</a:t>
            </a:r>
            <a:endParaRPr/>
          </a:p>
          <a:p>
            <a:pPr indent="-285750" lvl="1" marL="742950" rtl="0" algn="l">
              <a:lnSpc>
                <a:spcPct val="90000"/>
              </a:lnSpc>
              <a:spcBef>
                <a:spcPts val="630"/>
              </a:spcBef>
              <a:spcAft>
                <a:spcPts val="0"/>
              </a:spcAft>
              <a:buSzPts val="1980"/>
              <a:buChar char="•"/>
            </a:pPr>
            <a:r>
              <a:rPr lang="en-US"/>
              <a:t>Wait loop (contention for memory access)</a:t>
            </a:r>
            <a:endParaRPr/>
          </a:p>
          <a:p>
            <a:pPr indent="-285750" lvl="1" marL="742950" rtl="0" algn="l">
              <a:lnSpc>
                <a:spcPct val="90000"/>
              </a:lnSpc>
              <a:spcBef>
                <a:spcPts val="630"/>
              </a:spcBef>
              <a:spcAft>
                <a:spcPts val="0"/>
              </a:spcAft>
              <a:buSzPts val="1980"/>
              <a:buChar char="•"/>
            </a:pPr>
            <a:r>
              <a:rPr lang="en-US"/>
              <a:t>At most one I/O request is outstanding at a time, no simultaneous I/O processing</a:t>
            </a:r>
            <a:endParaRPr/>
          </a:p>
          <a:p>
            <a:pPr indent="-342900" lvl="0" marL="342900" rtl="0" algn="l">
              <a:lnSpc>
                <a:spcPct val="90000"/>
              </a:lnSpc>
              <a:spcBef>
                <a:spcPts val="630"/>
              </a:spcBef>
              <a:spcAft>
                <a:spcPts val="0"/>
              </a:spcAft>
              <a:buSzPts val="1980"/>
              <a:buChar char="▪"/>
            </a:pPr>
            <a:r>
              <a:rPr lang="en-US"/>
              <a:t>After I/O starts, control returns to user program without waiting for I/O completion</a:t>
            </a:r>
            <a:endParaRPr/>
          </a:p>
          <a:p>
            <a:pPr indent="-285750" lvl="1" marL="74295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System call </a:t>
            </a:r>
            <a:r>
              <a:rPr lang="en-US"/>
              <a:t>– request to the OS to allow user to wait for I/O completion</a:t>
            </a:r>
            <a:endParaRPr/>
          </a:p>
          <a:p>
            <a:pPr indent="-285750" lvl="1" marL="74295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Device-status table </a:t>
            </a:r>
            <a:r>
              <a:rPr lang="en-US"/>
              <a:t>contains entry for each I/O device indicating its type, address, and state</a:t>
            </a:r>
            <a:endParaRPr/>
          </a:p>
          <a:p>
            <a:pPr indent="-285750" lvl="1" marL="742950" rtl="0" algn="l">
              <a:lnSpc>
                <a:spcPct val="90000"/>
              </a:lnSpc>
              <a:spcBef>
                <a:spcPts val="630"/>
              </a:spcBef>
              <a:spcAft>
                <a:spcPts val="0"/>
              </a:spcAft>
              <a:buSzPts val="1980"/>
              <a:buChar char="•"/>
            </a:pPr>
            <a:r>
              <a:rPr lang="en-US"/>
              <a:t>OS indexes into I/O device table to determine device status and to modify table entry to include interrupt</a:t>
            </a:r>
            <a:endParaRPr/>
          </a:p>
          <a:p>
            <a:pPr indent="-160019" lvl="1" marL="742950" rtl="0" algn="l">
              <a:lnSpc>
                <a:spcPct val="90000"/>
              </a:lnSpc>
              <a:spcBef>
                <a:spcPts val="630"/>
              </a:spcBef>
              <a:spcAft>
                <a:spcPts val="0"/>
              </a:spcAft>
              <a:buSzPts val="198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20"/>
          <p:cNvSpPr txBox="1"/>
          <p:nvPr>
            <p:ph idx="4294967295" type="title"/>
          </p:nvPr>
        </p:nvSpPr>
        <p:spPr>
          <a:xfrm>
            <a:off x="457200" y="201613"/>
            <a:ext cx="80613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Computer Startup</a:t>
            </a:r>
            <a:endParaRPr/>
          </a:p>
        </p:txBody>
      </p:sp>
      <p:sp>
        <p:nvSpPr>
          <p:cNvPr id="196" name="Google Shape;196;p20"/>
          <p:cNvSpPr txBox="1"/>
          <p:nvPr>
            <p:ph idx="4294967295" type="body"/>
          </p:nvPr>
        </p:nvSpPr>
        <p:spPr>
          <a:xfrm>
            <a:off x="806451" y="1233489"/>
            <a:ext cx="6432550" cy="441619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b="1" lang="en-US">
                <a:solidFill>
                  <a:srgbClr val="006699"/>
                </a:solidFill>
                <a:latin typeface="Arial"/>
                <a:ea typeface="Arial"/>
                <a:cs typeface="Arial"/>
                <a:sym typeface="Arial"/>
              </a:rPr>
              <a:t>Bootstrap program </a:t>
            </a:r>
            <a:r>
              <a:rPr lang="en-US"/>
              <a:t>is loaded at power-up or reboot</a:t>
            </a:r>
            <a:endParaRPr/>
          </a:p>
          <a:p>
            <a:pPr indent="-285750" lvl="1" marL="742950" rtl="0" algn="l">
              <a:spcBef>
                <a:spcPts val="630"/>
              </a:spcBef>
              <a:spcAft>
                <a:spcPts val="0"/>
              </a:spcAft>
              <a:buSzPts val="1980"/>
              <a:buChar char="•"/>
            </a:pPr>
            <a:r>
              <a:rPr lang="en-US"/>
              <a:t>Typically stored in ROM or EPROM, generally known as </a:t>
            </a:r>
            <a:r>
              <a:rPr b="1" lang="en-US">
                <a:solidFill>
                  <a:srgbClr val="006699"/>
                </a:solidFill>
                <a:latin typeface="Arial"/>
                <a:ea typeface="Arial"/>
                <a:cs typeface="Arial"/>
                <a:sym typeface="Arial"/>
              </a:rPr>
              <a:t>firmware</a:t>
            </a:r>
            <a:endParaRPr/>
          </a:p>
          <a:p>
            <a:pPr indent="-285750" lvl="1" marL="742950" rtl="0" algn="l">
              <a:spcBef>
                <a:spcPts val="630"/>
              </a:spcBef>
              <a:spcAft>
                <a:spcPts val="0"/>
              </a:spcAft>
              <a:buSzPts val="1980"/>
              <a:buChar char="•"/>
            </a:pPr>
            <a:r>
              <a:rPr lang="en-US"/>
              <a:t>Initializes all aspects of system</a:t>
            </a:r>
            <a:endParaRPr/>
          </a:p>
          <a:p>
            <a:pPr indent="-285750" lvl="1" marL="742950" rtl="0" algn="l">
              <a:spcBef>
                <a:spcPts val="630"/>
              </a:spcBef>
              <a:spcAft>
                <a:spcPts val="0"/>
              </a:spcAft>
              <a:buSzPts val="1980"/>
              <a:buChar char="•"/>
            </a:pPr>
            <a:r>
              <a:rPr lang="en-US"/>
              <a:t>Loads operating system kernel and starts execution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idx="4294967295" type="body"/>
          </p:nvPr>
        </p:nvSpPr>
        <p:spPr>
          <a:xfrm>
            <a:off x="2144488" y="2888119"/>
            <a:ext cx="5116286" cy="1030738"/>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3520"/>
              <a:buNone/>
            </a:pPr>
            <a:r>
              <a:rPr b="1" lang="en-US" sz="3200">
                <a:solidFill>
                  <a:srgbClr val="006699"/>
                </a:solidFill>
                <a:latin typeface="Arial"/>
                <a:ea typeface="Arial"/>
                <a:cs typeface="Arial"/>
                <a:sym typeface="Arial"/>
              </a:rPr>
              <a:t>Storage Structure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txBox="1"/>
          <p:nvPr>
            <p:ph idx="4294967295" type="title"/>
          </p:nvPr>
        </p:nvSpPr>
        <p:spPr>
          <a:xfrm>
            <a:off x="457200" y="198438"/>
            <a:ext cx="80803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Storage Structure</a:t>
            </a:r>
            <a:endParaRPr/>
          </a:p>
        </p:txBody>
      </p:sp>
      <p:sp>
        <p:nvSpPr>
          <p:cNvPr id="207" name="Google Shape;207;p22"/>
          <p:cNvSpPr txBox="1"/>
          <p:nvPr>
            <p:ph idx="4294967295" type="body"/>
          </p:nvPr>
        </p:nvSpPr>
        <p:spPr>
          <a:xfrm>
            <a:off x="801688" y="1143002"/>
            <a:ext cx="6744624" cy="439364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70"/>
              <a:buChar char="▪"/>
            </a:pPr>
            <a:r>
              <a:rPr lang="en-US" sz="1700"/>
              <a:t>Main memory – only large storage media that the CPU can access directly</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Random access</a:t>
            </a:r>
            <a:endParaRPr/>
          </a:p>
          <a:p>
            <a:pPr indent="-285750" lvl="1" marL="742950" rtl="0" algn="l">
              <a:spcBef>
                <a:spcPts val="630"/>
              </a:spcBef>
              <a:spcAft>
                <a:spcPts val="0"/>
              </a:spcAft>
              <a:buSzPts val="1760"/>
              <a:buChar char="•"/>
            </a:pPr>
            <a:r>
              <a:rPr lang="en-US" sz="1600"/>
              <a:t>Typically </a:t>
            </a:r>
            <a:r>
              <a:rPr b="1" lang="en-US">
                <a:solidFill>
                  <a:srgbClr val="006699"/>
                </a:solidFill>
                <a:latin typeface="Arial"/>
                <a:ea typeface="Arial"/>
                <a:cs typeface="Arial"/>
                <a:sym typeface="Arial"/>
              </a:rPr>
              <a:t>volatile</a:t>
            </a:r>
            <a:endParaRPr/>
          </a:p>
          <a:p>
            <a:pPr indent="-285750" lvl="1" marL="742950" rtl="0" algn="l">
              <a:spcBef>
                <a:spcPts val="630"/>
              </a:spcBef>
              <a:spcAft>
                <a:spcPts val="0"/>
              </a:spcAft>
              <a:buSzPts val="1980"/>
              <a:buChar char="•"/>
            </a:pPr>
            <a:r>
              <a:rPr lang="en-US"/>
              <a:t>Typically</a:t>
            </a:r>
            <a:r>
              <a:rPr b="1" lang="en-US" sz="1600">
                <a:solidFill>
                  <a:srgbClr val="3366FF"/>
                </a:solidFill>
              </a:rPr>
              <a:t> </a:t>
            </a:r>
            <a:r>
              <a:rPr b="1" lang="en-US">
                <a:solidFill>
                  <a:srgbClr val="006699"/>
                </a:solidFill>
                <a:latin typeface="Arial"/>
                <a:ea typeface="Arial"/>
                <a:cs typeface="Arial"/>
                <a:sym typeface="Arial"/>
              </a:rPr>
              <a:t>random-access</a:t>
            </a:r>
            <a:r>
              <a:rPr b="1" lang="en-US" sz="1600">
                <a:solidFill>
                  <a:srgbClr val="3366FF"/>
                </a:solidFill>
              </a:rPr>
              <a:t> </a:t>
            </a:r>
            <a:r>
              <a:rPr b="1" lang="en-US">
                <a:solidFill>
                  <a:srgbClr val="006699"/>
                </a:solidFill>
                <a:latin typeface="Arial"/>
                <a:ea typeface="Arial"/>
                <a:cs typeface="Arial"/>
                <a:sym typeface="Arial"/>
              </a:rPr>
              <a:t>memory</a:t>
            </a:r>
            <a:r>
              <a:rPr b="1" lang="en-US" sz="1600">
                <a:solidFill>
                  <a:srgbClr val="3366FF"/>
                </a:solidFill>
              </a:rPr>
              <a:t> </a:t>
            </a:r>
            <a:r>
              <a:rPr lang="en-US"/>
              <a:t>in the form of </a:t>
            </a:r>
            <a:r>
              <a:rPr b="1" lang="en-US">
                <a:solidFill>
                  <a:srgbClr val="006699"/>
                </a:solidFill>
                <a:latin typeface="Arial"/>
                <a:ea typeface="Arial"/>
                <a:cs typeface="Arial"/>
                <a:sym typeface="Arial"/>
              </a:rPr>
              <a:t>Dynamic Random-access Memory (DRAM)</a:t>
            </a:r>
            <a:endParaRPr/>
          </a:p>
          <a:p>
            <a:pPr indent="-342900" lvl="0" marL="342900" rtl="0" algn="l">
              <a:spcBef>
                <a:spcPts val="630"/>
              </a:spcBef>
              <a:spcAft>
                <a:spcPts val="0"/>
              </a:spcAft>
              <a:buSzPts val="1870"/>
              <a:buChar char="▪"/>
            </a:pPr>
            <a:r>
              <a:rPr lang="en-US" sz="1700"/>
              <a:t>Secondary storage – extension of main memory that provides large </a:t>
            </a:r>
            <a:r>
              <a:rPr b="1" lang="en-US">
                <a:solidFill>
                  <a:srgbClr val="006699"/>
                </a:solidFill>
                <a:latin typeface="Arial"/>
                <a:ea typeface="Arial"/>
                <a:cs typeface="Arial"/>
                <a:sym typeface="Arial"/>
              </a:rPr>
              <a:t>nonvolatile </a:t>
            </a:r>
            <a:r>
              <a:rPr lang="en-US" sz="1700"/>
              <a:t>storage capacity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txBox="1"/>
          <p:nvPr>
            <p:ph idx="4294967295" type="title"/>
          </p:nvPr>
        </p:nvSpPr>
        <p:spPr>
          <a:xfrm>
            <a:off x="457200" y="198438"/>
            <a:ext cx="80803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Storage Structure (Cont.)</a:t>
            </a:r>
            <a:endParaRPr/>
          </a:p>
        </p:txBody>
      </p:sp>
      <p:sp>
        <p:nvSpPr>
          <p:cNvPr id="213" name="Google Shape;213;p23"/>
          <p:cNvSpPr txBox="1"/>
          <p:nvPr>
            <p:ph idx="4294967295" type="body"/>
          </p:nvPr>
        </p:nvSpPr>
        <p:spPr>
          <a:xfrm>
            <a:off x="801688" y="1099455"/>
            <a:ext cx="6905398" cy="444137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b="1" lang="en-US">
                <a:solidFill>
                  <a:srgbClr val="006699"/>
                </a:solidFill>
                <a:latin typeface="Arial"/>
                <a:ea typeface="Arial"/>
                <a:cs typeface="Arial"/>
                <a:sym typeface="Arial"/>
              </a:rPr>
              <a:t>Hard Disk Drives </a:t>
            </a:r>
            <a:r>
              <a:rPr lang="en-US" sz="1700"/>
              <a:t>(</a:t>
            </a:r>
            <a:r>
              <a:rPr b="1" lang="en-US">
                <a:solidFill>
                  <a:srgbClr val="006699"/>
                </a:solidFill>
                <a:latin typeface="Arial"/>
                <a:ea typeface="Arial"/>
                <a:cs typeface="Arial"/>
                <a:sym typeface="Arial"/>
              </a:rPr>
              <a:t>HDD</a:t>
            </a:r>
            <a:r>
              <a:rPr lang="en-US" sz="1700"/>
              <a:t>) – rigid metal or glass platters covered with magnetic recording material </a:t>
            </a:r>
            <a:endParaRPr/>
          </a:p>
          <a:p>
            <a:pPr indent="-285750" lvl="1" marL="742950" rtl="0" algn="l">
              <a:spcBef>
                <a:spcPts val="630"/>
              </a:spcBef>
              <a:spcAft>
                <a:spcPts val="0"/>
              </a:spcAft>
              <a:buSzPts val="1760"/>
              <a:buChar char="•"/>
            </a:pPr>
            <a:r>
              <a:rPr lang="en-US" sz="1600"/>
              <a:t>Disk surface is logically divided into</a:t>
            </a:r>
            <a:r>
              <a:rPr b="1" lang="en-US">
                <a:solidFill>
                  <a:srgbClr val="006699"/>
                </a:solidFill>
                <a:latin typeface="Arial"/>
                <a:ea typeface="Arial"/>
                <a:cs typeface="Arial"/>
                <a:sym typeface="Arial"/>
              </a:rPr>
              <a:t> tracks</a:t>
            </a:r>
            <a:r>
              <a:rPr lang="en-US" sz="1600"/>
              <a:t>, which are subdivided into </a:t>
            </a:r>
            <a:r>
              <a:rPr b="1" lang="en-US">
                <a:solidFill>
                  <a:srgbClr val="006699"/>
                </a:solidFill>
                <a:latin typeface="Arial"/>
                <a:ea typeface="Arial"/>
                <a:cs typeface="Arial"/>
                <a:sym typeface="Arial"/>
              </a:rPr>
              <a:t>sectors</a:t>
            </a:r>
            <a:endParaRPr/>
          </a:p>
          <a:p>
            <a:pPr indent="-285750" lvl="1" marL="742950" rtl="0" algn="l">
              <a:spcBef>
                <a:spcPts val="630"/>
              </a:spcBef>
              <a:spcAft>
                <a:spcPts val="0"/>
              </a:spcAft>
              <a:buSzPts val="1760"/>
              <a:buChar char="•"/>
            </a:pPr>
            <a:r>
              <a:rPr lang="en-US" sz="1600"/>
              <a:t>The </a:t>
            </a:r>
            <a:r>
              <a:rPr b="1" lang="en-US">
                <a:solidFill>
                  <a:srgbClr val="006699"/>
                </a:solidFill>
                <a:latin typeface="Arial"/>
                <a:ea typeface="Arial"/>
                <a:cs typeface="Arial"/>
                <a:sym typeface="Arial"/>
              </a:rPr>
              <a:t>disk controller </a:t>
            </a:r>
            <a:r>
              <a:rPr lang="en-US" sz="1600"/>
              <a:t>determines the logical interaction between the device and the computer </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Non-volatile memory</a:t>
            </a:r>
            <a:r>
              <a:rPr lang="en-US" sz="1700"/>
              <a:t> (</a:t>
            </a:r>
            <a:r>
              <a:rPr b="1" lang="en-US">
                <a:solidFill>
                  <a:srgbClr val="006699"/>
                </a:solidFill>
                <a:latin typeface="Arial"/>
                <a:ea typeface="Arial"/>
                <a:cs typeface="Arial"/>
                <a:sym typeface="Arial"/>
              </a:rPr>
              <a:t>NVM</a:t>
            </a:r>
            <a:r>
              <a:rPr lang="en-US" sz="1700"/>
              <a:t>)</a:t>
            </a:r>
            <a:r>
              <a:rPr b="1" lang="en-US">
                <a:solidFill>
                  <a:srgbClr val="006699"/>
                </a:solidFill>
                <a:latin typeface="Arial"/>
                <a:ea typeface="Arial"/>
                <a:cs typeface="Arial"/>
                <a:sym typeface="Arial"/>
              </a:rPr>
              <a:t> </a:t>
            </a:r>
            <a:r>
              <a:rPr lang="en-US" sz="1700"/>
              <a:t>devices– faster than hard disks, nonvolatile</a:t>
            </a:r>
            <a:endParaRPr/>
          </a:p>
          <a:p>
            <a:pPr indent="-285750" lvl="1" marL="742950" rtl="0" algn="l">
              <a:spcBef>
                <a:spcPts val="560"/>
              </a:spcBef>
              <a:spcAft>
                <a:spcPts val="0"/>
              </a:spcAft>
              <a:buSzPts val="1760"/>
              <a:buChar char="•"/>
            </a:pPr>
            <a:r>
              <a:rPr lang="en-US" sz="1600"/>
              <a:t>Various technologies</a:t>
            </a:r>
            <a:endParaRPr/>
          </a:p>
          <a:p>
            <a:pPr indent="-285750" lvl="1" marL="742950" rtl="0" algn="l">
              <a:spcBef>
                <a:spcPts val="560"/>
              </a:spcBef>
              <a:spcAft>
                <a:spcPts val="0"/>
              </a:spcAft>
              <a:buSzPts val="1760"/>
              <a:buChar char="•"/>
            </a:pPr>
            <a:r>
              <a:rPr lang="en-US" sz="1600"/>
              <a:t>Becoming more popular as capacity and performance increases, price drops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type="title"/>
          </p:nvPr>
        </p:nvSpPr>
        <p:spPr>
          <a:xfrm>
            <a:off x="947738" y="203200"/>
            <a:ext cx="78517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000"/>
              <a:t>Storage Definitions and Notation Review</a:t>
            </a:r>
            <a:endParaRPr/>
          </a:p>
        </p:txBody>
      </p:sp>
      <p:pic>
        <p:nvPicPr>
          <p:cNvPr id="219" name="Google Shape;219;p24"/>
          <p:cNvPicPr preferRelativeResize="0"/>
          <p:nvPr/>
        </p:nvPicPr>
        <p:blipFill rotWithShape="1">
          <a:blip r:embed="rId3">
            <a:alphaModFix/>
          </a:blip>
          <a:srcRect b="0" l="0" r="0" t="0"/>
          <a:stretch/>
        </p:blipFill>
        <p:spPr>
          <a:xfrm>
            <a:off x="947738" y="1079500"/>
            <a:ext cx="7353300" cy="4953000"/>
          </a:xfrm>
          <a:prstGeom prst="rect">
            <a:avLst/>
          </a:prstGeom>
          <a:noFill/>
          <a:ln>
            <a:noFill/>
          </a:ln>
        </p:spPr>
      </p:pic>
      <p:sp>
        <p:nvSpPr>
          <p:cNvPr id="220" name="Google Shape;220;p24"/>
          <p:cNvSpPr/>
          <p:nvPr/>
        </p:nvSpPr>
        <p:spPr>
          <a:xfrm>
            <a:off x="842962" y="1079500"/>
            <a:ext cx="8039100" cy="4953000"/>
          </a:xfrm>
          <a:prstGeom prst="rect">
            <a:avLst/>
          </a:prstGeom>
          <a:solidFill>
            <a:srgbClr val="CEEBF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 The basic unit of computer storage is the </a:t>
            </a:r>
            <a:r>
              <a:rPr b="1" i="0" lang="en-US" sz="1500" u="none" cap="none" strike="noStrike">
                <a:solidFill>
                  <a:srgbClr val="006699"/>
                </a:solidFill>
                <a:latin typeface="Arial"/>
                <a:ea typeface="Arial"/>
                <a:cs typeface="Arial"/>
                <a:sym typeface="Arial"/>
              </a:rPr>
              <a:t>bit</a:t>
            </a:r>
            <a:r>
              <a:rPr b="0" i="0" lang="en-US" sz="1400" u="none" cap="none" strike="noStrike">
                <a:solidFill>
                  <a:schemeClr val="dk1"/>
                </a:solidFill>
                <a:latin typeface="Verdana"/>
                <a:ea typeface="Verdana"/>
                <a:cs typeface="Verdana"/>
                <a:sym typeface="Verdana"/>
              </a:rPr>
              <a:t>. A bit can contain one of two</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values, 0 and 1. All other storage in a computer is based on collections of bits.</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Given enough bits, it is amazing how many things a computer can represent:</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numbers, letters, images, movies, sounds, documents, and programs, to name</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a few. A </a:t>
            </a:r>
            <a:r>
              <a:rPr b="1" i="0" lang="en-US" sz="1500" u="none" cap="none" strike="noStrike">
                <a:solidFill>
                  <a:srgbClr val="006699"/>
                </a:solidFill>
                <a:latin typeface="Arial"/>
                <a:ea typeface="Arial"/>
                <a:cs typeface="Arial"/>
                <a:sym typeface="Arial"/>
              </a:rPr>
              <a:t>byte</a:t>
            </a:r>
            <a:r>
              <a:rPr b="0" i="0" lang="en-US" sz="1400" u="none" cap="none" strike="noStrike">
                <a:solidFill>
                  <a:schemeClr val="dk1"/>
                </a:solidFill>
                <a:latin typeface="Verdana"/>
                <a:ea typeface="Verdana"/>
                <a:cs typeface="Verdana"/>
                <a:sym typeface="Verdana"/>
              </a:rPr>
              <a:t> is 8 bits, and on most computers it is the smallest convenient</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chunk of storage. For example, most computers don’t have an instruction to</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move a bit but do have one to move a byte. A less common term is </a:t>
            </a:r>
            <a:r>
              <a:rPr b="1" i="0" lang="en-US" sz="1500" u="none" cap="none" strike="noStrike">
                <a:solidFill>
                  <a:srgbClr val="006699"/>
                </a:solidFill>
                <a:latin typeface="Arial"/>
                <a:ea typeface="Arial"/>
                <a:cs typeface="Arial"/>
                <a:sym typeface="Arial"/>
              </a:rPr>
              <a:t>word</a:t>
            </a:r>
            <a:r>
              <a:rPr b="0" i="0" lang="en-US" sz="1400" u="none" cap="none" strike="noStrike">
                <a:solidFill>
                  <a:schemeClr val="dk1"/>
                </a:solidFill>
                <a:latin typeface="Verdana"/>
                <a:ea typeface="Verdana"/>
                <a:cs typeface="Verdana"/>
                <a:sym typeface="Verdana"/>
              </a:rPr>
              <a:t>,</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which is a given computer architecture’s native unit of data. A word is made</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up of one or more bytes. For example, a computer that has 64-bit registers and</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64-bit memory addressing typically has 64-bit (8-byte) words. A computer</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executes many operations in its native word size rather than a byte at a time.</a:t>
            </a:r>
            <a:endParaRPr/>
          </a:p>
          <a:p>
            <a:pPr indent="0" lvl="0" marL="0" marR="0" rtl="0" algn="l">
              <a:spcBef>
                <a:spcPts val="0"/>
              </a:spcBef>
              <a:spcAft>
                <a:spcPts val="0"/>
              </a:spcAft>
              <a:buNone/>
            </a:pPr>
            <a:r>
              <a:t/>
            </a:r>
            <a:endParaRPr b="0" i="0" sz="1400" u="none" cap="none" strike="noStrike">
              <a:solidFill>
                <a:schemeClr val="dk1"/>
              </a:solidFill>
              <a:latin typeface="Verdana"/>
              <a:ea typeface="Verdana"/>
              <a:cs typeface="Verdana"/>
              <a:sym typeface="Verdana"/>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Computer storage, along with most computer throughput, is generally</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measured and manipulated in bytes and collections of bytes. A </a:t>
            </a:r>
            <a:r>
              <a:rPr b="1" i="0" lang="en-US" sz="1500" u="none" cap="none" strike="noStrike">
                <a:solidFill>
                  <a:srgbClr val="006699"/>
                </a:solidFill>
                <a:latin typeface="Arial"/>
                <a:ea typeface="Arial"/>
                <a:cs typeface="Arial"/>
                <a:sym typeface="Arial"/>
              </a:rPr>
              <a:t>kilobyte</a:t>
            </a:r>
            <a:r>
              <a:rPr b="0" i="0" lang="en-US" sz="1400" u="none" cap="none" strike="noStrike">
                <a:solidFill>
                  <a:schemeClr val="dk1"/>
                </a:solidFill>
                <a:latin typeface="Verdana"/>
                <a:ea typeface="Verdana"/>
                <a:cs typeface="Verdana"/>
                <a:sym typeface="Verdana"/>
              </a:rPr>
              <a:t>, or</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KB , is 1,024 bytes; a </a:t>
            </a:r>
            <a:r>
              <a:rPr b="1" i="0" lang="en-US" sz="1500" u="none" cap="none" strike="noStrike">
                <a:solidFill>
                  <a:srgbClr val="006699"/>
                </a:solidFill>
                <a:latin typeface="Arial"/>
                <a:ea typeface="Arial"/>
                <a:cs typeface="Arial"/>
                <a:sym typeface="Arial"/>
              </a:rPr>
              <a:t>megabyte</a:t>
            </a:r>
            <a:r>
              <a:rPr b="0" i="0" lang="en-US" sz="1400" u="none" cap="none" strike="noStrike">
                <a:solidFill>
                  <a:schemeClr val="dk1"/>
                </a:solidFill>
                <a:latin typeface="Verdana"/>
                <a:ea typeface="Verdana"/>
                <a:cs typeface="Verdana"/>
                <a:sym typeface="Verdana"/>
              </a:rPr>
              <a:t>, or </a:t>
            </a:r>
            <a:r>
              <a:rPr b="1" i="0" lang="en-US" sz="1500" u="none" cap="none" strike="noStrike">
                <a:solidFill>
                  <a:srgbClr val="006699"/>
                </a:solidFill>
                <a:latin typeface="Arial"/>
                <a:ea typeface="Arial"/>
                <a:cs typeface="Arial"/>
                <a:sym typeface="Arial"/>
              </a:rPr>
              <a:t>MB</a:t>
            </a:r>
            <a:r>
              <a:rPr b="0" i="0" lang="en-US" sz="1400" u="none" cap="none" strike="noStrike">
                <a:solidFill>
                  <a:schemeClr val="dk1"/>
                </a:solidFill>
                <a:latin typeface="Verdana"/>
                <a:ea typeface="Verdana"/>
                <a:cs typeface="Verdana"/>
                <a:sym typeface="Verdana"/>
              </a:rPr>
              <a:t>, is 1,024</a:t>
            </a:r>
            <a:r>
              <a:rPr b="0" baseline="30000" i="0" lang="en-US" sz="1400" u="none" cap="none" strike="noStrike">
                <a:solidFill>
                  <a:schemeClr val="dk1"/>
                </a:solidFill>
                <a:latin typeface="Verdana"/>
                <a:ea typeface="Verdana"/>
                <a:cs typeface="Verdana"/>
                <a:sym typeface="Verdana"/>
              </a:rPr>
              <a:t>2</a:t>
            </a:r>
            <a:r>
              <a:rPr b="0" i="0" lang="en-US" sz="1400" u="none" cap="none" strike="noStrike">
                <a:solidFill>
                  <a:schemeClr val="dk1"/>
                </a:solidFill>
                <a:latin typeface="Verdana"/>
                <a:ea typeface="Verdana"/>
                <a:cs typeface="Verdana"/>
                <a:sym typeface="Verdana"/>
              </a:rPr>
              <a:t>  bytes; a </a:t>
            </a:r>
            <a:r>
              <a:rPr b="1" i="0" lang="en-US" sz="1500" u="none" cap="none" strike="noStrike">
                <a:solidFill>
                  <a:srgbClr val="006699"/>
                </a:solidFill>
                <a:latin typeface="Arial"/>
                <a:ea typeface="Arial"/>
                <a:cs typeface="Arial"/>
                <a:sym typeface="Arial"/>
              </a:rPr>
              <a:t>gigabyte</a:t>
            </a:r>
            <a:r>
              <a:rPr b="0" i="0" lang="en-US" sz="1400" u="none" cap="none" strike="noStrike">
                <a:solidFill>
                  <a:schemeClr val="dk1"/>
                </a:solidFill>
                <a:latin typeface="Verdana"/>
                <a:ea typeface="Verdana"/>
                <a:cs typeface="Verdana"/>
                <a:sym typeface="Verdana"/>
              </a:rPr>
              <a:t>, or </a:t>
            </a:r>
            <a:r>
              <a:rPr b="1" i="0" lang="en-US" sz="1500" u="none" cap="none" strike="noStrike">
                <a:solidFill>
                  <a:srgbClr val="006699"/>
                </a:solidFill>
                <a:latin typeface="Arial"/>
                <a:ea typeface="Arial"/>
                <a:cs typeface="Arial"/>
                <a:sym typeface="Arial"/>
              </a:rPr>
              <a:t>GB</a:t>
            </a:r>
            <a:r>
              <a:rPr b="0" i="0" lang="en-US" sz="1400" u="none" cap="none" strike="noStrike">
                <a:solidFill>
                  <a:schemeClr val="dk1"/>
                </a:solidFill>
                <a:latin typeface="Verdana"/>
                <a:ea typeface="Verdana"/>
                <a:cs typeface="Verdana"/>
                <a:sym typeface="Verdana"/>
              </a:rPr>
              <a:t>, is</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1,024</a:t>
            </a:r>
            <a:r>
              <a:rPr b="0" baseline="30000" i="0" lang="en-US" sz="1400" u="none" cap="none" strike="noStrike">
                <a:solidFill>
                  <a:schemeClr val="dk1"/>
                </a:solidFill>
                <a:latin typeface="Verdana"/>
                <a:ea typeface="Verdana"/>
                <a:cs typeface="Verdana"/>
                <a:sym typeface="Verdana"/>
              </a:rPr>
              <a:t>3</a:t>
            </a:r>
            <a:r>
              <a:rPr b="0" i="0" lang="en-US" sz="1400" u="none" cap="none" strike="noStrike">
                <a:solidFill>
                  <a:schemeClr val="dk1"/>
                </a:solidFill>
                <a:latin typeface="Verdana"/>
                <a:ea typeface="Verdana"/>
                <a:cs typeface="Verdana"/>
                <a:sym typeface="Verdana"/>
              </a:rPr>
              <a:t>  bytes; a </a:t>
            </a:r>
            <a:r>
              <a:rPr b="1" i="0" lang="en-US" sz="1500" u="none" cap="none" strike="noStrike">
                <a:solidFill>
                  <a:srgbClr val="006699"/>
                </a:solidFill>
                <a:latin typeface="Arial"/>
                <a:ea typeface="Arial"/>
                <a:cs typeface="Arial"/>
                <a:sym typeface="Arial"/>
              </a:rPr>
              <a:t>terabyte</a:t>
            </a:r>
            <a:r>
              <a:rPr b="0" i="0" lang="en-US" sz="1400" u="none" cap="none" strike="noStrike">
                <a:solidFill>
                  <a:schemeClr val="dk1"/>
                </a:solidFill>
                <a:latin typeface="Verdana"/>
                <a:ea typeface="Verdana"/>
                <a:cs typeface="Verdana"/>
                <a:sym typeface="Verdana"/>
              </a:rPr>
              <a:t>, or </a:t>
            </a:r>
            <a:r>
              <a:rPr b="1" i="0" lang="en-US" sz="1500" u="none" cap="none" strike="noStrike">
                <a:solidFill>
                  <a:srgbClr val="006699"/>
                </a:solidFill>
                <a:latin typeface="Arial"/>
                <a:ea typeface="Arial"/>
                <a:cs typeface="Arial"/>
                <a:sym typeface="Arial"/>
              </a:rPr>
              <a:t>TB</a:t>
            </a:r>
            <a:r>
              <a:rPr b="0" i="0" lang="en-US" sz="1400" u="none" cap="none" strike="noStrike">
                <a:solidFill>
                  <a:schemeClr val="dk1"/>
                </a:solidFill>
                <a:latin typeface="Verdana"/>
                <a:ea typeface="Verdana"/>
                <a:cs typeface="Verdana"/>
                <a:sym typeface="Verdana"/>
              </a:rPr>
              <a:t>, is 1,024</a:t>
            </a:r>
            <a:r>
              <a:rPr b="0" baseline="30000" i="0" lang="en-US" sz="1400" u="none" cap="none" strike="noStrike">
                <a:solidFill>
                  <a:schemeClr val="dk1"/>
                </a:solidFill>
                <a:latin typeface="Verdana"/>
                <a:ea typeface="Verdana"/>
                <a:cs typeface="Verdana"/>
                <a:sym typeface="Verdana"/>
              </a:rPr>
              <a:t>4</a:t>
            </a:r>
            <a:r>
              <a:rPr b="0" i="0" lang="en-US" sz="1400" u="none" cap="none" strike="noStrike">
                <a:solidFill>
                  <a:schemeClr val="dk1"/>
                </a:solidFill>
                <a:latin typeface="Verdana"/>
                <a:ea typeface="Verdana"/>
                <a:cs typeface="Verdana"/>
                <a:sym typeface="Verdana"/>
              </a:rPr>
              <a:t>  bytes; and a </a:t>
            </a:r>
            <a:r>
              <a:rPr b="1" i="0" lang="en-US" sz="1500" u="none" cap="none" strike="noStrike">
                <a:solidFill>
                  <a:srgbClr val="006699"/>
                </a:solidFill>
                <a:latin typeface="Arial"/>
                <a:ea typeface="Arial"/>
                <a:cs typeface="Arial"/>
                <a:sym typeface="Arial"/>
              </a:rPr>
              <a:t>petabyte</a:t>
            </a:r>
            <a:r>
              <a:rPr b="0" i="0" lang="en-US" sz="1400" u="none" cap="none" strike="noStrike">
                <a:solidFill>
                  <a:schemeClr val="dk1"/>
                </a:solidFill>
                <a:latin typeface="Verdana"/>
                <a:ea typeface="Verdana"/>
                <a:cs typeface="Verdana"/>
                <a:sym typeface="Verdana"/>
              </a:rPr>
              <a:t>, or </a:t>
            </a:r>
            <a:r>
              <a:rPr b="1" i="0" lang="en-US" sz="1500" u="none" cap="none" strike="noStrike">
                <a:solidFill>
                  <a:srgbClr val="006699"/>
                </a:solidFill>
                <a:latin typeface="Arial"/>
                <a:ea typeface="Arial"/>
                <a:cs typeface="Arial"/>
                <a:sym typeface="Arial"/>
              </a:rPr>
              <a:t>PB</a:t>
            </a:r>
            <a:r>
              <a:rPr b="0" i="0" lang="en-US" sz="1400" u="none" cap="none" strike="noStrike">
                <a:solidFill>
                  <a:schemeClr val="dk1"/>
                </a:solidFill>
                <a:latin typeface="Verdana"/>
                <a:ea typeface="Verdana"/>
                <a:cs typeface="Verdana"/>
                <a:sym typeface="Verdana"/>
              </a:rPr>
              <a:t>, is 1,024</a:t>
            </a:r>
            <a:r>
              <a:rPr b="0" baseline="30000" i="0" lang="en-US" sz="1400" u="none" cap="none" strike="noStrike">
                <a:solidFill>
                  <a:schemeClr val="dk1"/>
                </a:solidFill>
                <a:latin typeface="Verdana"/>
                <a:ea typeface="Verdana"/>
                <a:cs typeface="Verdana"/>
                <a:sym typeface="Verdana"/>
              </a:rPr>
              <a:t>5</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bytes. Computer manufacturers often round off these numbers and say that</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a megabyte is 1 million bytes and a gigabyte is 1 billion bytes. Networking</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measurements are an exception to this general rule; they are given in bits</a:t>
            </a:r>
            <a:endParaRPr/>
          </a:p>
          <a:p>
            <a:pPr indent="0" lvl="0" marL="0" marR="0" rtl="0" algn="l">
              <a:spcBef>
                <a:spcPts val="0"/>
              </a:spcBef>
              <a:spcAft>
                <a:spcPts val="0"/>
              </a:spcAft>
              <a:buNone/>
            </a:pPr>
            <a:r>
              <a:rPr b="0" i="0" lang="en-US" sz="1400" u="none" cap="none" strike="noStrike">
                <a:solidFill>
                  <a:schemeClr val="dk1"/>
                </a:solidFill>
                <a:latin typeface="Verdana"/>
                <a:ea typeface="Verdana"/>
                <a:cs typeface="Verdana"/>
                <a:sym typeface="Verdana"/>
              </a:rPr>
              <a:t>(because networks move data a bit at a time).</a:t>
            </a:r>
            <a:endParaRPr/>
          </a:p>
          <a:p>
            <a:pPr indent="0" lvl="0" marL="0" marR="0" rtl="0" algn="l">
              <a:spcBef>
                <a:spcPts val="0"/>
              </a:spcBef>
              <a:spcAft>
                <a:spcPts val="0"/>
              </a:spcAft>
              <a:buNone/>
            </a:pPr>
            <a:r>
              <a:t/>
            </a:r>
            <a:endParaRPr b="0" i="0" sz="1400" u="none" cap="none" strike="noStrike">
              <a:solidFill>
                <a:schemeClr val="dk1"/>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idx="4294967295" type="title"/>
          </p:nvPr>
        </p:nvSpPr>
        <p:spPr>
          <a:xfrm>
            <a:off x="876300" y="211138"/>
            <a:ext cx="76612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Storage Hierarchy</a:t>
            </a:r>
            <a:endParaRPr/>
          </a:p>
        </p:txBody>
      </p:sp>
      <p:sp>
        <p:nvSpPr>
          <p:cNvPr id="226" name="Google Shape;226;p25"/>
          <p:cNvSpPr txBox="1"/>
          <p:nvPr>
            <p:ph idx="4294967295" type="body"/>
          </p:nvPr>
        </p:nvSpPr>
        <p:spPr>
          <a:xfrm>
            <a:off x="806450" y="1124628"/>
            <a:ext cx="78105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Storage systems organized in hierarchy</a:t>
            </a:r>
            <a:endParaRPr/>
          </a:p>
          <a:p>
            <a:pPr indent="-285750" lvl="1" marL="742950" rtl="0" algn="l">
              <a:spcBef>
                <a:spcPts val="630"/>
              </a:spcBef>
              <a:spcAft>
                <a:spcPts val="0"/>
              </a:spcAft>
              <a:buSzPts val="1980"/>
              <a:buChar char="•"/>
            </a:pPr>
            <a:r>
              <a:rPr lang="en-US"/>
              <a:t>Speed</a:t>
            </a:r>
            <a:endParaRPr/>
          </a:p>
          <a:p>
            <a:pPr indent="-285750" lvl="1" marL="742950" rtl="0" algn="l">
              <a:spcBef>
                <a:spcPts val="630"/>
              </a:spcBef>
              <a:spcAft>
                <a:spcPts val="0"/>
              </a:spcAft>
              <a:buSzPts val="1980"/>
              <a:buChar char="•"/>
            </a:pPr>
            <a:r>
              <a:rPr lang="en-US"/>
              <a:t>Cost</a:t>
            </a:r>
            <a:endParaRPr/>
          </a:p>
          <a:p>
            <a:pPr indent="-285750" lvl="1" marL="742950" rtl="0" algn="l">
              <a:spcBef>
                <a:spcPts val="630"/>
              </a:spcBef>
              <a:spcAft>
                <a:spcPts val="0"/>
              </a:spcAft>
              <a:buSzPts val="1980"/>
              <a:buChar char="•"/>
            </a:pPr>
            <a:r>
              <a:rPr lang="en-US"/>
              <a:t>Volatility</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Caching</a:t>
            </a:r>
            <a:r>
              <a:rPr lang="en-US"/>
              <a:t> – copying information into faster storage system; main memory can be viewed as a cache for secondary storage</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Device Driver </a:t>
            </a:r>
            <a:r>
              <a:rPr lang="en-US"/>
              <a:t>for each device controller to manage I/O</a:t>
            </a:r>
            <a:endParaRPr/>
          </a:p>
          <a:p>
            <a:pPr indent="-285750" lvl="1" marL="742950" rtl="0" algn="l">
              <a:spcBef>
                <a:spcPts val="630"/>
              </a:spcBef>
              <a:spcAft>
                <a:spcPts val="0"/>
              </a:spcAft>
              <a:buSzPts val="1980"/>
              <a:buChar char="•"/>
            </a:pPr>
            <a:r>
              <a:rPr lang="en-US"/>
              <a:t>Provides uniform interface between controller and kernel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6"/>
          <p:cNvSpPr txBox="1"/>
          <p:nvPr>
            <p:ph idx="4294967295" type="title"/>
          </p:nvPr>
        </p:nvSpPr>
        <p:spPr>
          <a:xfrm>
            <a:off x="457200" y="198438"/>
            <a:ext cx="8126413"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Storage-Device Hierarchy</a:t>
            </a:r>
            <a:endParaRPr/>
          </a:p>
        </p:txBody>
      </p:sp>
      <p:pic>
        <p:nvPicPr>
          <p:cNvPr id="232" name="Google Shape;232;p26"/>
          <p:cNvPicPr preferRelativeResize="0"/>
          <p:nvPr/>
        </p:nvPicPr>
        <p:blipFill rotWithShape="1">
          <a:blip r:embed="rId3">
            <a:alphaModFix/>
          </a:blip>
          <a:srcRect b="0" l="0" r="0" t="0"/>
          <a:stretch/>
        </p:blipFill>
        <p:spPr>
          <a:xfrm>
            <a:off x="963613" y="1455738"/>
            <a:ext cx="7483475" cy="43449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idx="4294967295" type="title"/>
          </p:nvPr>
        </p:nvSpPr>
        <p:spPr>
          <a:xfrm>
            <a:off x="835025" y="212725"/>
            <a:ext cx="770255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How a Modern Computer Works</a:t>
            </a:r>
            <a:endParaRPr/>
          </a:p>
        </p:txBody>
      </p:sp>
      <p:sp>
        <p:nvSpPr>
          <p:cNvPr id="238" name="Google Shape;238;p27"/>
          <p:cNvSpPr txBox="1"/>
          <p:nvPr/>
        </p:nvSpPr>
        <p:spPr>
          <a:xfrm>
            <a:off x="4787900" y="5637213"/>
            <a:ext cx="2874963"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Noto Sans Symbols"/>
              <a:buNone/>
            </a:pPr>
            <a:r>
              <a:rPr b="0" i="1" lang="en-US" sz="1400" u="none" cap="none" strike="noStrike">
                <a:solidFill>
                  <a:schemeClr val="dk1"/>
                </a:solidFill>
                <a:latin typeface="Verdana"/>
                <a:ea typeface="Verdana"/>
                <a:cs typeface="Verdana"/>
                <a:sym typeface="Verdana"/>
              </a:rPr>
              <a:t>A von Neumann architecture</a:t>
            </a:r>
            <a:endParaRPr/>
          </a:p>
        </p:txBody>
      </p:sp>
      <p:pic>
        <p:nvPicPr>
          <p:cNvPr id="239" name="Google Shape;239;p27"/>
          <p:cNvPicPr preferRelativeResize="0"/>
          <p:nvPr/>
        </p:nvPicPr>
        <p:blipFill rotWithShape="1">
          <a:blip r:embed="rId3">
            <a:alphaModFix/>
          </a:blip>
          <a:srcRect b="0" l="0" r="0" t="0"/>
          <a:stretch/>
        </p:blipFill>
        <p:spPr>
          <a:xfrm>
            <a:off x="1978025" y="1352550"/>
            <a:ext cx="5122863" cy="4086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8"/>
          <p:cNvSpPr txBox="1"/>
          <p:nvPr>
            <p:ph idx="4294967295" type="title"/>
          </p:nvPr>
        </p:nvSpPr>
        <p:spPr>
          <a:xfrm>
            <a:off x="1020763" y="212725"/>
            <a:ext cx="755332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Direct Memory Access Structure</a:t>
            </a:r>
            <a:endParaRPr/>
          </a:p>
        </p:txBody>
      </p:sp>
      <p:sp>
        <p:nvSpPr>
          <p:cNvPr id="245" name="Google Shape;245;p28"/>
          <p:cNvSpPr txBox="1"/>
          <p:nvPr>
            <p:ph idx="4294967295" type="body"/>
          </p:nvPr>
        </p:nvSpPr>
        <p:spPr>
          <a:xfrm>
            <a:off x="806450" y="1233488"/>
            <a:ext cx="6813550" cy="405696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Used for high-speed I/O devices able to transmit information at close to memory speeds</a:t>
            </a:r>
            <a:endParaRPr/>
          </a:p>
          <a:p>
            <a:pPr indent="-342900" lvl="0" marL="342900" rtl="0" algn="l">
              <a:spcBef>
                <a:spcPts val="630"/>
              </a:spcBef>
              <a:spcAft>
                <a:spcPts val="0"/>
              </a:spcAft>
              <a:buSzPts val="1980"/>
              <a:buChar char="▪"/>
            </a:pPr>
            <a:r>
              <a:rPr lang="en-US"/>
              <a:t>Device controller transfers blocks of data from buffer storage directly to main memory without CPU intervention</a:t>
            </a:r>
            <a:endParaRPr/>
          </a:p>
          <a:p>
            <a:pPr indent="-342900" lvl="0" marL="342900" rtl="0" algn="l">
              <a:spcBef>
                <a:spcPts val="630"/>
              </a:spcBef>
              <a:spcAft>
                <a:spcPts val="0"/>
              </a:spcAft>
              <a:buSzPts val="1980"/>
              <a:buChar char="▪"/>
            </a:pPr>
            <a:r>
              <a:rPr lang="en-US"/>
              <a:t>Only one interrupt is generated per block, rather than the one interrupt per byte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9"/>
          <p:cNvSpPr txBox="1"/>
          <p:nvPr>
            <p:ph idx="4294967295" type="title"/>
          </p:nvPr>
        </p:nvSpPr>
        <p:spPr>
          <a:xfrm>
            <a:off x="895350" y="195263"/>
            <a:ext cx="76708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Operating-System Operations</a:t>
            </a:r>
            <a:endParaRPr/>
          </a:p>
        </p:txBody>
      </p:sp>
      <p:sp>
        <p:nvSpPr>
          <p:cNvPr id="251" name="Google Shape;251;p29"/>
          <p:cNvSpPr txBox="1"/>
          <p:nvPr>
            <p:ph idx="4294967295" type="body"/>
          </p:nvPr>
        </p:nvSpPr>
        <p:spPr>
          <a:xfrm>
            <a:off x="838200" y="1154113"/>
            <a:ext cx="7670800" cy="493871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lang="en-US"/>
              <a:t>Bootstrap program – simple code to initialize the system, load the kernel</a:t>
            </a:r>
            <a:endParaRPr/>
          </a:p>
          <a:p>
            <a:pPr indent="-342900" lvl="0" marL="342900" rtl="0" algn="l">
              <a:lnSpc>
                <a:spcPct val="90000"/>
              </a:lnSpc>
              <a:spcBef>
                <a:spcPts val="630"/>
              </a:spcBef>
              <a:spcAft>
                <a:spcPts val="0"/>
              </a:spcAft>
              <a:buSzPts val="1980"/>
              <a:buChar char="▪"/>
            </a:pPr>
            <a:r>
              <a:rPr lang="en-US"/>
              <a:t>Kernel loads</a:t>
            </a:r>
            <a:endParaRPr/>
          </a:p>
          <a:p>
            <a:pPr indent="-342900" lvl="0" marL="342900" rtl="0" algn="l">
              <a:lnSpc>
                <a:spcPct val="90000"/>
              </a:lnSpc>
              <a:spcBef>
                <a:spcPts val="630"/>
              </a:spcBef>
              <a:spcAft>
                <a:spcPts val="0"/>
              </a:spcAft>
              <a:buSzPts val="1980"/>
              <a:buChar char="▪"/>
            </a:pPr>
            <a:r>
              <a:rPr lang="en-US"/>
              <a:t>Starts </a:t>
            </a:r>
            <a:r>
              <a:rPr b="1" lang="en-US">
                <a:solidFill>
                  <a:srgbClr val="006699"/>
                </a:solidFill>
                <a:latin typeface="Arial"/>
                <a:ea typeface="Arial"/>
                <a:cs typeface="Arial"/>
                <a:sym typeface="Arial"/>
              </a:rPr>
              <a:t>system daemons </a:t>
            </a:r>
            <a:r>
              <a:rPr lang="en-US"/>
              <a:t>(services provided outside of the kernel)</a:t>
            </a:r>
            <a:endParaRPr/>
          </a:p>
          <a:p>
            <a:pPr indent="-342900" lvl="0" marL="342900" rtl="0" algn="l">
              <a:lnSpc>
                <a:spcPct val="90000"/>
              </a:lnSpc>
              <a:spcBef>
                <a:spcPts val="630"/>
              </a:spcBef>
              <a:spcAft>
                <a:spcPts val="0"/>
              </a:spcAft>
              <a:buSzPts val="1980"/>
              <a:buChar char="▪"/>
            </a:pPr>
            <a:r>
              <a:rPr lang="en-US"/>
              <a:t>Kernel</a:t>
            </a:r>
            <a:r>
              <a:rPr b="1" lang="en-US">
                <a:solidFill>
                  <a:srgbClr val="3366FF"/>
                </a:solidFill>
              </a:rPr>
              <a:t> </a:t>
            </a:r>
            <a:r>
              <a:rPr b="1" lang="en-US">
                <a:solidFill>
                  <a:srgbClr val="006699"/>
                </a:solidFill>
                <a:latin typeface="Arial"/>
                <a:ea typeface="Arial"/>
                <a:cs typeface="Arial"/>
                <a:sym typeface="Arial"/>
              </a:rPr>
              <a:t>interrupt driven </a:t>
            </a:r>
            <a:r>
              <a:rPr lang="en-US"/>
              <a:t>(hardware and software)</a:t>
            </a:r>
            <a:endParaRPr/>
          </a:p>
          <a:p>
            <a:pPr indent="-285750" lvl="1" marL="742950" rtl="0" algn="l">
              <a:lnSpc>
                <a:spcPct val="90000"/>
              </a:lnSpc>
              <a:spcBef>
                <a:spcPts val="630"/>
              </a:spcBef>
              <a:spcAft>
                <a:spcPts val="0"/>
              </a:spcAft>
              <a:buSzPts val="1980"/>
              <a:buChar char="•"/>
            </a:pPr>
            <a:r>
              <a:rPr lang="en-US"/>
              <a:t>Hardware interrupt by one of the devices </a:t>
            </a:r>
            <a:endParaRPr/>
          </a:p>
          <a:p>
            <a:pPr indent="-285750" lvl="1" marL="742950" rtl="0" algn="l">
              <a:lnSpc>
                <a:spcPct val="90000"/>
              </a:lnSpc>
              <a:spcBef>
                <a:spcPts val="630"/>
              </a:spcBef>
              <a:spcAft>
                <a:spcPts val="0"/>
              </a:spcAft>
              <a:buSzPts val="1980"/>
              <a:buChar char="•"/>
            </a:pPr>
            <a:r>
              <a:rPr lang="en-US"/>
              <a:t>Software interrupt (</a:t>
            </a:r>
            <a:r>
              <a:rPr b="1" lang="en-US">
                <a:solidFill>
                  <a:srgbClr val="006699"/>
                </a:solidFill>
                <a:latin typeface="Arial"/>
                <a:ea typeface="Arial"/>
                <a:cs typeface="Arial"/>
                <a:sym typeface="Arial"/>
              </a:rPr>
              <a:t>exception</a:t>
            </a:r>
            <a:r>
              <a:rPr b="1" lang="en-US">
                <a:solidFill>
                  <a:srgbClr val="3366FF"/>
                </a:solidFill>
              </a:rPr>
              <a:t> </a:t>
            </a:r>
            <a:r>
              <a:rPr lang="en-US"/>
              <a:t>or </a:t>
            </a:r>
            <a:r>
              <a:rPr b="1" lang="en-US">
                <a:solidFill>
                  <a:srgbClr val="006699"/>
                </a:solidFill>
                <a:latin typeface="Arial"/>
                <a:ea typeface="Arial"/>
                <a:cs typeface="Arial"/>
                <a:sym typeface="Arial"/>
              </a:rPr>
              <a:t>trap</a:t>
            </a:r>
            <a:r>
              <a:rPr lang="en-US"/>
              <a:t>):</a:t>
            </a:r>
            <a:endParaRPr/>
          </a:p>
          <a:p>
            <a:pPr indent="-228600" lvl="2" marL="1085850" rtl="0" algn="l">
              <a:lnSpc>
                <a:spcPct val="90000"/>
              </a:lnSpc>
              <a:spcBef>
                <a:spcPts val="630"/>
              </a:spcBef>
              <a:spcAft>
                <a:spcPts val="0"/>
              </a:spcAft>
              <a:buSzPts val="1350"/>
              <a:buChar char="4"/>
            </a:pPr>
            <a:r>
              <a:rPr lang="en-US"/>
              <a:t>Software error (e.g., division by zero)</a:t>
            </a:r>
            <a:endParaRPr b="1">
              <a:solidFill>
                <a:srgbClr val="3366FF"/>
              </a:solidFill>
            </a:endParaRPr>
          </a:p>
          <a:p>
            <a:pPr indent="-228600" lvl="2" marL="1085850" rtl="0" algn="l">
              <a:lnSpc>
                <a:spcPct val="90000"/>
              </a:lnSpc>
              <a:spcBef>
                <a:spcPts val="630"/>
              </a:spcBef>
              <a:spcAft>
                <a:spcPts val="0"/>
              </a:spcAft>
              <a:buSzPts val="1350"/>
              <a:buChar char="4"/>
            </a:pPr>
            <a:r>
              <a:rPr lang="en-US"/>
              <a:t>Request for operating system service – </a:t>
            </a:r>
            <a:r>
              <a:rPr b="1" lang="en-US">
                <a:solidFill>
                  <a:srgbClr val="006699"/>
                </a:solidFill>
                <a:latin typeface="Arial"/>
                <a:ea typeface="Arial"/>
                <a:cs typeface="Arial"/>
                <a:sym typeface="Arial"/>
              </a:rPr>
              <a:t>system call</a:t>
            </a:r>
            <a:endParaRPr/>
          </a:p>
          <a:p>
            <a:pPr indent="-228600" lvl="2" marL="1085850" rtl="0" algn="l">
              <a:lnSpc>
                <a:spcPct val="90000"/>
              </a:lnSpc>
              <a:spcBef>
                <a:spcPts val="630"/>
              </a:spcBef>
              <a:spcAft>
                <a:spcPts val="0"/>
              </a:spcAft>
              <a:buSzPts val="1350"/>
              <a:buChar char="4"/>
            </a:pPr>
            <a:r>
              <a:rPr lang="en-US"/>
              <a:t>Other process problems include infinite loop, processes modifying each other or the operating system</a:t>
            </a:r>
            <a:endParaRPr/>
          </a:p>
          <a:p>
            <a:pPr indent="-160019" lvl="1" marL="742950" rtl="0" algn="l">
              <a:lnSpc>
                <a:spcPct val="90000"/>
              </a:lnSpc>
              <a:spcBef>
                <a:spcPts val="630"/>
              </a:spcBef>
              <a:spcAft>
                <a:spcPts val="0"/>
              </a:spcAft>
              <a:buSzPts val="198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0"/>
          <p:cNvSpPr txBox="1"/>
          <p:nvPr>
            <p:ph idx="4294967295" type="title"/>
          </p:nvPr>
        </p:nvSpPr>
        <p:spPr>
          <a:xfrm>
            <a:off x="1069975" y="204788"/>
            <a:ext cx="76168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Multiprogramming (Batch system)</a:t>
            </a:r>
            <a:endParaRPr/>
          </a:p>
        </p:txBody>
      </p:sp>
      <p:sp>
        <p:nvSpPr>
          <p:cNvPr id="257" name="Google Shape;257;p30"/>
          <p:cNvSpPr txBox="1"/>
          <p:nvPr>
            <p:ph idx="4294967295" type="body"/>
          </p:nvPr>
        </p:nvSpPr>
        <p:spPr>
          <a:xfrm>
            <a:off x="827088" y="835025"/>
            <a:ext cx="6337387" cy="5193986"/>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760"/>
              <a:buFont typeface="Arial"/>
              <a:buNone/>
            </a:pPr>
            <a:r>
              <a:t/>
            </a:r>
            <a:endParaRPr sz="1600"/>
          </a:p>
          <a:p>
            <a:pPr indent="-342900" lvl="0" marL="342900" rtl="0" algn="l">
              <a:lnSpc>
                <a:spcPct val="90000"/>
              </a:lnSpc>
              <a:spcBef>
                <a:spcPts val="560"/>
              </a:spcBef>
              <a:spcAft>
                <a:spcPts val="0"/>
              </a:spcAft>
              <a:buSzPts val="1760"/>
              <a:buChar char="▪"/>
            </a:pPr>
            <a:r>
              <a:rPr lang="en-US" sz="1600"/>
              <a:t>Single user cannot always keep CPU and I/O devices busy </a:t>
            </a:r>
            <a:endParaRPr/>
          </a:p>
          <a:p>
            <a:pPr indent="-342900" lvl="0" marL="342900" rtl="0" algn="l">
              <a:lnSpc>
                <a:spcPct val="90000"/>
              </a:lnSpc>
              <a:spcBef>
                <a:spcPts val="560"/>
              </a:spcBef>
              <a:spcAft>
                <a:spcPts val="0"/>
              </a:spcAft>
              <a:buSzPts val="1760"/>
              <a:buChar char="▪"/>
            </a:pPr>
            <a:r>
              <a:rPr lang="en-US" sz="1600"/>
              <a:t>Multiprogramming organizes jobs (code and data) so CPU always has one to execute</a:t>
            </a:r>
            <a:endParaRPr/>
          </a:p>
          <a:p>
            <a:pPr indent="-342900" lvl="0" marL="342900" rtl="0" algn="l">
              <a:lnSpc>
                <a:spcPct val="90000"/>
              </a:lnSpc>
              <a:spcBef>
                <a:spcPts val="560"/>
              </a:spcBef>
              <a:spcAft>
                <a:spcPts val="0"/>
              </a:spcAft>
              <a:buSzPts val="1760"/>
              <a:buChar char="▪"/>
            </a:pPr>
            <a:r>
              <a:rPr lang="en-US" sz="1600"/>
              <a:t>A subset of total jobs in system is kept in memory</a:t>
            </a:r>
            <a:endParaRPr/>
          </a:p>
          <a:p>
            <a:pPr indent="-342900" lvl="0" marL="342900" rtl="0" algn="l">
              <a:lnSpc>
                <a:spcPct val="90000"/>
              </a:lnSpc>
              <a:spcBef>
                <a:spcPts val="630"/>
              </a:spcBef>
              <a:spcAft>
                <a:spcPts val="0"/>
              </a:spcAft>
              <a:buSzPts val="1760"/>
              <a:buChar char="▪"/>
            </a:pPr>
            <a:r>
              <a:rPr lang="en-US" sz="1600"/>
              <a:t>One job selected and run via </a:t>
            </a:r>
            <a:r>
              <a:rPr b="1" lang="en-US">
                <a:solidFill>
                  <a:srgbClr val="006699"/>
                </a:solidFill>
                <a:latin typeface="Arial"/>
                <a:ea typeface="Arial"/>
                <a:cs typeface="Arial"/>
                <a:sym typeface="Arial"/>
              </a:rPr>
              <a:t>job scheduling</a:t>
            </a:r>
            <a:endParaRPr/>
          </a:p>
          <a:p>
            <a:pPr indent="-342900" lvl="0" marL="342900" rtl="0" algn="l">
              <a:lnSpc>
                <a:spcPct val="90000"/>
              </a:lnSpc>
              <a:spcBef>
                <a:spcPts val="560"/>
              </a:spcBef>
              <a:spcAft>
                <a:spcPts val="0"/>
              </a:spcAft>
              <a:buSzPts val="1760"/>
              <a:buChar char="▪"/>
            </a:pPr>
            <a:r>
              <a:rPr lang="en-US" sz="1600"/>
              <a:t>When job has to wait (for I/O for example), OS switches to another job</a:t>
            </a:r>
            <a:endParaRPr/>
          </a:p>
          <a:p>
            <a:pPr indent="-229869" lvl="1" marL="742950" rtl="0" algn="l">
              <a:lnSpc>
                <a:spcPct val="90000"/>
              </a:lnSpc>
              <a:spcBef>
                <a:spcPts val="280"/>
              </a:spcBef>
              <a:spcAft>
                <a:spcPts val="0"/>
              </a:spcAft>
              <a:buSzPts val="880"/>
              <a:buNone/>
            </a:pPr>
            <a:r>
              <a:t/>
            </a:r>
            <a:endParaRPr sz="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ph idx="4294967295" type="title"/>
          </p:nvPr>
        </p:nvSpPr>
        <p:spPr>
          <a:xfrm>
            <a:off x="1069975" y="204788"/>
            <a:ext cx="76168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Multitasking (Timesharing)</a:t>
            </a:r>
            <a:endParaRPr/>
          </a:p>
        </p:txBody>
      </p:sp>
      <p:sp>
        <p:nvSpPr>
          <p:cNvPr id="263" name="Google Shape;263;p31"/>
          <p:cNvSpPr txBox="1"/>
          <p:nvPr>
            <p:ph idx="4294967295" type="body"/>
          </p:nvPr>
        </p:nvSpPr>
        <p:spPr>
          <a:xfrm>
            <a:off x="827088" y="835026"/>
            <a:ext cx="6207218" cy="487250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760"/>
              <a:buFont typeface="Arial"/>
              <a:buNone/>
            </a:pPr>
            <a:r>
              <a:t/>
            </a:r>
            <a:endParaRPr sz="1600"/>
          </a:p>
          <a:p>
            <a:pPr indent="-229869" lvl="1" marL="742950" rtl="0" algn="l">
              <a:lnSpc>
                <a:spcPct val="90000"/>
              </a:lnSpc>
              <a:spcBef>
                <a:spcPts val="280"/>
              </a:spcBef>
              <a:spcAft>
                <a:spcPts val="0"/>
              </a:spcAft>
              <a:buSzPts val="880"/>
              <a:buNone/>
            </a:pPr>
            <a:r>
              <a:t/>
            </a:r>
            <a:endParaRPr sz="800"/>
          </a:p>
          <a:p>
            <a:pPr indent="-342900" lvl="0" marL="342900" rtl="0" algn="l">
              <a:lnSpc>
                <a:spcPct val="90000"/>
              </a:lnSpc>
              <a:spcBef>
                <a:spcPts val="630"/>
              </a:spcBef>
              <a:spcAft>
                <a:spcPts val="0"/>
              </a:spcAft>
              <a:buSzPts val="1760"/>
              <a:buChar char="▪"/>
            </a:pPr>
            <a:r>
              <a:rPr lang="en-US" sz="1600"/>
              <a:t>A logical extension of Batch systems– the CPU switches jobs so frequently that users can interact with each job while it is running, creating </a:t>
            </a:r>
            <a:r>
              <a:rPr b="1" lang="en-US">
                <a:solidFill>
                  <a:srgbClr val="006699"/>
                </a:solidFill>
                <a:latin typeface="Arial"/>
                <a:ea typeface="Arial"/>
                <a:cs typeface="Arial"/>
                <a:sym typeface="Arial"/>
              </a:rPr>
              <a:t>interactive</a:t>
            </a:r>
            <a:r>
              <a:rPr lang="en-US" sz="1600"/>
              <a:t> computing</a:t>
            </a:r>
            <a:endParaRPr/>
          </a:p>
          <a:p>
            <a:pPr indent="-285750" lvl="1" marL="74295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Response time </a:t>
            </a:r>
            <a:r>
              <a:rPr lang="en-US" sz="1600"/>
              <a:t>should be &lt; 1 second</a:t>
            </a:r>
            <a:endParaRPr/>
          </a:p>
          <a:p>
            <a:pPr indent="-285750" lvl="1" marL="742950" rtl="0" algn="l">
              <a:lnSpc>
                <a:spcPct val="90000"/>
              </a:lnSpc>
              <a:spcBef>
                <a:spcPts val="630"/>
              </a:spcBef>
              <a:spcAft>
                <a:spcPts val="0"/>
              </a:spcAft>
              <a:buSzPts val="1760"/>
              <a:buChar char="•"/>
            </a:pPr>
            <a:r>
              <a:rPr lang="en-US" sz="1600"/>
              <a:t>Each user has at least one program executing in memory 🢡 </a:t>
            </a:r>
            <a:r>
              <a:rPr b="1" lang="en-US">
                <a:solidFill>
                  <a:srgbClr val="006699"/>
                </a:solidFill>
                <a:latin typeface="Arial"/>
                <a:ea typeface="Arial"/>
                <a:cs typeface="Arial"/>
                <a:sym typeface="Arial"/>
              </a:rPr>
              <a:t>process</a:t>
            </a:r>
            <a:endParaRPr/>
          </a:p>
          <a:p>
            <a:pPr indent="-285750" lvl="1" marL="742950" rtl="0" algn="l">
              <a:lnSpc>
                <a:spcPct val="90000"/>
              </a:lnSpc>
              <a:spcBef>
                <a:spcPts val="630"/>
              </a:spcBef>
              <a:spcAft>
                <a:spcPts val="0"/>
              </a:spcAft>
              <a:buSzPts val="1760"/>
              <a:buChar char="•"/>
            </a:pPr>
            <a:r>
              <a:rPr lang="en-US" sz="1600"/>
              <a:t>If several jobs ready to run at the same time 🢡 </a:t>
            </a:r>
            <a:r>
              <a:rPr b="1" lang="en-US">
                <a:solidFill>
                  <a:srgbClr val="006699"/>
                </a:solidFill>
                <a:latin typeface="Arial"/>
                <a:ea typeface="Arial"/>
                <a:cs typeface="Arial"/>
                <a:sym typeface="Arial"/>
              </a:rPr>
              <a:t>CPU scheduling</a:t>
            </a:r>
            <a:endParaRPr/>
          </a:p>
          <a:p>
            <a:pPr indent="-285750" lvl="1" marL="742950" rtl="0" algn="l">
              <a:lnSpc>
                <a:spcPct val="90000"/>
              </a:lnSpc>
              <a:spcBef>
                <a:spcPts val="630"/>
              </a:spcBef>
              <a:spcAft>
                <a:spcPts val="0"/>
              </a:spcAft>
              <a:buSzPts val="1760"/>
              <a:buChar char="•"/>
            </a:pPr>
            <a:r>
              <a:rPr lang="en-US" sz="1600"/>
              <a:t>If processes don’t fit in memory, </a:t>
            </a:r>
            <a:r>
              <a:rPr b="1" lang="en-US">
                <a:solidFill>
                  <a:srgbClr val="006699"/>
                </a:solidFill>
                <a:latin typeface="Arial"/>
                <a:ea typeface="Arial"/>
                <a:cs typeface="Arial"/>
                <a:sym typeface="Arial"/>
              </a:rPr>
              <a:t>swapping</a:t>
            </a:r>
            <a:r>
              <a:rPr lang="en-US" sz="1600"/>
              <a:t> moves them in and out to run</a:t>
            </a:r>
            <a:endParaRPr/>
          </a:p>
          <a:p>
            <a:pPr indent="-285750" lvl="1" marL="74295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Virtual memory </a:t>
            </a:r>
            <a:r>
              <a:rPr lang="en-US" sz="1600"/>
              <a:t>allows execution of processes not completely in memory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2"/>
          <p:cNvSpPr txBox="1"/>
          <p:nvPr>
            <p:ph idx="4294967295" type="title"/>
          </p:nvPr>
        </p:nvSpPr>
        <p:spPr>
          <a:xfrm>
            <a:off x="1033463" y="19843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Memory Layout for Multiprogrammed System</a:t>
            </a:r>
            <a:endParaRPr/>
          </a:p>
        </p:txBody>
      </p:sp>
      <p:pic>
        <p:nvPicPr>
          <p:cNvPr id="269" name="Google Shape;269;p32"/>
          <p:cNvPicPr preferRelativeResize="0"/>
          <p:nvPr/>
        </p:nvPicPr>
        <p:blipFill rotWithShape="1">
          <a:blip r:embed="rId3">
            <a:alphaModFix/>
          </a:blip>
          <a:srcRect b="0" l="0" r="0" t="0"/>
          <a:stretch/>
        </p:blipFill>
        <p:spPr>
          <a:xfrm>
            <a:off x="3265488" y="1327603"/>
            <a:ext cx="2270125" cy="358933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3"/>
          <p:cNvSpPr txBox="1"/>
          <p:nvPr>
            <p:ph idx="4294967295" type="title"/>
          </p:nvPr>
        </p:nvSpPr>
        <p:spPr>
          <a:xfrm>
            <a:off x="1179513" y="198438"/>
            <a:ext cx="77914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Dual-mode Operation</a:t>
            </a:r>
            <a:endParaRPr/>
          </a:p>
        </p:txBody>
      </p:sp>
      <p:sp>
        <p:nvSpPr>
          <p:cNvPr id="275" name="Google Shape;275;p33"/>
          <p:cNvSpPr txBox="1"/>
          <p:nvPr>
            <p:ph idx="4294967295" type="body"/>
          </p:nvPr>
        </p:nvSpPr>
        <p:spPr>
          <a:xfrm>
            <a:off x="806451" y="1233488"/>
            <a:ext cx="7011168" cy="46247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b="1" lang="en-US">
                <a:solidFill>
                  <a:srgbClr val="006699"/>
                </a:solidFill>
                <a:latin typeface="Arial"/>
                <a:ea typeface="Arial"/>
                <a:cs typeface="Arial"/>
                <a:sym typeface="Arial"/>
              </a:rPr>
              <a:t>Dual-mode</a:t>
            </a:r>
            <a:r>
              <a:rPr b="1" lang="en-US">
                <a:solidFill>
                  <a:srgbClr val="3366FF"/>
                </a:solidFill>
              </a:rPr>
              <a:t> </a:t>
            </a:r>
            <a:r>
              <a:rPr lang="en-US"/>
              <a:t>operation allows OS to protect itself and other system components</a:t>
            </a:r>
            <a:endParaRPr/>
          </a:p>
          <a:p>
            <a:pPr indent="-285750" lvl="1" marL="74295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User mode </a:t>
            </a:r>
            <a:r>
              <a:rPr lang="en-US"/>
              <a:t>and </a:t>
            </a:r>
            <a:r>
              <a:rPr b="1" lang="en-US">
                <a:solidFill>
                  <a:srgbClr val="006699"/>
                </a:solidFill>
                <a:latin typeface="Arial"/>
                <a:ea typeface="Arial"/>
                <a:cs typeface="Arial"/>
                <a:sym typeface="Arial"/>
              </a:rPr>
              <a:t>kernel mode </a:t>
            </a:r>
            <a:endParaRPr/>
          </a:p>
          <a:p>
            <a:pPr indent="-342900" lvl="0" marL="34290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Mode bit </a:t>
            </a:r>
            <a:r>
              <a:rPr lang="en-US"/>
              <a:t>provided by hardware </a:t>
            </a:r>
            <a:endParaRPr/>
          </a:p>
          <a:p>
            <a:pPr indent="-285750" lvl="1" marL="742950" rtl="0" algn="l">
              <a:lnSpc>
                <a:spcPct val="90000"/>
              </a:lnSpc>
              <a:spcBef>
                <a:spcPts val="630"/>
              </a:spcBef>
              <a:spcAft>
                <a:spcPts val="0"/>
              </a:spcAft>
              <a:buSzPts val="1980"/>
              <a:buChar char="•"/>
            </a:pPr>
            <a:r>
              <a:rPr lang="en-US"/>
              <a:t>Provides ability to distinguish when system is running user code or kernel code.</a:t>
            </a:r>
            <a:endParaRPr/>
          </a:p>
          <a:p>
            <a:pPr indent="-285750" lvl="1" marL="742950" rtl="0" algn="l">
              <a:lnSpc>
                <a:spcPct val="90000"/>
              </a:lnSpc>
              <a:spcBef>
                <a:spcPts val="630"/>
              </a:spcBef>
              <a:spcAft>
                <a:spcPts val="0"/>
              </a:spcAft>
              <a:buSzPts val="1980"/>
              <a:buChar char="•"/>
            </a:pPr>
            <a:r>
              <a:rPr lang="en-US"/>
              <a:t>When a user is running 🢡 mode bit is “user”</a:t>
            </a:r>
            <a:endParaRPr/>
          </a:p>
          <a:p>
            <a:pPr indent="-285750" lvl="1" marL="742950" rtl="0" algn="l">
              <a:lnSpc>
                <a:spcPct val="90000"/>
              </a:lnSpc>
              <a:spcBef>
                <a:spcPts val="630"/>
              </a:spcBef>
              <a:spcAft>
                <a:spcPts val="0"/>
              </a:spcAft>
              <a:buSzPts val="1980"/>
              <a:buChar char="•"/>
            </a:pPr>
            <a:r>
              <a:rPr lang="en-US"/>
              <a:t>When kernel code is executing 🢡 mode bit is “kernel”</a:t>
            </a:r>
            <a:endParaRPr/>
          </a:p>
          <a:p>
            <a:pPr indent="-342900" lvl="0" marL="342900" rtl="0" algn="l">
              <a:lnSpc>
                <a:spcPct val="90000"/>
              </a:lnSpc>
              <a:spcBef>
                <a:spcPts val="630"/>
              </a:spcBef>
              <a:spcAft>
                <a:spcPts val="0"/>
              </a:spcAft>
              <a:buSzPts val="1980"/>
              <a:buChar char="▪"/>
            </a:pPr>
            <a:r>
              <a:rPr lang="en-US"/>
              <a:t>How do we guarantee that user does not explicitly set the mode bit to “kernel”?</a:t>
            </a:r>
            <a:endParaRPr/>
          </a:p>
          <a:p>
            <a:pPr indent="-285750" lvl="1" marL="742950" rtl="0" algn="l">
              <a:lnSpc>
                <a:spcPct val="90000"/>
              </a:lnSpc>
              <a:spcBef>
                <a:spcPts val="630"/>
              </a:spcBef>
              <a:spcAft>
                <a:spcPts val="0"/>
              </a:spcAft>
              <a:buSzPts val="1980"/>
              <a:buChar char="•"/>
            </a:pPr>
            <a:r>
              <a:rPr lang="en-US"/>
              <a:t>System call changes mode to kernel, return from call resets it to user</a:t>
            </a:r>
            <a:endParaRPr/>
          </a:p>
          <a:p>
            <a:pPr indent="-342900" lvl="0" marL="342900" rtl="0" algn="l">
              <a:lnSpc>
                <a:spcPct val="90000"/>
              </a:lnSpc>
              <a:spcBef>
                <a:spcPts val="630"/>
              </a:spcBef>
              <a:spcAft>
                <a:spcPts val="0"/>
              </a:spcAft>
              <a:buSzPts val="1980"/>
              <a:buChar char="▪"/>
            </a:pPr>
            <a:r>
              <a:rPr lang="en-US"/>
              <a:t>Some instructions designated as </a:t>
            </a:r>
            <a:r>
              <a:rPr b="1" lang="en-US">
                <a:solidFill>
                  <a:srgbClr val="006699"/>
                </a:solidFill>
                <a:latin typeface="Arial"/>
                <a:ea typeface="Arial"/>
                <a:cs typeface="Arial"/>
                <a:sym typeface="Arial"/>
              </a:rPr>
              <a:t>privileged</a:t>
            </a:r>
            <a:r>
              <a:rPr lang="en-US"/>
              <a:t>, only executable in kernel mode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4"/>
          <p:cNvSpPr txBox="1"/>
          <p:nvPr>
            <p:ph idx="4294967295" type="title"/>
          </p:nvPr>
        </p:nvSpPr>
        <p:spPr>
          <a:xfrm>
            <a:off x="882650" y="136525"/>
            <a:ext cx="7924800" cy="647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Transition from User to Kernel Mode</a:t>
            </a:r>
            <a:endParaRPr/>
          </a:p>
        </p:txBody>
      </p:sp>
      <p:pic>
        <p:nvPicPr>
          <p:cNvPr id="281" name="Google Shape;281;p34"/>
          <p:cNvPicPr preferRelativeResize="0"/>
          <p:nvPr/>
        </p:nvPicPr>
        <p:blipFill rotWithShape="1">
          <a:blip r:embed="rId3">
            <a:alphaModFix/>
          </a:blip>
          <a:srcRect b="0" l="0" r="0" t="0"/>
          <a:stretch/>
        </p:blipFill>
        <p:spPr>
          <a:xfrm>
            <a:off x="1318512" y="1305890"/>
            <a:ext cx="7053262" cy="20939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5"/>
          <p:cNvSpPr txBox="1"/>
          <p:nvPr>
            <p:ph idx="4294967295" type="title"/>
          </p:nvPr>
        </p:nvSpPr>
        <p:spPr>
          <a:xfrm>
            <a:off x="882650" y="136525"/>
            <a:ext cx="7924800" cy="647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Timer</a:t>
            </a:r>
            <a:endParaRPr/>
          </a:p>
        </p:txBody>
      </p:sp>
      <p:sp>
        <p:nvSpPr>
          <p:cNvPr id="287" name="Google Shape;287;p35"/>
          <p:cNvSpPr txBox="1"/>
          <p:nvPr>
            <p:ph idx="4294967295" type="body"/>
          </p:nvPr>
        </p:nvSpPr>
        <p:spPr>
          <a:xfrm>
            <a:off x="793750" y="1060450"/>
            <a:ext cx="7781925" cy="281781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Timer to prevent infinite loop (or process hogging resources)</a:t>
            </a:r>
            <a:endParaRPr/>
          </a:p>
          <a:p>
            <a:pPr indent="-285750" lvl="1" marL="742950" rtl="0" algn="l">
              <a:spcBef>
                <a:spcPts val="630"/>
              </a:spcBef>
              <a:spcAft>
                <a:spcPts val="0"/>
              </a:spcAft>
              <a:buSzPts val="1980"/>
              <a:buChar char="•"/>
            </a:pPr>
            <a:r>
              <a:rPr lang="en-US"/>
              <a:t>Timer is set to interrupt the computer after some time period</a:t>
            </a:r>
            <a:endParaRPr/>
          </a:p>
          <a:p>
            <a:pPr indent="-285750" lvl="1" marL="742950" rtl="0" algn="l">
              <a:spcBef>
                <a:spcPts val="630"/>
              </a:spcBef>
              <a:spcAft>
                <a:spcPts val="0"/>
              </a:spcAft>
              <a:buSzPts val="1980"/>
              <a:buChar char="•"/>
            </a:pPr>
            <a:r>
              <a:rPr lang="en-US"/>
              <a:t>Keep a counter that is decremented by the physical clock</a:t>
            </a:r>
            <a:endParaRPr/>
          </a:p>
          <a:p>
            <a:pPr indent="-285750" lvl="1" marL="742950" rtl="0" algn="l">
              <a:spcBef>
                <a:spcPts val="630"/>
              </a:spcBef>
              <a:spcAft>
                <a:spcPts val="0"/>
              </a:spcAft>
              <a:buSzPts val="1980"/>
              <a:buChar char="•"/>
            </a:pPr>
            <a:r>
              <a:rPr lang="en-US"/>
              <a:t>Operating system set the counter (privileged instruction)</a:t>
            </a:r>
            <a:endParaRPr/>
          </a:p>
          <a:p>
            <a:pPr indent="-285750" lvl="1" marL="742950" rtl="0" algn="l">
              <a:spcBef>
                <a:spcPts val="630"/>
              </a:spcBef>
              <a:spcAft>
                <a:spcPts val="0"/>
              </a:spcAft>
              <a:buSzPts val="1980"/>
              <a:buChar char="•"/>
            </a:pPr>
            <a:r>
              <a:rPr lang="en-US"/>
              <a:t>When counter zero generate an interrupt</a:t>
            </a:r>
            <a:endParaRPr/>
          </a:p>
          <a:p>
            <a:pPr indent="-285750" lvl="1" marL="742950" rtl="0" algn="l">
              <a:spcBef>
                <a:spcPts val="630"/>
              </a:spcBef>
              <a:spcAft>
                <a:spcPts val="0"/>
              </a:spcAft>
              <a:buSzPts val="1980"/>
              <a:buChar char="•"/>
            </a:pPr>
            <a:r>
              <a:rPr lang="en-US"/>
              <a:t>Set up before scheduling process to regain control or terminate program that exceeds allotted time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idx="4294967295" type="title"/>
          </p:nvPr>
        </p:nvSpPr>
        <p:spPr>
          <a:xfrm>
            <a:off x="1089025" y="207963"/>
            <a:ext cx="7439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Management</a:t>
            </a:r>
            <a:endParaRPr/>
          </a:p>
        </p:txBody>
      </p:sp>
      <p:sp>
        <p:nvSpPr>
          <p:cNvPr id="293" name="Google Shape;293;p36"/>
          <p:cNvSpPr txBox="1"/>
          <p:nvPr>
            <p:ph idx="4294967295" type="body"/>
          </p:nvPr>
        </p:nvSpPr>
        <p:spPr>
          <a:xfrm>
            <a:off x="774700" y="809625"/>
            <a:ext cx="7753350" cy="5105400"/>
          </a:xfrm>
          <a:prstGeom prst="rect">
            <a:avLst/>
          </a:prstGeom>
          <a:noFill/>
          <a:ln>
            <a:noFill/>
          </a:ln>
        </p:spPr>
        <p:txBody>
          <a:bodyPr anchorCtr="0" anchor="t" bIns="45700" lIns="91425" spcFirstLastPara="1" rIns="91425" wrap="square" tIns="45700">
            <a:noAutofit/>
          </a:bodyPr>
          <a:lstStyle/>
          <a:p>
            <a:pPr indent="-217170" lvl="0" marL="342900" rtl="0" algn="l">
              <a:lnSpc>
                <a:spcPct val="90000"/>
              </a:lnSpc>
              <a:spcBef>
                <a:spcPts val="0"/>
              </a:spcBef>
              <a:spcAft>
                <a:spcPts val="0"/>
              </a:spcAft>
              <a:buSzPts val="1980"/>
              <a:buNone/>
            </a:pPr>
            <a:r>
              <a:t/>
            </a:r>
            <a:endParaRPr/>
          </a:p>
          <a:p>
            <a:pPr indent="-342900" lvl="0" marL="342900" rtl="0" algn="l">
              <a:lnSpc>
                <a:spcPct val="90000"/>
              </a:lnSpc>
              <a:spcBef>
                <a:spcPts val="630"/>
              </a:spcBef>
              <a:spcAft>
                <a:spcPts val="0"/>
              </a:spcAft>
              <a:buSzPts val="1980"/>
              <a:buChar char="▪"/>
            </a:pPr>
            <a:r>
              <a:rPr lang="en-US"/>
              <a:t>A process is a program in execution. It is a unit of work within the system. Program is a </a:t>
            </a:r>
            <a:r>
              <a:rPr b="1" i="1" lang="en-US"/>
              <a:t>passive entity;</a:t>
            </a:r>
            <a:r>
              <a:rPr lang="en-US"/>
              <a:t> process is </a:t>
            </a:r>
            <a:r>
              <a:rPr lang="en-US">
                <a:solidFill>
                  <a:srgbClr val="000000"/>
                </a:solidFill>
              </a:rPr>
              <a:t>an </a:t>
            </a:r>
            <a:r>
              <a:rPr b="1" i="1" lang="en-US">
                <a:solidFill>
                  <a:srgbClr val="000000"/>
                </a:solidFill>
              </a:rPr>
              <a:t>active entity</a:t>
            </a:r>
            <a:r>
              <a:rPr lang="en-US"/>
              <a:t>.</a:t>
            </a:r>
            <a:endParaRPr/>
          </a:p>
          <a:p>
            <a:pPr indent="-342900" lvl="0" marL="342900" rtl="0" algn="l">
              <a:lnSpc>
                <a:spcPct val="90000"/>
              </a:lnSpc>
              <a:spcBef>
                <a:spcPts val="630"/>
              </a:spcBef>
              <a:spcAft>
                <a:spcPts val="0"/>
              </a:spcAft>
              <a:buSzPts val="1980"/>
              <a:buChar char="▪"/>
            </a:pPr>
            <a:r>
              <a:rPr lang="en-US"/>
              <a:t>Process needs resources to accomplish its task</a:t>
            </a:r>
            <a:endParaRPr/>
          </a:p>
          <a:p>
            <a:pPr indent="-285750" lvl="1" marL="742950" rtl="0" algn="l">
              <a:lnSpc>
                <a:spcPct val="90000"/>
              </a:lnSpc>
              <a:spcBef>
                <a:spcPts val="630"/>
              </a:spcBef>
              <a:spcAft>
                <a:spcPts val="0"/>
              </a:spcAft>
              <a:buSzPts val="1980"/>
              <a:buChar char="•"/>
            </a:pPr>
            <a:r>
              <a:rPr lang="en-US"/>
              <a:t>CPU, memory, I/O, files</a:t>
            </a:r>
            <a:endParaRPr/>
          </a:p>
          <a:p>
            <a:pPr indent="-285750" lvl="1" marL="742950" rtl="0" algn="l">
              <a:lnSpc>
                <a:spcPct val="90000"/>
              </a:lnSpc>
              <a:spcBef>
                <a:spcPts val="630"/>
              </a:spcBef>
              <a:spcAft>
                <a:spcPts val="0"/>
              </a:spcAft>
              <a:buSzPts val="1980"/>
              <a:buChar char="•"/>
            </a:pPr>
            <a:r>
              <a:rPr lang="en-US"/>
              <a:t>Initialization data</a:t>
            </a:r>
            <a:endParaRPr/>
          </a:p>
          <a:p>
            <a:pPr indent="-342900" lvl="0" marL="342900" rtl="0" algn="l">
              <a:lnSpc>
                <a:spcPct val="90000"/>
              </a:lnSpc>
              <a:spcBef>
                <a:spcPts val="630"/>
              </a:spcBef>
              <a:spcAft>
                <a:spcPts val="0"/>
              </a:spcAft>
              <a:buSzPts val="1980"/>
              <a:buChar char="▪"/>
            </a:pPr>
            <a:r>
              <a:rPr lang="en-US"/>
              <a:t>Process termination requires reclaim of any reusable resources</a:t>
            </a:r>
            <a:endParaRPr/>
          </a:p>
          <a:p>
            <a:pPr indent="-342900" lvl="0" marL="342900" rtl="0" algn="l">
              <a:lnSpc>
                <a:spcPct val="90000"/>
              </a:lnSpc>
              <a:spcBef>
                <a:spcPts val="630"/>
              </a:spcBef>
              <a:spcAft>
                <a:spcPts val="0"/>
              </a:spcAft>
              <a:buSzPts val="1980"/>
              <a:buChar char="▪"/>
            </a:pPr>
            <a:r>
              <a:rPr lang="en-US"/>
              <a:t>Single-threaded process has one </a:t>
            </a:r>
            <a:r>
              <a:rPr b="1" lang="en-US">
                <a:solidFill>
                  <a:srgbClr val="006699"/>
                </a:solidFill>
                <a:latin typeface="Arial"/>
                <a:ea typeface="Arial"/>
                <a:cs typeface="Arial"/>
                <a:sym typeface="Arial"/>
              </a:rPr>
              <a:t>program counter </a:t>
            </a:r>
            <a:r>
              <a:rPr lang="en-US"/>
              <a:t>specifying location of next instruction to execute</a:t>
            </a:r>
            <a:endParaRPr/>
          </a:p>
          <a:p>
            <a:pPr indent="-285750" lvl="1" marL="742950" rtl="0" algn="l">
              <a:lnSpc>
                <a:spcPct val="90000"/>
              </a:lnSpc>
              <a:spcBef>
                <a:spcPts val="630"/>
              </a:spcBef>
              <a:spcAft>
                <a:spcPts val="0"/>
              </a:spcAft>
              <a:buSzPts val="1980"/>
              <a:buChar char="•"/>
            </a:pPr>
            <a:r>
              <a:rPr lang="en-US"/>
              <a:t>Process executes instructions sequentially, one at a time, until completion</a:t>
            </a:r>
            <a:endParaRPr/>
          </a:p>
          <a:p>
            <a:pPr indent="-342900" lvl="0" marL="342900" rtl="0" algn="l">
              <a:lnSpc>
                <a:spcPct val="90000"/>
              </a:lnSpc>
              <a:spcBef>
                <a:spcPts val="630"/>
              </a:spcBef>
              <a:spcAft>
                <a:spcPts val="0"/>
              </a:spcAft>
              <a:buSzPts val="1980"/>
              <a:buChar char="▪"/>
            </a:pPr>
            <a:r>
              <a:rPr lang="en-US"/>
              <a:t>Multi-threaded process has one program counter per thread</a:t>
            </a:r>
            <a:endParaRPr/>
          </a:p>
          <a:p>
            <a:pPr indent="-342900" lvl="0" marL="342900" rtl="0" algn="l">
              <a:lnSpc>
                <a:spcPct val="90000"/>
              </a:lnSpc>
              <a:spcBef>
                <a:spcPts val="630"/>
              </a:spcBef>
              <a:spcAft>
                <a:spcPts val="0"/>
              </a:spcAft>
              <a:buSzPts val="1980"/>
              <a:buChar char="▪"/>
            </a:pPr>
            <a:r>
              <a:rPr lang="en-US"/>
              <a:t>Typically system has many processes, some user, some operating system running concurrently on one or more CPUs</a:t>
            </a:r>
            <a:endParaRPr/>
          </a:p>
          <a:p>
            <a:pPr indent="-285750" lvl="1" marL="742950" rtl="0" algn="l">
              <a:lnSpc>
                <a:spcPct val="90000"/>
              </a:lnSpc>
              <a:spcBef>
                <a:spcPts val="630"/>
              </a:spcBef>
              <a:spcAft>
                <a:spcPts val="0"/>
              </a:spcAft>
              <a:buSzPts val="1980"/>
              <a:buChar char="•"/>
            </a:pPr>
            <a:r>
              <a:rPr lang="en-US"/>
              <a:t>Concurrency by multiplexing the CPUs among the processes / threads</a:t>
            </a:r>
            <a:endParaRPr/>
          </a:p>
          <a:p>
            <a:pPr indent="-342900" lvl="0" marL="342900" rtl="0" algn="l">
              <a:lnSpc>
                <a:spcPct val="90000"/>
              </a:lnSpc>
              <a:spcBef>
                <a:spcPts val="630"/>
              </a:spcBef>
              <a:spcAft>
                <a:spcPts val="0"/>
              </a:spcAft>
              <a:buSzPts val="1980"/>
              <a:buFont typeface="Arial"/>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idx="4294967295" type="title"/>
          </p:nvPr>
        </p:nvSpPr>
        <p:spPr>
          <a:xfrm>
            <a:off x="1128713" y="207963"/>
            <a:ext cx="74279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Process Management Activities</a:t>
            </a:r>
            <a:endParaRPr/>
          </a:p>
        </p:txBody>
      </p:sp>
      <p:sp>
        <p:nvSpPr>
          <p:cNvPr id="299" name="Google Shape;299;p37"/>
          <p:cNvSpPr txBox="1"/>
          <p:nvPr>
            <p:ph idx="4294967295" type="body"/>
          </p:nvPr>
        </p:nvSpPr>
        <p:spPr>
          <a:xfrm>
            <a:off x="885825" y="1587500"/>
            <a:ext cx="7670800" cy="40354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None/>
            </a:pPr>
            <a:r>
              <a:rPr lang="en-US"/>
              <a:t>     </a:t>
            </a:r>
            <a:endParaRPr/>
          </a:p>
          <a:p>
            <a:pPr indent="-342900" lvl="0" marL="342900" rtl="0" algn="l">
              <a:spcBef>
                <a:spcPts val="630"/>
              </a:spcBef>
              <a:spcAft>
                <a:spcPts val="0"/>
              </a:spcAft>
              <a:buSzPts val="1980"/>
              <a:buChar char="▪"/>
            </a:pPr>
            <a:r>
              <a:rPr lang="en-US"/>
              <a:t>Creating and deleting both user and system processes</a:t>
            </a:r>
            <a:endParaRPr/>
          </a:p>
          <a:p>
            <a:pPr indent="-342900" lvl="0" marL="342900" rtl="0" algn="l">
              <a:spcBef>
                <a:spcPts val="630"/>
              </a:spcBef>
              <a:spcAft>
                <a:spcPts val="0"/>
              </a:spcAft>
              <a:buSzPts val="1980"/>
              <a:buChar char="▪"/>
            </a:pPr>
            <a:r>
              <a:rPr lang="en-US"/>
              <a:t>Suspending and resuming processes</a:t>
            </a:r>
            <a:endParaRPr/>
          </a:p>
          <a:p>
            <a:pPr indent="-342900" lvl="0" marL="342900" rtl="0" algn="l">
              <a:spcBef>
                <a:spcPts val="630"/>
              </a:spcBef>
              <a:spcAft>
                <a:spcPts val="0"/>
              </a:spcAft>
              <a:buSzPts val="1980"/>
              <a:buChar char="▪"/>
            </a:pPr>
            <a:r>
              <a:rPr lang="en-US"/>
              <a:t>Providing mechanisms for process synchronization</a:t>
            </a:r>
            <a:endParaRPr/>
          </a:p>
          <a:p>
            <a:pPr indent="-342900" lvl="0" marL="342900" rtl="0" algn="l">
              <a:spcBef>
                <a:spcPts val="630"/>
              </a:spcBef>
              <a:spcAft>
                <a:spcPts val="0"/>
              </a:spcAft>
              <a:buSzPts val="1980"/>
              <a:buChar char="▪"/>
            </a:pPr>
            <a:r>
              <a:rPr lang="en-US"/>
              <a:t>Providing mechanisms for process communication</a:t>
            </a:r>
            <a:endParaRPr/>
          </a:p>
          <a:p>
            <a:pPr indent="-342900" lvl="0" marL="342900" rtl="0" algn="l">
              <a:spcBef>
                <a:spcPts val="630"/>
              </a:spcBef>
              <a:spcAft>
                <a:spcPts val="0"/>
              </a:spcAft>
              <a:buSzPts val="1980"/>
              <a:buChar char="▪"/>
            </a:pPr>
            <a:r>
              <a:rPr lang="en-US"/>
              <a:t>Providing mechanisms for deadlock handling</a:t>
            </a:r>
            <a:endParaRPr/>
          </a:p>
        </p:txBody>
      </p:sp>
      <p:sp>
        <p:nvSpPr>
          <p:cNvPr id="300" name="Google Shape;300;p37"/>
          <p:cNvSpPr txBox="1"/>
          <p:nvPr/>
        </p:nvSpPr>
        <p:spPr>
          <a:xfrm>
            <a:off x="801688" y="1238250"/>
            <a:ext cx="76708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b="0" i="0" lang="en-US" sz="1800" u="none" cap="none" strike="noStrike">
                <a:solidFill>
                  <a:schemeClr val="dk1"/>
                </a:solidFill>
                <a:latin typeface="Helvetica Neue"/>
                <a:ea typeface="Helvetica Neue"/>
                <a:cs typeface="Helvetica Neue"/>
                <a:sym typeface="Helvetica Neue"/>
              </a:rPr>
              <a:t>The operating system is responsible for the following activities in connection with process management: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idx="4294967295" type="title"/>
          </p:nvPr>
        </p:nvSpPr>
        <p:spPr>
          <a:xfrm>
            <a:off x="1090613" y="212725"/>
            <a:ext cx="745648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Management</a:t>
            </a:r>
            <a:endParaRPr/>
          </a:p>
        </p:txBody>
      </p:sp>
      <p:sp>
        <p:nvSpPr>
          <p:cNvPr id="306" name="Google Shape;306;p38"/>
          <p:cNvSpPr txBox="1"/>
          <p:nvPr>
            <p:ph idx="4294967295" type="body"/>
          </p:nvPr>
        </p:nvSpPr>
        <p:spPr>
          <a:xfrm>
            <a:off x="806450" y="1233488"/>
            <a:ext cx="774065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To execute a program all (or part) of the instructions must be in memory</a:t>
            </a:r>
            <a:endParaRPr/>
          </a:p>
          <a:p>
            <a:pPr indent="-342900" lvl="0" marL="342900" rtl="0" algn="l">
              <a:spcBef>
                <a:spcPts val="630"/>
              </a:spcBef>
              <a:spcAft>
                <a:spcPts val="0"/>
              </a:spcAft>
              <a:buSzPts val="1980"/>
              <a:buChar char="▪"/>
            </a:pPr>
            <a:r>
              <a:rPr lang="en-US"/>
              <a:t>All  (or part) of the data that is needed by the program must be in memory</a:t>
            </a:r>
            <a:endParaRPr sz="800"/>
          </a:p>
          <a:p>
            <a:pPr indent="-342900" lvl="0" marL="342900" rtl="0" algn="l">
              <a:spcBef>
                <a:spcPts val="630"/>
              </a:spcBef>
              <a:spcAft>
                <a:spcPts val="0"/>
              </a:spcAft>
              <a:buSzPts val="1980"/>
              <a:buChar char="▪"/>
            </a:pPr>
            <a:r>
              <a:rPr lang="en-US"/>
              <a:t>Memory management determines what is in memory and when</a:t>
            </a:r>
            <a:endParaRPr/>
          </a:p>
          <a:p>
            <a:pPr indent="-285750" lvl="1" marL="742950" rtl="0" algn="l">
              <a:spcBef>
                <a:spcPts val="630"/>
              </a:spcBef>
              <a:spcAft>
                <a:spcPts val="0"/>
              </a:spcAft>
              <a:buSzPts val="1980"/>
              <a:buChar char="•"/>
            </a:pPr>
            <a:r>
              <a:rPr lang="en-US"/>
              <a:t>Optimizing CPU utilization and computer response to users</a:t>
            </a:r>
            <a:endParaRPr sz="800"/>
          </a:p>
          <a:p>
            <a:pPr indent="-342900" lvl="0" marL="342900" rtl="0" algn="l">
              <a:spcBef>
                <a:spcPts val="630"/>
              </a:spcBef>
              <a:spcAft>
                <a:spcPts val="0"/>
              </a:spcAft>
              <a:buSzPts val="1980"/>
              <a:buChar char="▪"/>
            </a:pPr>
            <a:r>
              <a:rPr lang="en-US"/>
              <a:t>Memory management activities</a:t>
            </a:r>
            <a:endParaRPr/>
          </a:p>
          <a:p>
            <a:pPr indent="-285750" lvl="1" marL="742950" rtl="0" algn="l">
              <a:spcBef>
                <a:spcPts val="630"/>
              </a:spcBef>
              <a:spcAft>
                <a:spcPts val="0"/>
              </a:spcAft>
              <a:buSzPts val="1980"/>
              <a:buChar char="•"/>
            </a:pPr>
            <a:r>
              <a:rPr lang="en-US"/>
              <a:t>Keeping track of which parts of memory are currently being used and by whom</a:t>
            </a:r>
            <a:endParaRPr/>
          </a:p>
          <a:p>
            <a:pPr indent="-285750" lvl="1" marL="742950" rtl="0" algn="l">
              <a:spcBef>
                <a:spcPts val="630"/>
              </a:spcBef>
              <a:spcAft>
                <a:spcPts val="0"/>
              </a:spcAft>
              <a:buSzPts val="1980"/>
              <a:buChar char="•"/>
            </a:pPr>
            <a:r>
              <a:rPr lang="en-US"/>
              <a:t>Deciding which processes (or parts thereof) and data to move into and out of memory</a:t>
            </a:r>
            <a:endParaRPr/>
          </a:p>
          <a:p>
            <a:pPr indent="-285750" lvl="1" marL="742950" rtl="0" algn="l">
              <a:spcBef>
                <a:spcPts val="630"/>
              </a:spcBef>
              <a:spcAft>
                <a:spcPts val="0"/>
              </a:spcAft>
              <a:buSzPts val="1980"/>
              <a:buChar char="•"/>
            </a:pPr>
            <a:r>
              <a:rPr lang="en-US"/>
              <a:t>Allocating and deallocating memory space as needed</a:t>
            </a:r>
            <a:endParaRPr/>
          </a:p>
          <a:p>
            <a:pPr indent="-285750" lvl="1" marL="742950" rtl="0" algn="l">
              <a:spcBef>
                <a:spcPts val="630"/>
              </a:spcBef>
              <a:spcAft>
                <a:spcPts val="0"/>
              </a:spcAft>
              <a:buSzPts val="1980"/>
              <a:buFont typeface="Arial"/>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9"/>
          <p:cNvSpPr txBox="1"/>
          <p:nvPr>
            <p:ph idx="4294967295" type="title"/>
          </p:nvPr>
        </p:nvSpPr>
        <p:spPr>
          <a:xfrm>
            <a:off x="1128713" y="211138"/>
            <a:ext cx="73533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File-system Management</a:t>
            </a:r>
            <a:endParaRPr/>
          </a:p>
        </p:txBody>
      </p:sp>
      <p:sp>
        <p:nvSpPr>
          <p:cNvPr id="312" name="Google Shape;312;p39"/>
          <p:cNvSpPr txBox="1"/>
          <p:nvPr>
            <p:ph idx="4294967295" type="body"/>
          </p:nvPr>
        </p:nvSpPr>
        <p:spPr>
          <a:xfrm>
            <a:off x="796925" y="1104900"/>
            <a:ext cx="7558088" cy="4992688"/>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lang="en-US"/>
              <a:t>OS provides uniform, logical view of information storage</a:t>
            </a:r>
            <a:endParaRPr/>
          </a:p>
          <a:p>
            <a:pPr indent="-285750" lvl="1" marL="742950" rtl="0" algn="l">
              <a:lnSpc>
                <a:spcPct val="90000"/>
              </a:lnSpc>
              <a:spcBef>
                <a:spcPts val="630"/>
              </a:spcBef>
              <a:spcAft>
                <a:spcPts val="0"/>
              </a:spcAft>
              <a:buSzPts val="1980"/>
              <a:buChar char="•"/>
            </a:pPr>
            <a:r>
              <a:rPr lang="en-US"/>
              <a:t>Abstracts physical properties to logical storage unit  - </a:t>
            </a:r>
            <a:r>
              <a:rPr b="1" lang="en-US">
                <a:solidFill>
                  <a:srgbClr val="006699"/>
                </a:solidFill>
                <a:latin typeface="Arial"/>
                <a:ea typeface="Arial"/>
                <a:cs typeface="Arial"/>
                <a:sym typeface="Arial"/>
              </a:rPr>
              <a:t>file</a:t>
            </a:r>
            <a:endParaRPr/>
          </a:p>
          <a:p>
            <a:pPr indent="-285750" lvl="1" marL="742950" rtl="0" algn="l">
              <a:lnSpc>
                <a:spcPct val="90000"/>
              </a:lnSpc>
              <a:spcBef>
                <a:spcPts val="630"/>
              </a:spcBef>
              <a:spcAft>
                <a:spcPts val="0"/>
              </a:spcAft>
              <a:buSzPts val="1980"/>
              <a:buChar char="•"/>
            </a:pPr>
            <a:r>
              <a:rPr lang="en-US"/>
              <a:t>Each medium is controlled by device (i.e., disk drive, tape drive)</a:t>
            </a:r>
            <a:endParaRPr/>
          </a:p>
          <a:p>
            <a:pPr indent="-228600" lvl="2" marL="1085850" rtl="0" algn="l">
              <a:lnSpc>
                <a:spcPct val="90000"/>
              </a:lnSpc>
              <a:spcBef>
                <a:spcPts val="630"/>
              </a:spcBef>
              <a:spcAft>
                <a:spcPts val="0"/>
              </a:spcAft>
              <a:buSzPts val="1350"/>
              <a:buChar char="4"/>
            </a:pPr>
            <a:r>
              <a:rPr lang="en-US"/>
              <a:t>Varying properties include access speed, capacity, data-transfer rate, access method (sequential or random)</a:t>
            </a:r>
            <a:endParaRPr/>
          </a:p>
          <a:p>
            <a:pPr indent="-190500" lvl="2" marL="1085850" rtl="0" algn="l">
              <a:lnSpc>
                <a:spcPct val="90000"/>
              </a:lnSpc>
              <a:spcBef>
                <a:spcPts val="280"/>
              </a:spcBef>
              <a:spcAft>
                <a:spcPts val="0"/>
              </a:spcAft>
              <a:buSzPts val="600"/>
              <a:buNone/>
            </a:pPr>
            <a:r>
              <a:t/>
            </a:r>
            <a:endParaRPr sz="800"/>
          </a:p>
          <a:p>
            <a:pPr indent="-342900" lvl="0" marL="342900" rtl="0" algn="l">
              <a:lnSpc>
                <a:spcPct val="90000"/>
              </a:lnSpc>
              <a:spcBef>
                <a:spcPts val="630"/>
              </a:spcBef>
              <a:spcAft>
                <a:spcPts val="0"/>
              </a:spcAft>
              <a:buSzPts val="1980"/>
              <a:buChar char="▪"/>
            </a:pPr>
            <a:r>
              <a:rPr lang="en-US"/>
              <a:t>File-System management</a:t>
            </a:r>
            <a:endParaRPr/>
          </a:p>
          <a:p>
            <a:pPr indent="-285750" lvl="1" marL="742950" rtl="0" algn="l">
              <a:lnSpc>
                <a:spcPct val="90000"/>
              </a:lnSpc>
              <a:spcBef>
                <a:spcPts val="630"/>
              </a:spcBef>
              <a:spcAft>
                <a:spcPts val="0"/>
              </a:spcAft>
              <a:buSzPts val="1980"/>
              <a:buChar char="•"/>
            </a:pPr>
            <a:r>
              <a:rPr lang="en-US"/>
              <a:t>Files usually organized into directories</a:t>
            </a:r>
            <a:endParaRPr/>
          </a:p>
          <a:p>
            <a:pPr indent="-285750" lvl="1" marL="742950" rtl="0" algn="l">
              <a:lnSpc>
                <a:spcPct val="90000"/>
              </a:lnSpc>
              <a:spcBef>
                <a:spcPts val="630"/>
              </a:spcBef>
              <a:spcAft>
                <a:spcPts val="0"/>
              </a:spcAft>
              <a:buSzPts val="1980"/>
              <a:buChar char="•"/>
            </a:pPr>
            <a:r>
              <a:rPr lang="en-US"/>
              <a:t>Access control on most systems to determine who can access what</a:t>
            </a:r>
            <a:endParaRPr/>
          </a:p>
          <a:p>
            <a:pPr indent="-285750" lvl="1" marL="742950" rtl="0" algn="l">
              <a:lnSpc>
                <a:spcPct val="90000"/>
              </a:lnSpc>
              <a:spcBef>
                <a:spcPts val="630"/>
              </a:spcBef>
              <a:spcAft>
                <a:spcPts val="0"/>
              </a:spcAft>
              <a:buSzPts val="1980"/>
              <a:buChar char="•"/>
            </a:pPr>
            <a:r>
              <a:rPr lang="en-US"/>
              <a:t>OS activities include</a:t>
            </a:r>
            <a:endParaRPr/>
          </a:p>
          <a:p>
            <a:pPr indent="-228600" lvl="2" marL="1085850" rtl="0" algn="l">
              <a:lnSpc>
                <a:spcPct val="90000"/>
              </a:lnSpc>
              <a:spcBef>
                <a:spcPts val="630"/>
              </a:spcBef>
              <a:spcAft>
                <a:spcPts val="0"/>
              </a:spcAft>
              <a:buSzPts val="1350"/>
              <a:buChar char="4"/>
            </a:pPr>
            <a:r>
              <a:rPr lang="en-US"/>
              <a:t>Creating and deleting files and directories</a:t>
            </a:r>
            <a:endParaRPr/>
          </a:p>
          <a:p>
            <a:pPr indent="-228600" lvl="2" marL="1085850" rtl="0" algn="l">
              <a:lnSpc>
                <a:spcPct val="90000"/>
              </a:lnSpc>
              <a:spcBef>
                <a:spcPts val="630"/>
              </a:spcBef>
              <a:spcAft>
                <a:spcPts val="0"/>
              </a:spcAft>
              <a:buSzPts val="1350"/>
              <a:buChar char="4"/>
            </a:pPr>
            <a:r>
              <a:rPr lang="en-US"/>
              <a:t>Primitives to manipulate files and directories</a:t>
            </a:r>
            <a:endParaRPr/>
          </a:p>
          <a:p>
            <a:pPr indent="-228600" lvl="2" marL="1085850" rtl="0" algn="l">
              <a:lnSpc>
                <a:spcPct val="90000"/>
              </a:lnSpc>
              <a:spcBef>
                <a:spcPts val="630"/>
              </a:spcBef>
              <a:spcAft>
                <a:spcPts val="0"/>
              </a:spcAft>
              <a:buSzPts val="1350"/>
              <a:buChar char="4"/>
            </a:pPr>
            <a:r>
              <a:rPr lang="en-US"/>
              <a:t>Mapping files onto secondary storage</a:t>
            </a:r>
            <a:endParaRPr/>
          </a:p>
          <a:p>
            <a:pPr indent="-228600" lvl="2" marL="1085850" rtl="0" algn="l">
              <a:lnSpc>
                <a:spcPct val="90000"/>
              </a:lnSpc>
              <a:spcBef>
                <a:spcPts val="630"/>
              </a:spcBef>
              <a:spcAft>
                <a:spcPts val="0"/>
              </a:spcAft>
              <a:buSzPts val="1350"/>
              <a:buChar char="4"/>
            </a:pPr>
            <a:r>
              <a:rPr lang="en-US"/>
              <a:t>Backup files onto stable (non-volatile) storage media</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idx="4294967295" type="title"/>
          </p:nvPr>
        </p:nvSpPr>
        <p:spPr>
          <a:xfrm>
            <a:off x="1331913" y="203200"/>
            <a:ext cx="717708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Mass-Storage Management</a:t>
            </a:r>
            <a:endParaRPr/>
          </a:p>
        </p:txBody>
      </p:sp>
      <p:sp>
        <p:nvSpPr>
          <p:cNvPr id="318" name="Google Shape;318;p40"/>
          <p:cNvSpPr txBox="1"/>
          <p:nvPr>
            <p:ph idx="4294967295" type="body"/>
          </p:nvPr>
        </p:nvSpPr>
        <p:spPr>
          <a:xfrm>
            <a:off x="801688" y="1109663"/>
            <a:ext cx="7005881" cy="4658091"/>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Usually disks used to store data that does not fit in main memory or data that must be kept for a “long” period of time</a:t>
            </a:r>
            <a:endParaRPr/>
          </a:p>
          <a:p>
            <a:pPr indent="-342900" lvl="0" marL="342900" rtl="0" algn="l">
              <a:spcBef>
                <a:spcPts val="630"/>
              </a:spcBef>
              <a:spcAft>
                <a:spcPts val="0"/>
              </a:spcAft>
              <a:buSzPts val="1980"/>
              <a:buChar char="▪"/>
            </a:pPr>
            <a:r>
              <a:rPr lang="en-US"/>
              <a:t>Proper management is of central importance</a:t>
            </a:r>
            <a:endParaRPr/>
          </a:p>
          <a:p>
            <a:pPr indent="-342900" lvl="0" marL="342900" rtl="0" algn="l">
              <a:spcBef>
                <a:spcPts val="630"/>
              </a:spcBef>
              <a:spcAft>
                <a:spcPts val="0"/>
              </a:spcAft>
              <a:buSzPts val="1980"/>
              <a:buChar char="▪"/>
            </a:pPr>
            <a:r>
              <a:rPr lang="en-US"/>
              <a:t>Entire speed of computer operation hinges on disk subsystem and its algorithms</a:t>
            </a:r>
            <a:endParaRPr/>
          </a:p>
          <a:p>
            <a:pPr indent="-342900" lvl="0" marL="342900" rtl="0" algn="l">
              <a:spcBef>
                <a:spcPts val="630"/>
              </a:spcBef>
              <a:spcAft>
                <a:spcPts val="0"/>
              </a:spcAft>
              <a:buSzPts val="1980"/>
              <a:buChar char="▪"/>
            </a:pPr>
            <a:r>
              <a:rPr lang="en-US"/>
              <a:t>OS activities</a:t>
            </a:r>
            <a:endParaRPr/>
          </a:p>
          <a:p>
            <a:pPr indent="-285750" lvl="1" marL="742950" rtl="0" algn="l">
              <a:spcBef>
                <a:spcPts val="630"/>
              </a:spcBef>
              <a:spcAft>
                <a:spcPts val="0"/>
              </a:spcAft>
              <a:buSzPts val="1980"/>
              <a:buChar char="•"/>
            </a:pPr>
            <a:r>
              <a:rPr lang="en-US"/>
              <a:t>Mounting and unmounting</a:t>
            </a:r>
            <a:endParaRPr/>
          </a:p>
          <a:p>
            <a:pPr indent="-285750" lvl="1" marL="742950" rtl="0" algn="l">
              <a:spcBef>
                <a:spcPts val="630"/>
              </a:spcBef>
              <a:spcAft>
                <a:spcPts val="0"/>
              </a:spcAft>
              <a:buSzPts val="1980"/>
              <a:buChar char="•"/>
            </a:pPr>
            <a:r>
              <a:rPr lang="en-US"/>
              <a:t>Free-space management</a:t>
            </a:r>
            <a:endParaRPr/>
          </a:p>
          <a:p>
            <a:pPr indent="-285750" lvl="1" marL="742950" rtl="0" algn="l">
              <a:spcBef>
                <a:spcPts val="630"/>
              </a:spcBef>
              <a:spcAft>
                <a:spcPts val="0"/>
              </a:spcAft>
              <a:buSzPts val="1980"/>
              <a:buChar char="•"/>
            </a:pPr>
            <a:r>
              <a:rPr lang="en-US"/>
              <a:t>Storage allocation</a:t>
            </a:r>
            <a:endParaRPr/>
          </a:p>
          <a:p>
            <a:pPr indent="-285750" lvl="1" marL="742950" rtl="0" algn="l">
              <a:spcBef>
                <a:spcPts val="630"/>
              </a:spcBef>
              <a:spcAft>
                <a:spcPts val="0"/>
              </a:spcAft>
              <a:buSzPts val="1980"/>
              <a:buChar char="•"/>
            </a:pPr>
            <a:r>
              <a:rPr lang="en-US"/>
              <a:t>Disk scheduling</a:t>
            </a:r>
            <a:endParaRPr/>
          </a:p>
          <a:p>
            <a:pPr indent="-285750" lvl="1" marL="742950" rtl="0" algn="l">
              <a:spcBef>
                <a:spcPts val="630"/>
              </a:spcBef>
              <a:spcAft>
                <a:spcPts val="0"/>
              </a:spcAft>
              <a:buSzPts val="1980"/>
              <a:buChar char="•"/>
            </a:pPr>
            <a:r>
              <a:rPr lang="en-US"/>
              <a:t>Partitioning</a:t>
            </a:r>
            <a:endParaRPr/>
          </a:p>
          <a:p>
            <a:pPr indent="-285750" lvl="1" marL="742950" rtl="0" algn="l">
              <a:spcBef>
                <a:spcPts val="630"/>
              </a:spcBef>
              <a:spcAft>
                <a:spcPts val="0"/>
              </a:spcAft>
              <a:buSzPts val="1980"/>
              <a:buChar char="•"/>
            </a:pPr>
            <a:r>
              <a:rPr lang="en-US"/>
              <a:t>Protection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1"/>
          <p:cNvSpPr txBox="1"/>
          <p:nvPr>
            <p:ph idx="4294967295" type="title"/>
          </p:nvPr>
        </p:nvSpPr>
        <p:spPr>
          <a:xfrm>
            <a:off x="457200" y="207963"/>
            <a:ext cx="801528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Caching</a:t>
            </a:r>
            <a:endParaRPr/>
          </a:p>
        </p:txBody>
      </p:sp>
      <p:sp>
        <p:nvSpPr>
          <p:cNvPr id="324" name="Google Shape;324;p41"/>
          <p:cNvSpPr txBox="1"/>
          <p:nvPr>
            <p:ph idx="4294967295" type="body"/>
          </p:nvPr>
        </p:nvSpPr>
        <p:spPr>
          <a:xfrm>
            <a:off x="820739" y="1233488"/>
            <a:ext cx="6826058" cy="472518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Important principle, performed at many levels in a computer (in hardware, operating system, software)</a:t>
            </a:r>
            <a:endParaRPr sz="800"/>
          </a:p>
          <a:p>
            <a:pPr indent="-342900" lvl="0" marL="342900" rtl="0" algn="l">
              <a:spcBef>
                <a:spcPts val="630"/>
              </a:spcBef>
              <a:spcAft>
                <a:spcPts val="0"/>
              </a:spcAft>
              <a:buSzPts val="1980"/>
              <a:buChar char="▪"/>
            </a:pPr>
            <a:r>
              <a:rPr lang="en-US"/>
              <a:t>Information in use copied from slower to faster storage temporarily</a:t>
            </a:r>
            <a:endParaRPr sz="800"/>
          </a:p>
          <a:p>
            <a:pPr indent="-342900" lvl="0" marL="342900" rtl="0" algn="l">
              <a:spcBef>
                <a:spcPts val="630"/>
              </a:spcBef>
              <a:spcAft>
                <a:spcPts val="0"/>
              </a:spcAft>
              <a:buSzPts val="1980"/>
              <a:buChar char="▪"/>
            </a:pPr>
            <a:r>
              <a:rPr lang="en-US"/>
              <a:t>Faster storage (cache) checked first to determine if information is there</a:t>
            </a:r>
            <a:endParaRPr/>
          </a:p>
          <a:p>
            <a:pPr indent="-285750" lvl="1" marL="742950" rtl="0" algn="l">
              <a:spcBef>
                <a:spcPts val="630"/>
              </a:spcBef>
              <a:spcAft>
                <a:spcPts val="0"/>
              </a:spcAft>
              <a:buSzPts val="1980"/>
              <a:buChar char="•"/>
            </a:pPr>
            <a:r>
              <a:rPr lang="en-US"/>
              <a:t>If it is, information used directly from the cache (fast)</a:t>
            </a:r>
            <a:endParaRPr/>
          </a:p>
          <a:p>
            <a:pPr indent="-285750" lvl="1" marL="742950" rtl="0" algn="l">
              <a:spcBef>
                <a:spcPts val="630"/>
              </a:spcBef>
              <a:spcAft>
                <a:spcPts val="0"/>
              </a:spcAft>
              <a:buSzPts val="1980"/>
              <a:buChar char="•"/>
            </a:pPr>
            <a:r>
              <a:rPr lang="en-US"/>
              <a:t>If not, data copied to cache and used there</a:t>
            </a:r>
            <a:endParaRPr sz="800"/>
          </a:p>
          <a:p>
            <a:pPr indent="-342900" lvl="0" marL="342900" rtl="0" algn="l">
              <a:spcBef>
                <a:spcPts val="630"/>
              </a:spcBef>
              <a:spcAft>
                <a:spcPts val="0"/>
              </a:spcAft>
              <a:buSzPts val="1980"/>
              <a:buChar char="▪"/>
            </a:pPr>
            <a:r>
              <a:rPr lang="en-US"/>
              <a:t>Cache smaller than storage being cached</a:t>
            </a:r>
            <a:endParaRPr/>
          </a:p>
          <a:p>
            <a:pPr indent="-285750" lvl="1" marL="742950" rtl="0" algn="l">
              <a:spcBef>
                <a:spcPts val="630"/>
              </a:spcBef>
              <a:spcAft>
                <a:spcPts val="0"/>
              </a:spcAft>
              <a:buSzPts val="1980"/>
              <a:buChar char="•"/>
            </a:pPr>
            <a:r>
              <a:rPr lang="en-US"/>
              <a:t>Cache management important design problem</a:t>
            </a:r>
            <a:endParaRPr/>
          </a:p>
          <a:p>
            <a:pPr indent="-285750" lvl="1" marL="742950" rtl="0" algn="l">
              <a:spcBef>
                <a:spcPts val="630"/>
              </a:spcBef>
              <a:spcAft>
                <a:spcPts val="0"/>
              </a:spcAft>
              <a:buSzPts val="1980"/>
              <a:buChar char="•"/>
            </a:pPr>
            <a:r>
              <a:rPr lang="en-US"/>
              <a:t>Cache size and replacement policy</a:t>
            </a:r>
            <a:endParaRPr/>
          </a:p>
          <a:p>
            <a:pPr indent="-342900" lvl="0" marL="342900" rtl="0" algn="l">
              <a:spcBef>
                <a:spcPts val="630"/>
              </a:spcBef>
              <a:spcAft>
                <a:spcPts val="0"/>
              </a:spcAft>
              <a:buSzPts val="1980"/>
              <a:buFont typeface="Arial"/>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idx="4294967295" type="title"/>
          </p:nvPr>
        </p:nvSpPr>
        <p:spPr>
          <a:xfrm>
            <a:off x="833438" y="145822"/>
            <a:ext cx="85312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Characteristics of Various Types of Storage</a:t>
            </a:r>
            <a:endParaRPr/>
          </a:p>
        </p:txBody>
      </p:sp>
      <p:sp>
        <p:nvSpPr>
          <p:cNvPr id="330" name="Google Shape;330;p42"/>
          <p:cNvSpPr txBox="1"/>
          <p:nvPr>
            <p:ph idx="4294967295" type="body"/>
          </p:nvPr>
        </p:nvSpPr>
        <p:spPr>
          <a:xfrm>
            <a:off x="806450" y="1233488"/>
            <a:ext cx="7707313" cy="4521200"/>
          </a:xfrm>
          <a:prstGeom prst="rect">
            <a:avLst/>
          </a:prstGeom>
          <a:noFill/>
          <a:ln>
            <a:noFill/>
          </a:ln>
        </p:spPr>
        <p:txBody>
          <a:bodyPr anchorCtr="0" anchor="t" bIns="45700" lIns="91425" spcFirstLastPara="1" rIns="91425" wrap="square" tIns="45700">
            <a:noAutofit/>
          </a:bodyPr>
          <a:lstStyle/>
          <a:p>
            <a:pPr indent="-217170" lvl="0" marL="342900" rtl="0" algn="l">
              <a:spcBef>
                <a:spcPts val="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0" lvl="0" marL="0" rtl="0" algn="l">
              <a:spcBef>
                <a:spcPts val="630"/>
              </a:spcBef>
              <a:spcAft>
                <a:spcPts val="0"/>
              </a:spcAft>
              <a:buSzPts val="1980"/>
              <a:buFont typeface="Arial"/>
              <a:buNone/>
            </a:pPr>
            <a:r>
              <a:t/>
            </a:r>
            <a:endParaRPr/>
          </a:p>
          <a:p>
            <a:pPr indent="-342900" lvl="0" marL="342900" rtl="0" algn="l">
              <a:spcBef>
                <a:spcPts val="630"/>
              </a:spcBef>
              <a:spcAft>
                <a:spcPts val="0"/>
              </a:spcAft>
              <a:buSzPts val="1980"/>
              <a:buFont typeface="Arial"/>
              <a:buNone/>
            </a:pPr>
            <a:r>
              <a:rPr lang="en-US"/>
              <a:t>    Movement between levels of storage hierarchy can be explicit or implicit</a:t>
            </a:r>
            <a:endParaRPr/>
          </a:p>
        </p:txBody>
      </p:sp>
      <p:pic>
        <p:nvPicPr>
          <p:cNvPr id="331" name="Google Shape;331;p42"/>
          <p:cNvPicPr preferRelativeResize="0"/>
          <p:nvPr/>
        </p:nvPicPr>
        <p:blipFill rotWithShape="1">
          <a:blip r:embed="rId3">
            <a:alphaModFix/>
          </a:blip>
          <a:srcRect b="0" l="0" r="0" t="0"/>
          <a:stretch/>
        </p:blipFill>
        <p:spPr>
          <a:xfrm>
            <a:off x="525463" y="1139825"/>
            <a:ext cx="8054975" cy="33813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idx="4294967295" type="title"/>
          </p:nvPr>
        </p:nvSpPr>
        <p:spPr>
          <a:xfrm>
            <a:off x="1265695" y="211138"/>
            <a:ext cx="7597321"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Migration of data “A” from Disk to Register</a:t>
            </a:r>
            <a:endParaRPr/>
          </a:p>
        </p:txBody>
      </p:sp>
      <p:sp>
        <p:nvSpPr>
          <p:cNvPr id="337" name="Google Shape;337;p43"/>
          <p:cNvSpPr txBox="1"/>
          <p:nvPr>
            <p:ph idx="4294967295" type="body"/>
          </p:nvPr>
        </p:nvSpPr>
        <p:spPr>
          <a:xfrm>
            <a:off x="806450" y="1233488"/>
            <a:ext cx="7597321" cy="450328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Multitasking environments must be careful to use most recent value, no matter where it is stored in the storage hierarchy</a:t>
            </a:r>
            <a:br>
              <a:rPr lang="en-US"/>
            </a:br>
            <a:br>
              <a:rPr lang="en-US"/>
            </a:br>
            <a:br>
              <a:rPr lang="en-US"/>
            </a:br>
            <a:br>
              <a:rPr lang="en-US"/>
            </a:br>
            <a:endParaRPr/>
          </a:p>
          <a:p>
            <a:pPr indent="-342900" lvl="0" marL="342900" rtl="0" algn="l">
              <a:spcBef>
                <a:spcPts val="630"/>
              </a:spcBef>
              <a:spcAft>
                <a:spcPts val="0"/>
              </a:spcAft>
              <a:buSzPts val="1980"/>
              <a:buChar char="▪"/>
            </a:pPr>
            <a:r>
              <a:rPr lang="en-US"/>
              <a:t>Multiprocessor environment must provide </a:t>
            </a:r>
            <a:r>
              <a:rPr b="1" lang="en-US">
                <a:solidFill>
                  <a:srgbClr val="006699"/>
                </a:solidFill>
                <a:latin typeface="Arial"/>
                <a:ea typeface="Arial"/>
                <a:cs typeface="Arial"/>
                <a:sym typeface="Arial"/>
              </a:rPr>
              <a:t>cache coherency </a:t>
            </a:r>
            <a:r>
              <a:rPr lang="en-US"/>
              <a:t>in hardware such that all CPUs have the most recent value in their cache</a:t>
            </a:r>
            <a:endParaRPr sz="800"/>
          </a:p>
          <a:p>
            <a:pPr indent="-342900" lvl="0" marL="342900" rtl="0" algn="l">
              <a:spcBef>
                <a:spcPts val="630"/>
              </a:spcBef>
              <a:spcAft>
                <a:spcPts val="0"/>
              </a:spcAft>
              <a:buSzPts val="1980"/>
              <a:buChar char="▪"/>
            </a:pPr>
            <a:r>
              <a:rPr lang="en-US"/>
              <a:t>Distributed environment situation even more complex</a:t>
            </a:r>
            <a:endParaRPr/>
          </a:p>
          <a:p>
            <a:pPr indent="-285750" lvl="1" marL="742950" rtl="0" algn="l">
              <a:spcBef>
                <a:spcPts val="630"/>
              </a:spcBef>
              <a:spcAft>
                <a:spcPts val="0"/>
              </a:spcAft>
              <a:buSzPts val="1980"/>
              <a:buChar char="•"/>
            </a:pPr>
            <a:r>
              <a:rPr lang="en-US"/>
              <a:t>Several copies of a datum can exist</a:t>
            </a:r>
            <a:endParaRPr/>
          </a:p>
          <a:p>
            <a:pPr indent="-285750" lvl="1" marL="742950" rtl="0" algn="l">
              <a:spcBef>
                <a:spcPts val="630"/>
              </a:spcBef>
              <a:spcAft>
                <a:spcPts val="0"/>
              </a:spcAft>
              <a:buSzPts val="1980"/>
              <a:buChar char="•"/>
            </a:pPr>
            <a:r>
              <a:rPr lang="en-US"/>
              <a:t>Various solutions covered in Chapter 19</a:t>
            </a:r>
            <a:endParaRPr/>
          </a:p>
        </p:txBody>
      </p:sp>
      <p:pic>
        <p:nvPicPr>
          <p:cNvPr id="338" name="Google Shape;338;p43"/>
          <p:cNvPicPr preferRelativeResize="0"/>
          <p:nvPr/>
        </p:nvPicPr>
        <p:blipFill rotWithShape="1">
          <a:blip r:embed="rId3">
            <a:alphaModFix/>
          </a:blip>
          <a:srcRect b="0" l="0" r="0" t="0"/>
          <a:stretch/>
        </p:blipFill>
        <p:spPr>
          <a:xfrm>
            <a:off x="2090056" y="2135010"/>
            <a:ext cx="5477102" cy="67168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idx="4294967295" type="title"/>
          </p:nvPr>
        </p:nvSpPr>
        <p:spPr>
          <a:xfrm>
            <a:off x="457200" y="214313"/>
            <a:ext cx="80518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I/O Subsystem</a:t>
            </a:r>
            <a:endParaRPr/>
          </a:p>
        </p:txBody>
      </p:sp>
      <p:sp>
        <p:nvSpPr>
          <p:cNvPr id="344" name="Google Shape;344;p44"/>
          <p:cNvSpPr txBox="1"/>
          <p:nvPr>
            <p:ph idx="4294967295" type="body"/>
          </p:nvPr>
        </p:nvSpPr>
        <p:spPr>
          <a:xfrm>
            <a:off x="822325" y="1169988"/>
            <a:ext cx="7686675"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One purpose of OS is to hide peculiarities of hardware devices from the user</a:t>
            </a:r>
            <a:endParaRPr/>
          </a:p>
          <a:p>
            <a:pPr indent="-342900" lvl="0" marL="342900" rtl="0" algn="l">
              <a:spcBef>
                <a:spcPts val="630"/>
              </a:spcBef>
              <a:spcAft>
                <a:spcPts val="0"/>
              </a:spcAft>
              <a:buSzPts val="1980"/>
              <a:buChar char="▪"/>
            </a:pPr>
            <a:r>
              <a:rPr lang="en-US"/>
              <a:t>I/O subsystem responsible for</a:t>
            </a:r>
            <a:endParaRPr/>
          </a:p>
          <a:p>
            <a:pPr indent="-285750" lvl="1" marL="742950" rtl="0" algn="l">
              <a:spcBef>
                <a:spcPts val="630"/>
              </a:spcBef>
              <a:spcAft>
                <a:spcPts val="0"/>
              </a:spcAft>
              <a:buSzPts val="1980"/>
              <a:buChar char="•"/>
            </a:pPr>
            <a:r>
              <a:rPr lang="en-US"/>
              <a:t>Memory management of I/O including buffering (storing data temporarily while it is being transferred), caching (storing parts of data in faster storage for performance), spooling (the overlapping of output of one job with input of other jobs)</a:t>
            </a:r>
            <a:endParaRPr/>
          </a:p>
          <a:p>
            <a:pPr indent="-285750" lvl="1" marL="742950" rtl="0" algn="l">
              <a:spcBef>
                <a:spcPts val="630"/>
              </a:spcBef>
              <a:spcAft>
                <a:spcPts val="0"/>
              </a:spcAft>
              <a:buSzPts val="1980"/>
              <a:buChar char="•"/>
            </a:pPr>
            <a:r>
              <a:rPr lang="en-US"/>
              <a:t>General device-driver interface</a:t>
            </a:r>
            <a:endParaRPr/>
          </a:p>
          <a:p>
            <a:pPr indent="-285750" lvl="1" marL="742950" rtl="0" algn="l">
              <a:spcBef>
                <a:spcPts val="630"/>
              </a:spcBef>
              <a:spcAft>
                <a:spcPts val="0"/>
              </a:spcAft>
              <a:buSzPts val="1980"/>
              <a:buChar char="•"/>
            </a:pPr>
            <a:r>
              <a:rPr lang="en-US"/>
              <a:t>Drivers for specific hardware devices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idx="4294967295" type="title"/>
          </p:nvPr>
        </p:nvSpPr>
        <p:spPr>
          <a:xfrm>
            <a:off x="1022350" y="220663"/>
            <a:ext cx="75152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Protection and Security</a:t>
            </a:r>
            <a:endParaRPr/>
          </a:p>
        </p:txBody>
      </p:sp>
      <p:sp>
        <p:nvSpPr>
          <p:cNvPr id="350" name="Google Shape;350;p45"/>
          <p:cNvSpPr txBox="1"/>
          <p:nvPr>
            <p:ph idx="4294967295" type="body"/>
          </p:nvPr>
        </p:nvSpPr>
        <p:spPr>
          <a:xfrm>
            <a:off x="806450" y="1233488"/>
            <a:ext cx="7648575" cy="518318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Char char="▪"/>
            </a:pPr>
            <a:r>
              <a:rPr b="1" lang="en-US">
                <a:solidFill>
                  <a:srgbClr val="006699"/>
                </a:solidFill>
                <a:latin typeface="Arial"/>
                <a:ea typeface="Arial"/>
                <a:cs typeface="Arial"/>
                <a:sym typeface="Arial"/>
              </a:rPr>
              <a:t>Protection</a:t>
            </a:r>
            <a:r>
              <a:rPr b="1" lang="en-US">
                <a:solidFill>
                  <a:srgbClr val="3366FF"/>
                </a:solidFill>
              </a:rPr>
              <a:t> </a:t>
            </a:r>
            <a:r>
              <a:rPr lang="en-US"/>
              <a:t>– any mechanism for controlling access of processes or users to resources defined by the OS</a:t>
            </a:r>
            <a:endParaRPr sz="800"/>
          </a:p>
          <a:p>
            <a:pPr indent="-342900" lvl="0" marL="34290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Security</a:t>
            </a:r>
            <a:r>
              <a:rPr b="1" lang="en-US">
                <a:solidFill>
                  <a:srgbClr val="3366FF"/>
                </a:solidFill>
              </a:rPr>
              <a:t> </a:t>
            </a:r>
            <a:r>
              <a:rPr lang="en-US"/>
              <a:t>– defense of the system against internal and external attacks</a:t>
            </a:r>
            <a:endParaRPr/>
          </a:p>
          <a:p>
            <a:pPr indent="-285750" lvl="1" marL="742950" rtl="0" algn="l">
              <a:lnSpc>
                <a:spcPct val="90000"/>
              </a:lnSpc>
              <a:spcBef>
                <a:spcPts val="630"/>
              </a:spcBef>
              <a:spcAft>
                <a:spcPts val="0"/>
              </a:spcAft>
              <a:buSzPts val="1980"/>
              <a:buChar char="•"/>
            </a:pPr>
            <a:r>
              <a:rPr lang="en-US"/>
              <a:t>Huge range, including denial-of-service, worms, viruses, identity theft, theft of service</a:t>
            </a:r>
            <a:endParaRPr sz="800"/>
          </a:p>
          <a:p>
            <a:pPr indent="-342900" lvl="0" marL="342900" rtl="0" algn="l">
              <a:lnSpc>
                <a:spcPct val="90000"/>
              </a:lnSpc>
              <a:spcBef>
                <a:spcPts val="630"/>
              </a:spcBef>
              <a:spcAft>
                <a:spcPts val="0"/>
              </a:spcAft>
              <a:buSzPts val="1980"/>
              <a:buChar char="▪"/>
            </a:pPr>
            <a:r>
              <a:rPr lang="en-US"/>
              <a:t>Systems generally first distinguish among users, to determine who can do what</a:t>
            </a:r>
            <a:endParaRPr/>
          </a:p>
          <a:p>
            <a:pPr indent="-285750" lvl="1" marL="742950" rtl="0" algn="l">
              <a:lnSpc>
                <a:spcPct val="90000"/>
              </a:lnSpc>
              <a:spcBef>
                <a:spcPts val="630"/>
              </a:spcBef>
              <a:spcAft>
                <a:spcPts val="0"/>
              </a:spcAft>
              <a:buSzPts val="1980"/>
              <a:buChar char="•"/>
            </a:pPr>
            <a:r>
              <a:rPr lang="en-US"/>
              <a:t>User identities (</a:t>
            </a:r>
            <a:r>
              <a:rPr b="1" lang="en-US">
                <a:solidFill>
                  <a:srgbClr val="006699"/>
                </a:solidFill>
                <a:latin typeface="Arial"/>
                <a:ea typeface="Arial"/>
                <a:cs typeface="Arial"/>
                <a:sym typeface="Arial"/>
              </a:rPr>
              <a:t>user IDs</a:t>
            </a:r>
            <a:r>
              <a:rPr lang="en-US"/>
              <a:t>, security IDs) include name and associated number, one per user</a:t>
            </a:r>
            <a:endParaRPr/>
          </a:p>
          <a:p>
            <a:pPr indent="-285750" lvl="1" marL="742950" rtl="0" algn="l">
              <a:lnSpc>
                <a:spcPct val="90000"/>
              </a:lnSpc>
              <a:spcBef>
                <a:spcPts val="630"/>
              </a:spcBef>
              <a:spcAft>
                <a:spcPts val="0"/>
              </a:spcAft>
              <a:buSzPts val="1980"/>
              <a:buChar char="•"/>
            </a:pPr>
            <a:r>
              <a:rPr lang="en-US"/>
              <a:t>User ID then associated with all files, processes of that user to determine access control</a:t>
            </a:r>
            <a:endParaRPr/>
          </a:p>
          <a:p>
            <a:pPr indent="-285750" lvl="1" marL="742950" rtl="0" algn="l">
              <a:lnSpc>
                <a:spcPct val="90000"/>
              </a:lnSpc>
              <a:spcBef>
                <a:spcPts val="630"/>
              </a:spcBef>
              <a:spcAft>
                <a:spcPts val="0"/>
              </a:spcAft>
              <a:buSzPts val="1980"/>
              <a:buChar char="•"/>
            </a:pPr>
            <a:r>
              <a:rPr lang="en-US"/>
              <a:t>Group identifier (</a:t>
            </a:r>
            <a:r>
              <a:rPr b="1" lang="en-US">
                <a:solidFill>
                  <a:srgbClr val="006699"/>
                </a:solidFill>
                <a:latin typeface="Arial"/>
                <a:ea typeface="Arial"/>
                <a:cs typeface="Arial"/>
                <a:sym typeface="Arial"/>
              </a:rPr>
              <a:t>group ID</a:t>
            </a:r>
            <a:r>
              <a:rPr lang="en-US"/>
              <a:t>) allows set of users to be defined and controls managed, then also associated with each process, file</a:t>
            </a:r>
            <a:endParaRPr/>
          </a:p>
          <a:p>
            <a:pPr indent="-285750" lvl="1" marL="742950" rtl="0" algn="l">
              <a:lnSpc>
                <a:spcPct val="90000"/>
              </a:lnSpc>
              <a:spcBef>
                <a:spcPts val="630"/>
              </a:spcBef>
              <a:spcAft>
                <a:spcPts val="0"/>
              </a:spcAft>
              <a:buSzPts val="1980"/>
              <a:buChar char="•"/>
            </a:pPr>
            <a:r>
              <a:rPr b="1" lang="en-US">
                <a:solidFill>
                  <a:srgbClr val="006699"/>
                </a:solidFill>
                <a:latin typeface="Arial"/>
                <a:ea typeface="Arial"/>
                <a:cs typeface="Arial"/>
                <a:sym typeface="Arial"/>
              </a:rPr>
              <a:t>Privilege escalation </a:t>
            </a:r>
            <a:r>
              <a:rPr lang="en-US"/>
              <a:t>allows user to change to effective ID with more rights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6"/>
          <p:cNvSpPr txBox="1"/>
          <p:nvPr>
            <p:ph idx="4294967295" type="title"/>
          </p:nvPr>
        </p:nvSpPr>
        <p:spPr>
          <a:xfrm>
            <a:off x="1268413" y="204788"/>
            <a:ext cx="71945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Virtualization</a:t>
            </a:r>
            <a:endParaRPr/>
          </a:p>
        </p:txBody>
      </p:sp>
      <p:sp>
        <p:nvSpPr>
          <p:cNvPr id="356" name="Google Shape;356;p46"/>
          <p:cNvSpPr txBox="1"/>
          <p:nvPr>
            <p:ph idx="4294967295" type="body"/>
          </p:nvPr>
        </p:nvSpPr>
        <p:spPr>
          <a:xfrm>
            <a:off x="806450" y="1233488"/>
            <a:ext cx="774065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Allows operating systems to run applications within other OSes</a:t>
            </a:r>
            <a:endParaRPr/>
          </a:p>
          <a:p>
            <a:pPr indent="-285750" lvl="1" marL="742950" rtl="0" algn="l">
              <a:spcBef>
                <a:spcPts val="630"/>
              </a:spcBef>
              <a:spcAft>
                <a:spcPts val="0"/>
              </a:spcAft>
              <a:buSzPts val="1980"/>
              <a:buChar char="•"/>
            </a:pPr>
            <a:r>
              <a:rPr lang="en-US"/>
              <a:t>Vast and growing industry</a:t>
            </a:r>
            <a:endParaRPr sz="800"/>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Emulation</a:t>
            </a:r>
            <a:r>
              <a:rPr lang="en-US"/>
              <a:t> used when source CPU type different from target type (i.e. PowerPC to Intel x86)</a:t>
            </a:r>
            <a:endParaRPr/>
          </a:p>
          <a:p>
            <a:pPr indent="-285750" lvl="1" marL="742950" rtl="0" algn="l">
              <a:spcBef>
                <a:spcPts val="630"/>
              </a:spcBef>
              <a:spcAft>
                <a:spcPts val="0"/>
              </a:spcAft>
              <a:buSzPts val="1980"/>
              <a:buChar char="•"/>
            </a:pPr>
            <a:r>
              <a:rPr lang="en-US"/>
              <a:t>Generally slowest method</a:t>
            </a:r>
            <a:endParaRPr/>
          </a:p>
          <a:p>
            <a:pPr indent="-285750" lvl="1" marL="742950" rtl="0" algn="l">
              <a:spcBef>
                <a:spcPts val="630"/>
              </a:spcBef>
              <a:spcAft>
                <a:spcPts val="0"/>
              </a:spcAft>
              <a:buSzPts val="1980"/>
              <a:buChar char="•"/>
            </a:pPr>
            <a:r>
              <a:rPr lang="en-US"/>
              <a:t>When computer language not compiled to native code – </a:t>
            </a:r>
            <a:r>
              <a:rPr b="1" lang="en-US">
                <a:solidFill>
                  <a:srgbClr val="006699"/>
                </a:solidFill>
                <a:latin typeface="Arial"/>
                <a:ea typeface="Arial"/>
                <a:cs typeface="Arial"/>
                <a:sym typeface="Arial"/>
              </a:rPr>
              <a:t>Interpretation</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Virtualization</a:t>
            </a:r>
            <a:r>
              <a:rPr lang="en-US"/>
              <a:t> – OS natively compiled for CPU, running </a:t>
            </a:r>
            <a:r>
              <a:rPr b="1" lang="en-US">
                <a:solidFill>
                  <a:srgbClr val="006699"/>
                </a:solidFill>
                <a:latin typeface="Arial"/>
                <a:ea typeface="Arial"/>
                <a:cs typeface="Arial"/>
                <a:sym typeface="Arial"/>
              </a:rPr>
              <a:t>guest</a:t>
            </a:r>
            <a:r>
              <a:rPr lang="en-US"/>
              <a:t> OSes  also natively compiled </a:t>
            </a:r>
            <a:endParaRPr/>
          </a:p>
          <a:p>
            <a:pPr indent="-285750" lvl="1" marL="742950" rtl="0" algn="l">
              <a:spcBef>
                <a:spcPts val="630"/>
              </a:spcBef>
              <a:spcAft>
                <a:spcPts val="0"/>
              </a:spcAft>
              <a:buSzPts val="1980"/>
              <a:buChar char="•"/>
            </a:pPr>
            <a:r>
              <a:rPr lang="en-US"/>
              <a:t>Consider VMware running WinXP guests, each running applications, all on native WinXP </a:t>
            </a:r>
            <a:r>
              <a:rPr b="1" lang="en-US">
                <a:solidFill>
                  <a:srgbClr val="006699"/>
                </a:solidFill>
                <a:latin typeface="Arial"/>
                <a:ea typeface="Arial"/>
                <a:cs typeface="Arial"/>
                <a:sym typeface="Arial"/>
              </a:rPr>
              <a:t>host </a:t>
            </a:r>
            <a:r>
              <a:rPr lang="en-US"/>
              <a:t>OS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VMM</a:t>
            </a:r>
            <a:r>
              <a:rPr lang="en-US"/>
              <a:t> (virtual machine Manager) provides virtualization services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7"/>
          <p:cNvSpPr txBox="1"/>
          <p:nvPr>
            <p:ph idx="4294967295" type="title"/>
          </p:nvPr>
        </p:nvSpPr>
        <p:spPr>
          <a:xfrm>
            <a:off x="1117600" y="206375"/>
            <a:ext cx="740092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Virtualization (cont.)</a:t>
            </a:r>
            <a:endParaRPr/>
          </a:p>
        </p:txBody>
      </p:sp>
      <p:sp>
        <p:nvSpPr>
          <p:cNvPr id="362" name="Google Shape;362;p47"/>
          <p:cNvSpPr txBox="1"/>
          <p:nvPr>
            <p:ph idx="4294967295" type="body"/>
          </p:nvPr>
        </p:nvSpPr>
        <p:spPr>
          <a:xfrm>
            <a:off x="806450" y="1233488"/>
            <a:ext cx="7712075"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Use cases involve laptops and desktops running multiple OSes for exploration or compatibility</a:t>
            </a:r>
            <a:endParaRPr/>
          </a:p>
          <a:p>
            <a:pPr indent="-285750" lvl="1" marL="742950" rtl="0" algn="l">
              <a:spcBef>
                <a:spcPts val="630"/>
              </a:spcBef>
              <a:spcAft>
                <a:spcPts val="0"/>
              </a:spcAft>
              <a:buSzPts val="1980"/>
              <a:buChar char="•"/>
            </a:pPr>
            <a:r>
              <a:rPr lang="en-US"/>
              <a:t>Apple laptop running Mac OS X host, Windows as a guest</a:t>
            </a:r>
            <a:endParaRPr/>
          </a:p>
          <a:p>
            <a:pPr indent="-285750" lvl="1" marL="742950" rtl="0" algn="l">
              <a:spcBef>
                <a:spcPts val="630"/>
              </a:spcBef>
              <a:spcAft>
                <a:spcPts val="0"/>
              </a:spcAft>
              <a:buSzPts val="1980"/>
              <a:buChar char="•"/>
            </a:pPr>
            <a:r>
              <a:rPr lang="en-US"/>
              <a:t>Developing apps for multiple OSes without having multiple systems</a:t>
            </a:r>
            <a:endParaRPr/>
          </a:p>
          <a:p>
            <a:pPr indent="-285750" lvl="1" marL="742950" rtl="0" algn="l">
              <a:spcBef>
                <a:spcPts val="630"/>
              </a:spcBef>
              <a:spcAft>
                <a:spcPts val="0"/>
              </a:spcAft>
              <a:buSzPts val="1980"/>
              <a:buChar char="•"/>
            </a:pPr>
            <a:r>
              <a:rPr lang="en-US"/>
              <a:t>Quality assurance testing applications without having multiple systems</a:t>
            </a:r>
            <a:endParaRPr/>
          </a:p>
          <a:p>
            <a:pPr indent="-285750" lvl="1" marL="742950" rtl="0" algn="l">
              <a:spcBef>
                <a:spcPts val="630"/>
              </a:spcBef>
              <a:spcAft>
                <a:spcPts val="0"/>
              </a:spcAft>
              <a:buSzPts val="1980"/>
              <a:buChar char="•"/>
            </a:pPr>
            <a:r>
              <a:rPr lang="en-US"/>
              <a:t>Executing and managing compute environments within data centers</a:t>
            </a:r>
            <a:endParaRPr/>
          </a:p>
          <a:p>
            <a:pPr indent="-342900" lvl="0" marL="342900" rtl="0" algn="l">
              <a:spcBef>
                <a:spcPts val="630"/>
              </a:spcBef>
              <a:spcAft>
                <a:spcPts val="0"/>
              </a:spcAft>
              <a:buSzPts val="1980"/>
              <a:buChar char="▪"/>
            </a:pPr>
            <a:r>
              <a:rPr lang="en-US"/>
              <a:t>VMM can run natively, in which case they are also the host</a:t>
            </a:r>
            <a:endParaRPr/>
          </a:p>
          <a:p>
            <a:pPr indent="-285750" lvl="1" marL="742950" rtl="0" algn="l">
              <a:spcBef>
                <a:spcPts val="630"/>
              </a:spcBef>
              <a:spcAft>
                <a:spcPts val="0"/>
              </a:spcAft>
              <a:buSzPts val="1980"/>
              <a:buChar char="•"/>
            </a:pPr>
            <a:r>
              <a:rPr lang="en-US"/>
              <a:t>There is no general-purpose host then (VMware ESX and Citrix XenServer)</a:t>
            </a:r>
            <a:endParaRPr/>
          </a:p>
          <a:p>
            <a:pPr indent="-142875" lvl="2" marL="1085850" rtl="0" algn="l">
              <a:spcBef>
                <a:spcPts val="630"/>
              </a:spcBef>
              <a:spcAft>
                <a:spcPts val="0"/>
              </a:spcAft>
              <a:buSzPts val="135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8"/>
          <p:cNvSpPr txBox="1"/>
          <p:nvPr>
            <p:ph idx="4294967295" type="title"/>
          </p:nvPr>
        </p:nvSpPr>
        <p:spPr>
          <a:xfrm>
            <a:off x="1120775" y="192088"/>
            <a:ext cx="7645400" cy="6016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000"/>
              <a:t>Computing Environments - Virtualization</a:t>
            </a:r>
            <a:endParaRPr/>
          </a:p>
        </p:txBody>
      </p:sp>
      <p:pic>
        <p:nvPicPr>
          <p:cNvPr descr="1_20.pdf" id="368" name="Google Shape;368;p48"/>
          <p:cNvPicPr preferRelativeResize="0"/>
          <p:nvPr/>
        </p:nvPicPr>
        <p:blipFill rotWithShape="1">
          <a:blip r:embed="rId3">
            <a:alphaModFix/>
          </a:blip>
          <a:srcRect b="0" l="0" r="0" t="0"/>
          <a:stretch/>
        </p:blipFill>
        <p:spPr>
          <a:xfrm>
            <a:off x="1408113" y="1554163"/>
            <a:ext cx="6396037" cy="433863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9"/>
          <p:cNvSpPr txBox="1"/>
          <p:nvPr>
            <p:ph idx="4294967295" type="title"/>
          </p:nvPr>
        </p:nvSpPr>
        <p:spPr>
          <a:xfrm>
            <a:off x="912813" y="207963"/>
            <a:ext cx="76533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Distributed Systems</a:t>
            </a:r>
            <a:endParaRPr/>
          </a:p>
        </p:txBody>
      </p:sp>
      <p:sp>
        <p:nvSpPr>
          <p:cNvPr id="374" name="Google Shape;374;p49"/>
          <p:cNvSpPr txBox="1"/>
          <p:nvPr>
            <p:ph idx="4294967295" type="body"/>
          </p:nvPr>
        </p:nvSpPr>
        <p:spPr>
          <a:xfrm>
            <a:off x="838200" y="1092200"/>
            <a:ext cx="7653338"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Collection of separate, possibly heterogeneous, systems networked together</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Network</a:t>
            </a:r>
            <a:r>
              <a:rPr lang="en-US"/>
              <a:t> is a communications path, </a:t>
            </a:r>
            <a:r>
              <a:rPr b="1" lang="en-US">
                <a:solidFill>
                  <a:srgbClr val="006699"/>
                </a:solidFill>
                <a:latin typeface="Arial"/>
                <a:ea typeface="Arial"/>
                <a:cs typeface="Arial"/>
                <a:sym typeface="Arial"/>
              </a:rPr>
              <a:t>TCP/IP </a:t>
            </a:r>
            <a:r>
              <a:rPr lang="en-US"/>
              <a:t>most common</a:t>
            </a:r>
            <a:endParaRPr/>
          </a:p>
          <a:p>
            <a:pPr indent="-228600" lvl="2" marL="1085850" rtl="0" algn="l">
              <a:spcBef>
                <a:spcPts val="630"/>
              </a:spcBef>
              <a:spcAft>
                <a:spcPts val="0"/>
              </a:spcAft>
              <a:buSzPts val="1350"/>
              <a:buChar char="4"/>
            </a:pPr>
            <a:r>
              <a:rPr b="1" lang="en-US">
                <a:solidFill>
                  <a:srgbClr val="006699"/>
                </a:solidFill>
                <a:latin typeface="Arial"/>
                <a:ea typeface="Arial"/>
                <a:cs typeface="Arial"/>
                <a:sym typeface="Arial"/>
              </a:rPr>
              <a:t>Local Area Network </a:t>
            </a:r>
            <a:r>
              <a:rPr lang="en-US"/>
              <a:t>(</a:t>
            </a:r>
            <a:r>
              <a:rPr b="1" lang="en-US">
                <a:solidFill>
                  <a:srgbClr val="006699"/>
                </a:solidFill>
                <a:latin typeface="Arial"/>
                <a:ea typeface="Arial"/>
                <a:cs typeface="Arial"/>
                <a:sym typeface="Arial"/>
              </a:rPr>
              <a:t>LAN</a:t>
            </a:r>
            <a:r>
              <a:rPr lang="en-US"/>
              <a:t>)</a:t>
            </a:r>
            <a:endParaRPr/>
          </a:p>
          <a:p>
            <a:pPr indent="-228600" lvl="2" marL="1085850" rtl="0" algn="l">
              <a:spcBef>
                <a:spcPts val="630"/>
              </a:spcBef>
              <a:spcAft>
                <a:spcPts val="0"/>
              </a:spcAft>
              <a:buSzPts val="1350"/>
              <a:buChar char="4"/>
            </a:pPr>
            <a:r>
              <a:rPr b="1" lang="en-US">
                <a:solidFill>
                  <a:srgbClr val="006699"/>
                </a:solidFill>
                <a:latin typeface="Arial"/>
                <a:ea typeface="Arial"/>
                <a:cs typeface="Arial"/>
                <a:sym typeface="Arial"/>
              </a:rPr>
              <a:t>Wide Area Network </a:t>
            </a:r>
            <a:r>
              <a:rPr lang="en-US"/>
              <a:t>(</a:t>
            </a:r>
            <a:r>
              <a:rPr b="1" lang="en-US">
                <a:solidFill>
                  <a:srgbClr val="006699"/>
                </a:solidFill>
                <a:latin typeface="Arial"/>
                <a:ea typeface="Arial"/>
                <a:cs typeface="Arial"/>
                <a:sym typeface="Arial"/>
              </a:rPr>
              <a:t>WAN</a:t>
            </a:r>
            <a:r>
              <a:rPr lang="en-US"/>
              <a:t>)</a:t>
            </a:r>
            <a:endParaRPr/>
          </a:p>
          <a:p>
            <a:pPr indent="-228600" lvl="2" marL="1085850" rtl="0" algn="l">
              <a:spcBef>
                <a:spcPts val="630"/>
              </a:spcBef>
              <a:spcAft>
                <a:spcPts val="0"/>
              </a:spcAft>
              <a:buSzPts val="1350"/>
              <a:buChar char="4"/>
            </a:pPr>
            <a:r>
              <a:rPr b="1" lang="en-US">
                <a:solidFill>
                  <a:srgbClr val="006699"/>
                </a:solidFill>
                <a:latin typeface="Arial"/>
                <a:ea typeface="Arial"/>
                <a:cs typeface="Arial"/>
                <a:sym typeface="Arial"/>
              </a:rPr>
              <a:t>Metropolitan Area Network </a:t>
            </a:r>
            <a:r>
              <a:rPr lang="en-US"/>
              <a:t>(</a:t>
            </a:r>
            <a:r>
              <a:rPr b="1" lang="en-US">
                <a:solidFill>
                  <a:srgbClr val="006699"/>
                </a:solidFill>
                <a:latin typeface="Arial"/>
                <a:ea typeface="Arial"/>
                <a:cs typeface="Arial"/>
                <a:sym typeface="Arial"/>
              </a:rPr>
              <a:t>MAN</a:t>
            </a:r>
            <a:r>
              <a:rPr lang="en-US"/>
              <a:t>)</a:t>
            </a:r>
            <a:endParaRPr/>
          </a:p>
          <a:p>
            <a:pPr indent="-228600" lvl="2" marL="1085850" rtl="0" algn="l">
              <a:spcBef>
                <a:spcPts val="630"/>
              </a:spcBef>
              <a:spcAft>
                <a:spcPts val="0"/>
              </a:spcAft>
              <a:buSzPts val="1350"/>
              <a:buChar char="4"/>
            </a:pPr>
            <a:r>
              <a:rPr b="1" lang="en-US">
                <a:solidFill>
                  <a:srgbClr val="006699"/>
                </a:solidFill>
                <a:latin typeface="Arial"/>
                <a:ea typeface="Arial"/>
                <a:cs typeface="Arial"/>
                <a:sym typeface="Arial"/>
              </a:rPr>
              <a:t>Personal Area Network </a:t>
            </a:r>
            <a:r>
              <a:rPr lang="en-US"/>
              <a:t>(</a:t>
            </a:r>
            <a:r>
              <a:rPr b="1" lang="en-US">
                <a:solidFill>
                  <a:srgbClr val="006699"/>
                </a:solidFill>
                <a:latin typeface="Arial"/>
                <a:ea typeface="Arial"/>
                <a:cs typeface="Arial"/>
                <a:sym typeface="Arial"/>
              </a:rPr>
              <a:t>PAN</a:t>
            </a:r>
            <a:r>
              <a:rPr lang="en-US"/>
              <a:t>)</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Network Operating System </a:t>
            </a:r>
            <a:r>
              <a:rPr lang="en-US"/>
              <a:t>provides features between systems across network</a:t>
            </a:r>
            <a:endParaRPr/>
          </a:p>
          <a:p>
            <a:pPr indent="-285750" lvl="1" marL="742950" rtl="0" algn="l">
              <a:spcBef>
                <a:spcPts val="630"/>
              </a:spcBef>
              <a:spcAft>
                <a:spcPts val="0"/>
              </a:spcAft>
              <a:buSzPts val="1980"/>
              <a:buChar char="•"/>
            </a:pPr>
            <a:r>
              <a:rPr lang="en-US"/>
              <a:t>Communication scheme allows systems to exchange messages</a:t>
            </a:r>
            <a:endParaRPr/>
          </a:p>
          <a:p>
            <a:pPr indent="-285750" lvl="1" marL="742950" rtl="0" algn="l">
              <a:spcBef>
                <a:spcPts val="630"/>
              </a:spcBef>
              <a:spcAft>
                <a:spcPts val="0"/>
              </a:spcAft>
              <a:buSzPts val="1980"/>
              <a:buChar char="•"/>
            </a:pPr>
            <a:r>
              <a:rPr lang="en-US"/>
              <a:t>Illusion of a single system</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0"/>
          <p:cNvSpPr txBox="1"/>
          <p:nvPr>
            <p:ph idx="4294967295" type="body"/>
          </p:nvPr>
        </p:nvSpPr>
        <p:spPr>
          <a:xfrm>
            <a:off x="1676400" y="2888119"/>
            <a:ext cx="6660776" cy="1030738"/>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3520"/>
              <a:buNone/>
            </a:pPr>
            <a:r>
              <a:rPr b="1" lang="en-US" sz="3200">
                <a:solidFill>
                  <a:srgbClr val="006699"/>
                </a:solidFill>
                <a:latin typeface="Arial"/>
                <a:ea typeface="Arial"/>
                <a:cs typeface="Arial"/>
                <a:sym typeface="Arial"/>
              </a:rPr>
              <a:t>Computer System Architecture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1"/>
          <p:cNvSpPr txBox="1"/>
          <p:nvPr>
            <p:ph idx="4294967295" type="title"/>
          </p:nvPr>
        </p:nvSpPr>
        <p:spPr>
          <a:xfrm>
            <a:off x="1100138" y="227013"/>
            <a:ext cx="7399337" cy="558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Computer-System Architecture</a:t>
            </a:r>
            <a:endParaRPr/>
          </a:p>
        </p:txBody>
      </p:sp>
      <p:sp>
        <p:nvSpPr>
          <p:cNvPr id="385" name="Google Shape;385;p51"/>
          <p:cNvSpPr txBox="1"/>
          <p:nvPr>
            <p:ph idx="4294967295" type="body"/>
          </p:nvPr>
        </p:nvSpPr>
        <p:spPr>
          <a:xfrm>
            <a:off x="806450" y="1233488"/>
            <a:ext cx="7693025" cy="48672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Most systems use a single general-purpose processor</a:t>
            </a:r>
            <a:endParaRPr/>
          </a:p>
          <a:p>
            <a:pPr indent="-285750" lvl="1" marL="742950" rtl="0" algn="l">
              <a:spcBef>
                <a:spcPts val="630"/>
              </a:spcBef>
              <a:spcAft>
                <a:spcPts val="0"/>
              </a:spcAft>
              <a:buSzPts val="1980"/>
              <a:buChar char="•"/>
            </a:pPr>
            <a:r>
              <a:rPr lang="en-US"/>
              <a:t>Most systems have special-purpose processors as well</a:t>
            </a:r>
            <a:endParaRPr sz="800"/>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Multiprocessors</a:t>
            </a:r>
            <a:r>
              <a:rPr lang="en-US">
                <a:solidFill>
                  <a:srgbClr val="3366FF"/>
                </a:solidFill>
              </a:rPr>
              <a:t> </a:t>
            </a:r>
            <a:r>
              <a:rPr lang="en-US"/>
              <a:t>systems growing in use and importance</a:t>
            </a:r>
            <a:endParaRPr/>
          </a:p>
          <a:p>
            <a:pPr indent="-285750" lvl="1" marL="742950" rtl="0" algn="l">
              <a:spcBef>
                <a:spcPts val="630"/>
              </a:spcBef>
              <a:spcAft>
                <a:spcPts val="0"/>
              </a:spcAft>
              <a:buSzPts val="1980"/>
              <a:buChar char="•"/>
            </a:pPr>
            <a:r>
              <a:rPr lang="en-US"/>
              <a:t>Also known as </a:t>
            </a:r>
            <a:r>
              <a:rPr b="1" lang="en-US">
                <a:solidFill>
                  <a:srgbClr val="006699"/>
                </a:solidFill>
                <a:latin typeface="Arial"/>
                <a:ea typeface="Arial"/>
                <a:cs typeface="Arial"/>
                <a:sym typeface="Arial"/>
              </a:rPr>
              <a:t>parallel systems</a:t>
            </a:r>
            <a:r>
              <a:rPr lang="en-US"/>
              <a:t>, </a:t>
            </a:r>
            <a:r>
              <a:rPr b="1" lang="en-US">
                <a:solidFill>
                  <a:srgbClr val="006699"/>
                </a:solidFill>
                <a:latin typeface="Arial"/>
                <a:ea typeface="Arial"/>
                <a:cs typeface="Arial"/>
                <a:sym typeface="Arial"/>
              </a:rPr>
              <a:t>tightly-coupled systems</a:t>
            </a:r>
            <a:endParaRPr/>
          </a:p>
          <a:p>
            <a:pPr indent="-285750" lvl="1" marL="742950" rtl="0" algn="l">
              <a:spcBef>
                <a:spcPts val="630"/>
              </a:spcBef>
              <a:spcAft>
                <a:spcPts val="0"/>
              </a:spcAft>
              <a:buSzPts val="1980"/>
              <a:buChar char="•"/>
            </a:pPr>
            <a:r>
              <a:rPr lang="en-US"/>
              <a:t>Advantages include:</a:t>
            </a:r>
            <a:endParaRPr/>
          </a:p>
          <a:p>
            <a:pPr indent="-342900" lvl="2" marL="1200150" rtl="0" algn="l">
              <a:spcBef>
                <a:spcPts val="630"/>
              </a:spcBef>
              <a:spcAft>
                <a:spcPts val="0"/>
              </a:spcAft>
              <a:buSzPts val="1350"/>
              <a:buFont typeface="Arial"/>
              <a:buAutoNum type="arabicPeriod"/>
            </a:pPr>
            <a:r>
              <a:rPr b="1" lang="en-US">
                <a:solidFill>
                  <a:srgbClr val="006699"/>
                </a:solidFill>
                <a:latin typeface="Arial"/>
                <a:ea typeface="Arial"/>
                <a:cs typeface="Arial"/>
                <a:sym typeface="Arial"/>
              </a:rPr>
              <a:t>Increased throughput</a:t>
            </a:r>
            <a:endParaRPr/>
          </a:p>
          <a:p>
            <a:pPr indent="-342900" lvl="2" marL="1200150" rtl="0" algn="l">
              <a:spcBef>
                <a:spcPts val="630"/>
              </a:spcBef>
              <a:spcAft>
                <a:spcPts val="0"/>
              </a:spcAft>
              <a:buSzPts val="1350"/>
              <a:buFont typeface="Arial"/>
              <a:buAutoNum type="arabicPeriod"/>
            </a:pPr>
            <a:r>
              <a:rPr b="1" lang="en-US">
                <a:solidFill>
                  <a:srgbClr val="006699"/>
                </a:solidFill>
                <a:latin typeface="Arial"/>
                <a:ea typeface="Arial"/>
                <a:cs typeface="Arial"/>
                <a:sym typeface="Arial"/>
              </a:rPr>
              <a:t>Economy of scale</a:t>
            </a:r>
            <a:endParaRPr/>
          </a:p>
          <a:p>
            <a:pPr indent="-342900" lvl="2" marL="1200150" rtl="0" algn="l">
              <a:spcBef>
                <a:spcPts val="630"/>
              </a:spcBef>
              <a:spcAft>
                <a:spcPts val="0"/>
              </a:spcAft>
              <a:buSzPts val="1350"/>
              <a:buFont typeface="Arial"/>
              <a:buAutoNum type="arabicPeriod"/>
            </a:pPr>
            <a:r>
              <a:rPr b="1" lang="en-US">
                <a:solidFill>
                  <a:srgbClr val="006699"/>
                </a:solidFill>
                <a:latin typeface="Arial"/>
                <a:ea typeface="Arial"/>
                <a:cs typeface="Arial"/>
                <a:sym typeface="Arial"/>
              </a:rPr>
              <a:t>Increased reliability </a:t>
            </a:r>
            <a:r>
              <a:rPr lang="en-US"/>
              <a:t>– graceful degradation or fault tolerance</a:t>
            </a:r>
            <a:endParaRPr/>
          </a:p>
          <a:p>
            <a:pPr indent="-285750" lvl="1" marL="742950" rtl="0" algn="l">
              <a:spcBef>
                <a:spcPts val="630"/>
              </a:spcBef>
              <a:spcAft>
                <a:spcPts val="0"/>
              </a:spcAft>
              <a:buSzPts val="1980"/>
              <a:buChar char="•"/>
            </a:pPr>
            <a:r>
              <a:rPr lang="en-US"/>
              <a:t>Two types:</a:t>
            </a:r>
            <a:endParaRPr/>
          </a:p>
          <a:p>
            <a:pPr indent="-342900" lvl="2" marL="1200150" rtl="0" algn="l">
              <a:spcBef>
                <a:spcPts val="630"/>
              </a:spcBef>
              <a:spcAft>
                <a:spcPts val="0"/>
              </a:spcAft>
              <a:buSzPts val="1350"/>
              <a:buFont typeface="Arial"/>
              <a:buAutoNum type="arabicPeriod"/>
            </a:pPr>
            <a:r>
              <a:rPr b="1" lang="en-US">
                <a:solidFill>
                  <a:srgbClr val="006699"/>
                </a:solidFill>
                <a:latin typeface="Arial"/>
                <a:ea typeface="Arial"/>
                <a:cs typeface="Arial"/>
                <a:sym typeface="Arial"/>
              </a:rPr>
              <a:t>Asymmetric Multiprocessing</a:t>
            </a:r>
            <a:r>
              <a:rPr b="1" lang="en-US">
                <a:solidFill>
                  <a:srgbClr val="3366FF"/>
                </a:solidFill>
              </a:rPr>
              <a:t> </a:t>
            </a:r>
            <a:r>
              <a:rPr lang="en-US"/>
              <a:t>– each processor is assigned a specie task.</a:t>
            </a:r>
            <a:endParaRPr/>
          </a:p>
          <a:p>
            <a:pPr indent="-342900" lvl="2" marL="1200150" rtl="0" algn="l">
              <a:spcBef>
                <a:spcPts val="630"/>
              </a:spcBef>
              <a:spcAft>
                <a:spcPts val="0"/>
              </a:spcAft>
              <a:buSzPts val="1350"/>
              <a:buFont typeface="Arial"/>
              <a:buAutoNum type="arabicPeriod"/>
            </a:pPr>
            <a:r>
              <a:rPr b="1" lang="en-US">
                <a:solidFill>
                  <a:srgbClr val="006699"/>
                </a:solidFill>
                <a:latin typeface="Arial"/>
                <a:ea typeface="Arial"/>
                <a:cs typeface="Arial"/>
                <a:sym typeface="Arial"/>
              </a:rPr>
              <a:t>Symmetric Multiprocessing </a:t>
            </a:r>
            <a:r>
              <a:rPr lang="en-US"/>
              <a:t>– each processor performs all tasks</a:t>
            </a:r>
            <a:endParaRPr/>
          </a:p>
          <a:p>
            <a:pPr indent="-342900" lvl="2" marL="1200150" rtl="0" algn="l">
              <a:spcBef>
                <a:spcPts val="630"/>
              </a:spcBef>
              <a:spcAft>
                <a:spcPts val="0"/>
              </a:spcAft>
              <a:buSzPts val="1350"/>
              <a:buFont typeface="Arimo"/>
              <a:buNone/>
            </a:pPr>
            <a:r>
              <a:t/>
            </a:r>
            <a:endParaRPr>
              <a:solidFill>
                <a:srgbClr val="3366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2"/>
          <p:cNvSpPr txBox="1"/>
          <p:nvPr>
            <p:ph idx="4294967295" type="title"/>
          </p:nvPr>
        </p:nvSpPr>
        <p:spPr>
          <a:xfrm>
            <a:off x="939800" y="133350"/>
            <a:ext cx="8229600" cy="6413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000"/>
              <a:t>Symmetric Multiprocessing Architecture</a:t>
            </a:r>
            <a:endParaRPr/>
          </a:p>
        </p:txBody>
      </p:sp>
      <p:pic>
        <p:nvPicPr>
          <p:cNvPr id="391" name="Google Shape;391;p52"/>
          <p:cNvPicPr preferRelativeResize="0"/>
          <p:nvPr/>
        </p:nvPicPr>
        <p:blipFill rotWithShape="1">
          <a:blip r:embed="rId3">
            <a:alphaModFix/>
          </a:blip>
          <a:srcRect b="0" l="0" r="0" t="0"/>
          <a:stretch/>
        </p:blipFill>
        <p:spPr>
          <a:xfrm>
            <a:off x="2166938" y="1822450"/>
            <a:ext cx="5051425" cy="382428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3"/>
          <p:cNvSpPr txBox="1"/>
          <p:nvPr>
            <p:ph type="title"/>
          </p:nvPr>
        </p:nvSpPr>
        <p:spPr>
          <a:xfrm>
            <a:off x="457200" y="204788"/>
            <a:ext cx="80708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Dual-Core Design</a:t>
            </a:r>
            <a:endParaRPr/>
          </a:p>
        </p:txBody>
      </p:sp>
      <p:sp>
        <p:nvSpPr>
          <p:cNvPr id="397" name="Google Shape;397;p53"/>
          <p:cNvSpPr txBox="1"/>
          <p:nvPr>
            <p:ph idx="1" type="body"/>
          </p:nvPr>
        </p:nvSpPr>
        <p:spPr>
          <a:xfrm>
            <a:off x="854075" y="1108076"/>
            <a:ext cx="6921313" cy="121677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sz="1800"/>
              <a:t>Multi-chip and </a:t>
            </a:r>
            <a:r>
              <a:rPr b="1" lang="en-US" sz="1800">
                <a:solidFill>
                  <a:srgbClr val="006699"/>
                </a:solidFill>
                <a:latin typeface="Arial"/>
                <a:ea typeface="Arial"/>
                <a:cs typeface="Arial"/>
                <a:sym typeface="Arial"/>
              </a:rPr>
              <a:t>multicore</a:t>
            </a:r>
            <a:endParaRPr/>
          </a:p>
          <a:p>
            <a:pPr indent="-342900" lvl="0" marL="342900" rtl="0" algn="l">
              <a:spcBef>
                <a:spcPts val="630"/>
              </a:spcBef>
              <a:spcAft>
                <a:spcPts val="0"/>
              </a:spcAft>
              <a:buSzPts val="1980"/>
              <a:buChar char="▪"/>
            </a:pPr>
            <a:r>
              <a:rPr lang="en-US" sz="1800"/>
              <a:t>Systems containing all  chips</a:t>
            </a:r>
            <a:endParaRPr b="1" sz="1800">
              <a:solidFill>
                <a:srgbClr val="3366FF"/>
              </a:solidFill>
            </a:endParaRPr>
          </a:p>
          <a:p>
            <a:pPr indent="-285750" lvl="1" marL="742950" rtl="0" algn="l">
              <a:spcBef>
                <a:spcPts val="630"/>
              </a:spcBef>
              <a:spcAft>
                <a:spcPts val="0"/>
              </a:spcAft>
              <a:buSzPts val="1980"/>
              <a:buChar char="•"/>
            </a:pPr>
            <a:r>
              <a:rPr lang="en-US" sz="1800"/>
              <a:t>Chassis containing multiple separate systems</a:t>
            </a:r>
            <a:endParaRPr/>
          </a:p>
          <a:p>
            <a:pPr indent="-118109" lvl="1" marL="742950" rtl="0" algn="l">
              <a:spcBef>
                <a:spcPts val="840"/>
              </a:spcBef>
              <a:spcAft>
                <a:spcPts val="0"/>
              </a:spcAft>
              <a:buSzPts val="2640"/>
              <a:buNone/>
            </a:pPr>
            <a:r>
              <a:t/>
            </a:r>
            <a:endParaRPr/>
          </a:p>
        </p:txBody>
      </p:sp>
      <p:pic>
        <p:nvPicPr>
          <p:cNvPr id="398" name="Google Shape;398;p53"/>
          <p:cNvPicPr preferRelativeResize="0"/>
          <p:nvPr/>
        </p:nvPicPr>
        <p:blipFill rotWithShape="1">
          <a:blip r:embed="rId3">
            <a:alphaModFix/>
          </a:blip>
          <a:srcRect b="0" l="0" r="0" t="0"/>
          <a:stretch/>
        </p:blipFill>
        <p:spPr>
          <a:xfrm>
            <a:off x="2471056" y="2388259"/>
            <a:ext cx="4039281" cy="360114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4"/>
          <p:cNvSpPr txBox="1"/>
          <p:nvPr>
            <p:ph type="title"/>
          </p:nvPr>
        </p:nvSpPr>
        <p:spPr>
          <a:xfrm>
            <a:off x="923925" y="84138"/>
            <a:ext cx="8035925" cy="70961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Non-Uniform Memory Access System</a:t>
            </a:r>
            <a:endParaRPr/>
          </a:p>
        </p:txBody>
      </p:sp>
      <p:pic>
        <p:nvPicPr>
          <p:cNvPr id="404" name="Google Shape;404;p54"/>
          <p:cNvPicPr preferRelativeResize="0"/>
          <p:nvPr/>
        </p:nvPicPr>
        <p:blipFill rotWithShape="1">
          <a:blip r:embed="rId3">
            <a:alphaModFix/>
          </a:blip>
          <a:srcRect b="0" l="0" r="0" t="0"/>
          <a:stretch/>
        </p:blipFill>
        <p:spPr>
          <a:xfrm>
            <a:off x="2476500" y="1482725"/>
            <a:ext cx="4440238" cy="42005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5"/>
          <p:cNvSpPr txBox="1"/>
          <p:nvPr>
            <p:ph idx="4294967295" type="title"/>
          </p:nvPr>
        </p:nvSpPr>
        <p:spPr>
          <a:xfrm>
            <a:off x="457200" y="211138"/>
            <a:ext cx="80343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Clustered Systems</a:t>
            </a:r>
            <a:endParaRPr/>
          </a:p>
        </p:txBody>
      </p:sp>
      <p:sp>
        <p:nvSpPr>
          <p:cNvPr id="410" name="Google Shape;410;p55"/>
          <p:cNvSpPr txBox="1"/>
          <p:nvPr>
            <p:ph idx="4294967295"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Like multiprocessor systems, but multiple systems working together</a:t>
            </a:r>
            <a:endParaRPr/>
          </a:p>
          <a:p>
            <a:pPr indent="-285750" lvl="1" marL="742950" rtl="0" algn="l">
              <a:spcBef>
                <a:spcPts val="630"/>
              </a:spcBef>
              <a:spcAft>
                <a:spcPts val="0"/>
              </a:spcAft>
              <a:buSzPts val="1980"/>
              <a:buChar char="•"/>
            </a:pPr>
            <a:r>
              <a:rPr lang="en-US"/>
              <a:t>Usually sharing storage via a </a:t>
            </a:r>
            <a:r>
              <a:rPr b="1" lang="en-US">
                <a:solidFill>
                  <a:srgbClr val="006699"/>
                </a:solidFill>
                <a:latin typeface="Arial"/>
                <a:ea typeface="Arial"/>
                <a:cs typeface="Arial"/>
                <a:sym typeface="Arial"/>
              </a:rPr>
              <a:t>storage-area network </a:t>
            </a:r>
            <a:r>
              <a:rPr lang="en-US"/>
              <a:t>(</a:t>
            </a:r>
            <a:r>
              <a:rPr b="1" lang="en-US">
                <a:solidFill>
                  <a:srgbClr val="006699"/>
                </a:solidFill>
                <a:latin typeface="Arial"/>
                <a:ea typeface="Arial"/>
                <a:cs typeface="Arial"/>
                <a:sym typeface="Arial"/>
              </a:rPr>
              <a:t>SAN</a:t>
            </a:r>
            <a:r>
              <a:rPr lang="en-US"/>
              <a:t>)</a:t>
            </a:r>
            <a:endParaRPr/>
          </a:p>
          <a:p>
            <a:pPr indent="-285750" lvl="1" marL="742950" rtl="0" algn="l">
              <a:spcBef>
                <a:spcPts val="630"/>
              </a:spcBef>
              <a:spcAft>
                <a:spcPts val="0"/>
              </a:spcAft>
              <a:buSzPts val="1980"/>
              <a:buChar char="•"/>
            </a:pPr>
            <a:r>
              <a:rPr lang="en-US"/>
              <a:t>Provides a </a:t>
            </a:r>
            <a:r>
              <a:rPr b="1" lang="en-US">
                <a:solidFill>
                  <a:srgbClr val="006699"/>
                </a:solidFill>
                <a:latin typeface="Arial"/>
                <a:ea typeface="Arial"/>
                <a:cs typeface="Arial"/>
                <a:sym typeface="Arial"/>
              </a:rPr>
              <a:t>high-availability</a:t>
            </a:r>
            <a:r>
              <a:rPr b="1" lang="en-US"/>
              <a:t> </a:t>
            </a:r>
            <a:r>
              <a:rPr lang="en-US"/>
              <a:t>service which survives failures</a:t>
            </a:r>
            <a:endParaRPr/>
          </a:p>
          <a:p>
            <a:pPr indent="-228600" lvl="2" marL="1085850" rtl="0" algn="l">
              <a:spcBef>
                <a:spcPts val="630"/>
              </a:spcBef>
              <a:spcAft>
                <a:spcPts val="0"/>
              </a:spcAft>
              <a:buSzPts val="1350"/>
              <a:buChar char="4"/>
            </a:pPr>
            <a:r>
              <a:rPr b="1" lang="en-US">
                <a:solidFill>
                  <a:srgbClr val="006699"/>
                </a:solidFill>
                <a:latin typeface="Arial"/>
                <a:ea typeface="Arial"/>
                <a:cs typeface="Arial"/>
                <a:sym typeface="Arial"/>
              </a:rPr>
              <a:t>Asymmetric clustering </a:t>
            </a:r>
            <a:r>
              <a:rPr lang="en-US"/>
              <a:t>has one machine in hot-standby mode</a:t>
            </a:r>
            <a:endParaRPr/>
          </a:p>
          <a:p>
            <a:pPr indent="-228600" lvl="2" marL="1085850" rtl="0" algn="l">
              <a:spcBef>
                <a:spcPts val="630"/>
              </a:spcBef>
              <a:spcAft>
                <a:spcPts val="0"/>
              </a:spcAft>
              <a:buSzPts val="1350"/>
              <a:buChar char="4"/>
            </a:pPr>
            <a:r>
              <a:rPr b="1" lang="en-US">
                <a:solidFill>
                  <a:srgbClr val="006699"/>
                </a:solidFill>
                <a:latin typeface="Arial"/>
                <a:ea typeface="Arial"/>
                <a:cs typeface="Arial"/>
                <a:sym typeface="Arial"/>
              </a:rPr>
              <a:t>Symmetric clustering </a:t>
            </a:r>
            <a:r>
              <a:rPr lang="en-US"/>
              <a:t>has multiple nodes running applications, monitoring each other</a:t>
            </a:r>
            <a:endParaRPr/>
          </a:p>
          <a:p>
            <a:pPr indent="-285750" lvl="1" marL="742950" rtl="0" algn="l">
              <a:spcBef>
                <a:spcPts val="630"/>
              </a:spcBef>
              <a:spcAft>
                <a:spcPts val="0"/>
              </a:spcAft>
              <a:buSzPts val="1980"/>
              <a:buChar char="•"/>
            </a:pPr>
            <a:r>
              <a:rPr lang="en-US"/>
              <a:t>Some clusters are for </a:t>
            </a:r>
            <a:r>
              <a:rPr b="1" lang="en-US">
                <a:solidFill>
                  <a:srgbClr val="006699"/>
                </a:solidFill>
                <a:latin typeface="Arial"/>
                <a:ea typeface="Arial"/>
                <a:cs typeface="Arial"/>
                <a:sym typeface="Arial"/>
              </a:rPr>
              <a:t>high-performance computing </a:t>
            </a:r>
            <a:r>
              <a:rPr lang="en-US"/>
              <a:t>(</a:t>
            </a:r>
            <a:r>
              <a:rPr b="1" lang="en-US">
                <a:solidFill>
                  <a:srgbClr val="006699"/>
                </a:solidFill>
                <a:latin typeface="Arial"/>
                <a:ea typeface="Arial"/>
                <a:cs typeface="Arial"/>
                <a:sym typeface="Arial"/>
              </a:rPr>
              <a:t>HPC</a:t>
            </a:r>
            <a:r>
              <a:rPr lang="en-US"/>
              <a:t>)</a:t>
            </a:r>
            <a:endParaRPr/>
          </a:p>
          <a:p>
            <a:pPr indent="-228600" lvl="2" marL="1085850" rtl="0" algn="l">
              <a:spcBef>
                <a:spcPts val="630"/>
              </a:spcBef>
              <a:spcAft>
                <a:spcPts val="0"/>
              </a:spcAft>
              <a:buSzPts val="1350"/>
              <a:buChar char="4"/>
            </a:pPr>
            <a:r>
              <a:rPr lang="en-US"/>
              <a:t>Applications must be written to use </a:t>
            </a:r>
            <a:r>
              <a:rPr b="1" lang="en-US">
                <a:solidFill>
                  <a:srgbClr val="006699"/>
                </a:solidFill>
                <a:latin typeface="Arial"/>
                <a:ea typeface="Arial"/>
                <a:cs typeface="Arial"/>
                <a:sym typeface="Arial"/>
              </a:rPr>
              <a:t>parallelization</a:t>
            </a:r>
            <a:endParaRPr/>
          </a:p>
          <a:p>
            <a:pPr indent="-285750" lvl="1" marL="742950" rtl="0" algn="l">
              <a:spcBef>
                <a:spcPts val="630"/>
              </a:spcBef>
              <a:spcAft>
                <a:spcPts val="0"/>
              </a:spcAft>
              <a:buSzPts val="1980"/>
              <a:buChar char="•"/>
            </a:pPr>
            <a:r>
              <a:rPr lang="en-US"/>
              <a:t>Some have</a:t>
            </a:r>
            <a:r>
              <a:rPr b="1" lang="en-US">
                <a:solidFill>
                  <a:srgbClr val="3366FF"/>
                </a:solidFill>
              </a:rPr>
              <a:t> </a:t>
            </a:r>
            <a:r>
              <a:rPr b="1" lang="en-US">
                <a:solidFill>
                  <a:srgbClr val="006699"/>
                </a:solidFill>
                <a:latin typeface="Arial"/>
                <a:ea typeface="Arial"/>
                <a:cs typeface="Arial"/>
                <a:sym typeface="Arial"/>
              </a:rPr>
              <a:t>distributed lock manager </a:t>
            </a:r>
            <a:r>
              <a:rPr lang="en-US"/>
              <a:t>(</a:t>
            </a:r>
            <a:r>
              <a:rPr b="1" lang="en-US">
                <a:solidFill>
                  <a:srgbClr val="006699"/>
                </a:solidFill>
                <a:latin typeface="Arial"/>
                <a:ea typeface="Arial"/>
                <a:cs typeface="Arial"/>
                <a:sym typeface="Arial"/>
              </a:rPr>
              <a:t>DLM</a:t>
            </a:r>
            <a:r>
              <a:rPr lang="en-US"/>
              <a:t>) to avoid conflicting operations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6"/>
          <p:cNvSpPr txBox="1"/>
          <p:nvPr>
            <p:ph idx="4294967295" type="title"/>
          </p:nvPr>
        </p:nvSpPr>
        <p:spPr>
          <a:xfrm>
            <a:off x="457200" y="207963"/>
            <a:ext cx="80613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Clustered Systems</a:t>
            </a:r>
            <a:endParaRPr/>
          </a:p>
        </p:txBody>
      </p:sp>
      <p:pic>
        <p:nvPicPr>
          <p:cNvPr id="416" name="Google Shape;416;p56"/>
          <p:cNvPicPr preferRelativeResize="0"/>
          <p:nvPr/>
        </p:nvPicPr>
        <p:blipFill rotWithShape="1">
          <a:blip r:embed="rId3">
            <a:alphaModFix/>
          </a:blip>
          <a:srcRect b="0" l="0" r="0" t="0"/>
          <a:stretch/>
        </p:blipFill>
        <p:spPr>
          <a:xfrm>
            <a:off x="2327275" y="2058988"/>
            <a:ext cx="5148263" cy="26416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7"/>
          <p:cNvSpPr txBox="1"/>
          <p:nvPr>
            <p:ph type="title"/>
          </p:nvPr>
        </p:nvSpPr>
        <p:spPr>
          <a:xfrm>
            <a:off x="457200" y="222250"/>
            <a:ext cx="8015288"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PC Motherboard</a:t>
            </a:r>
            <a:endParaRPr/>
          </a:p>
        </p:txBody>
      </p:sp>
      <p:pic>
        <p:nvPicPr>
          <p:cNvPr id="422" name="Google Shape;422;p57"/>
          <p:cNvPicPr preferRelativeResize="0"/>
          <p:nvPr>
            <p:ph idx="1" type="body"/>
          </p:nvPr>
        </p:nvPicPr>
        <p:blipFill rotWithShape="1">
          <a:blip r:embed="rId3">
            <a:alphaModFix/>
          </a:blip>
          <a:srcRect b="0" l="0" r="0" t="0"/>
          <a:stretch/>
        </p:blipFill>
        <p:spPr>
          <a:xfrm>
            <a:off x="820738" y="1046163"/>
            <a:ext cx="6867525" cy="53498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8"/>
          <p:cNvSpPr txBox="1"/>
          <p:nvPr>
            <p:ph idx="4294967295" type="body"/>
          </p:nvPr>
        </p:nvSpPr>
        <p:spPr>
          <a:xfrm>
            <a:off x="1446306" y="2888119"/>
            <a:ext cx="7016376" cy="1030738"/>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3520"/>
              <a:buNone/>
            </a:pPr>
            <a:r>
              <a:rPr b="1" lang="en-US" sz="3200">
                <a:solidFill>
                  <a:srgbClr val="006699"/>
                </a:solidFill>
                <a:latin typeface="Arial"/>
                <a:ea typeface="Arial"/>
                <a:cs typeface="Arial"/>
                <a:sym typeface="Arial"/>
              </a:rPr>
              <a:t>Computer System Environments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9"/>
          <p:cNvSpPr txBox="1"/>
          <p:nvPr>
            <p:ph idx="4294967295" type="title"/>
          </p:nvPr>
        </p:nvSpPr>
        <p:spPr>
          <a:xfrm>
            <a:off x="960668" y="171450"/>
            <a:ext cx="8016875" cy="622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000"/>
              <a:t>Computing Environments</a:t>
            </a:r>
            <a:endParaRPr/>
          </a:p>
        </p:txBody>
      </p:sp>
      <p:sp>
        <p:nvSpPr>
          <p:cNvPr id="433" name="Google Shape;433;p59"/>
          <p:cNvSpPr txBox="1"/>
          <p:nvPr>
            <p:ph idx="4294967295" type="body"/>
          </p:nvPr>
        </p:nvSpPr>
        <p:spPr>
          <a:xfrm>
            <a:off x="819151" y="1296988"/>
            <a:ext cx="6506936" cy="414586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Traditional</a:t>
            </a:r>
            <a:endParaRPr/>
          </a:p>
          <a:p>
            <a:pPr indent="-342900" lvl="0" marL="342900" rtl="0" algn="l">
              <a:spcBef>
                <a:spcPts val="630"/>
              </a:spcBef>
              <a:spcAft>
                <a:spcPts val="0"/>
              </a:spcAft>
              <a:buSzPts val="1980"/>
              <a:buChar char="▪"/>
            </a:pPr>
            <a:r>
              <a:rPr lang="en-US"/>
              <a:t>Mobile</a:t>
            </a:r>
            <a:endParaRPr/>
          </a:p>
          <a:p>
            <a:pPr indent="-342900" lvl="0" marL="342900" rtl="0" algn="l">
              <a:spcBef>
                <a:spcPts val="630"/>
              </a:spcBef>
              <a:spcAft>
                <a:spcPts val="0"/>
              </a:spcAft>
              <a:buSzPts val="1980"/>
              <a:buChar char="▪"/>
            </a:pPr>
            <a:r>
              <a:rPr lang="en-US"/>
              <a:t>Client Server</a:t>
            </a:r>
            <a:endParaRPr/>
          </a:p>
          <a:p>
            <a:pPr indent="-342900" lvl="0" marL="342900" rtl="0" algn="l">
              <a:spcBef>
                <a:spcPts val="630"/>
              </a:spcBef>
              <a:spcAft>
                <a:spcPts val="0"/>
              </a:spcAft>
              <a:buSzPts val="1980"/>
              <a:buChar char="▪"/>
            </a:pPr>
            <a:r>
              <a:rPr lang="en-US"/>
              <a:t>Pear-to-Pear</a:t>
            </a:r>
            <a:endParaRPr/>
          </a:p>
          <a:p>
            <a:pPr indent="-342900" lvl="0" marL="342900" rtl="0" algn="l">
              <a:spcBef>
                <a:spcPts val="630"/>
              </a:spcBef>
              <a:spcAft>
                <a:spcPts val="0"/>
              </a:spcAft>
              <a:buSzPts val="1980"/>
              <a:buChar char="▪"/>
            </a:pPr>
            <a:r>
              <a:rPr lang="en-US"/>
              <a:t>Cloud computing</a:t>
            </a:r>
            <a:endParaRPr/>
          </a:p>
          <a:p>
            <a:pPr indent="-342900" lvl="0" marL="342900" rtl="0" algn="l">
              <a:spcBef>
                <a:spcPts val="630"/>
              </a:spcBef>
              <a:spcAft>
                <a:spcPts val="0"/>
              </a:spcAft>
              <a:buSzPts val="1980"/>
              <a:buChar char="▪"/>
            </a:pPr>
            <a:r>
              <a:rPr lang="en-US"/>
              <a:t>Real-time Embedded</a:t>
            </a:r>
            <a:endParaRPr/>
          </a:p>
          <a:p>
            <a:pPr indent="-217170" lvl="0" marL="342900" rtl="0" algn="l">
              <a:spcBef>
                <a:spcPts val="630"/>
              </a:spcBef>
              <a:spcAft>
                <a:spcPts val="0"/>
              </a:spcAft>
              <a:buSzPts val="198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0"/>
          <p:cNvSpPr txBox="1"/>
          <p:nvPr>
            <p:ph idx="4294967295" type="title"/>
          </p:nvPr>
        </p:nvSpPr>
        <p:spPr>
          <a:xfrm>
            <a:off x="960668" y="171450"/>
            <a:ext cx="8016875" cy="622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000"/>
              <a:t>Traditional</a:t>
            </a:r>
            <a:endParaRPr/>
          </a:p>
        </p:txBody>
      </p:sp>
      <p:sp>
        <p:nvSpPr>
          <p:cNvPr id="439" name="Google Shape;439;p60"/>
          <p:cNvSpPr txBox="1"/>
          <p:nvPr>
            <p:ph idx="4294967295" type="body"/>
          </p:nvPr>
        </p:nvSpPr>
        <p:spPr>
          <a:xfrm>
            <a:off x="819151" y="1296988"/>
            <a:ext cx="6506936" cy="414586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Stand-alone general-purpose machines</a:t>
            </a:r>
            <a:endParaRPr/>
          </a:p>
          <a:p>
            <a:pPr indent="-342900" lvl="0" marL="342900" rtl="0" algn="l">
              <a:spcBef>
                <a:spcPts val="630"/>
              </a:spcBef>
              <a:spcAft>
                <a:spcPts val="0"/>
              </a:spcAft>
              <a:buSzPts val="1980"/>
              <a:buChar char="▪"/>
            </a:pPr>
            <a:r>
              <a:rPr lang="en-US"/>
              <a:t>But blurred as most systems interconnect with others (i.e., the Internet)</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Portals</a:t>
            </a:r>
            <a:r>
              <a:rPr lang="en-US"/>
              <a:t> provide web access to internal systems</a:t>
            </a:r>
            <a:endParaRPr/>
          </a:p>
          <a:p>
            <a:pPr indent="-342900" lvl="0" marL="342900" rtl="0" algn="l">
              <a:spcBef>
                <a:spcPts val="630"/>
              </a:spcBef>
              <a:spcAft>
                <a:spcPts val="0"/>
              </a:spcAft>
              <a:buSzPts val="1980"/>
              <a:buChar char="▪"/>
            </a:pPr>
            <a:r>
              <a:rPr b="1" lang="en-US">
                <a:solidFill>
                  <a:srgbClr val="006699"/>
                </a:solidFill>
                <a:latin typeface="Arial"/>
                <a:ea typeface="Arial"/>
                <a:cs typeface="Arial"/>
                <a:sym typeface="Arial"/>
              </a:rPr>
              <a:t>Network computers </a:t>
            </a:r>
            <a:r>
              <a:rPr lang="en-US"/>
              <a:t>(</a:t>
            </a:r>
            <a:r>
              <a:rPr b="1" lang="en-US">
                <a:solidFill>
                  <a:srgbClr val="006699"/>
                </a:solidFill>
                <a:latin typeface="Arial"/>
                <a:ea typeface="Arial"/>
                <a:cs typeface="Arial"/>
                <a:sym typeface="Arial"/>
              </a:rPr>
              <a:t>thin clients</a:t>
            </a:r>
            <a:r>
              <a:rPr lang="en-US"/>
              <a:t>) are like Web terminals</a:t>
            </a:r>
            <a:endParaRPr/>
          </a:p>
          <a:p>
            <a:pPr indent="-342900" lvl="0" marL="342900" rtl="0" algn="l">
              <a:spcBef>
                <a:spcPts val="630"/>
              </a:spcBef>
              <a:spcAft>
                <a:spcPts val="0"/>
              </a:spcAft>
              <a:buSzPts val="1980"/>
              <a:buChar char="▪"/>
            </a:pPr>
            <a:r>
              <a:rPr lang="en-US"/>
              <a:t>Mobile computers interconnect via </a:t>
            </a:r>
            <a:r>
              <a:rPr b="1" lang="en-US">
                <a:solidFill>
                  <a:srgbClr val="006699"/>
                </a:solidFill>
                <a:latin typeface="Arial"/>
                <a:ea typeface="Arial"/>
                <a:cs typeface="Arial"/>
                <a:sym typeface="Arial"/>
              </a:rPr>
              <a:t>wireless networks</a:t>
            </a:r>
            <a:endParaRPr/>
          </a:p>
          <a:p>
            <a:pPr indent="-342900" lvl="0" marL="342900" rtl="0" algn="l">
              <a:spcBef>
                <a:spcPts val="630"/>
              </a:spcBef>
              <a:spcAft>
                <a:spcPts val="0"/>
              </a:spcAft>
              <a:buSzPts val="1980"/>
              <a:buChar char="▪"/>
            </a:pPr>
            <a:r>
              <a:rPr lang="en-US"/>
              <a:t>Networking becoming ubiquitous – even home systems use </a:t>
            </a:r>
            <a:r>
              <a:rPr b="1" lang="en-US">
                <a:solidFill>
                  <a:srgbClr val="006699"/>
                </a:solidFill>
                <a:latin typeface="Arial"/>
                <a:ea typeface="Arial"/>
                <a:cs typeface="Arial"/>
                <a:sym typeface="Arial"/>
              </a:rPr>
              <a:t>firewalls</a:t>
            </a:r>
            <a:r>
              <a:rPr lang="en-US"/>
              <a:t> to protect home computers from Internet attacks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1"/>
          <p:cNvSpPr txBox="1"/>
          <p:nvPr>
            <p:ph idx="4294967295" type="title"/>
          </p:nvPr>
        </p:nvSpPr>
        <p:spPr>
          <a:xfrm>
            <a:off x="476250" y="217488"/>
            <a:ext cx="85375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Mobile</a:t>
            </a:r>
            <a:endParaRPr/>
          </a:p>
        </p:txBody>
      </p:sp>
      <p:sp>
        <p:nvSpPr>
          <p:cNvPr id="445" name="Google Shape;445;p61"/>
          <p:cNvSpPr txBox="1"/>
          <p:nvPr>
            <p:ph idx="4294967295" type="body"/>
          </p:nvPr>
        </p:nvSpPr>
        <p:spPr>
          <a:xfrm>
            <a:off x="811213" y="1209674"/>
            <a:ext cx="7026501" cy="417875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Handheld smartphones, tablets, etc.</a:t>
            </a:r>
            <a:endParaRPr/>
          </a:p>
          <a:p>
            <a:pPr indent="-342900" lvl="0" marL="342900" rtl="0" algn="l">
              <a:spcBef>
                <a:spcPts val="630"/>
              </a:spcBef>
              <a:spcAft>
                <a:spcPts val="0"/>
              </a:spcAft>
              <a:buSzPts val="1980"/>
              <a:buChar char="▪"/>
            </a:pPr>
            <a:r>
              <a:rPr lang="en-US"/>
              <a:t>What is the functional difference between them and a “traditional” laptop?</a:t>
            </a:r>
            <a:endParaRPr/>
          </a:p>
          <a:p>
            <a:pPr indent="-342900" lvl="0" marL="342900" rtl="0" algn="l">
              <a:spcBef>
                <a:spcPts val="630"/>
              </a:spcBef>
              <a:spcAft>
                <a:spcPts val="0"/>
              </a:spcAft>
              <a:buSzPts val="1980"/>
              <a:buChar char="▪"/>
            </a:pPr>
            <a:r>
              <a:rPr lang="en-US"/>
              <a:t>Extra feature – more OS features (GPS, gyroscope)</a:t>
            </a:r>
            <a:endParaRPr/>
          </a:p>
          <a:p>
            <a:pPr indent="-342900" lvl="0" marL="342900" rtl="0" algn="l">
              <a:spcBef>
                <a:spcPts val="630"/>
              </a:spcBef>
              <a:spcAft>
                <a:spcPts val="0"/>
              </a:spcAft>
              <a:buSzPts val="1980"/>
              <a:buChar char="▪"/>
            </a:pPr>
            <a:r>
              <a:rPr lang="en-US"/>
              <a:t>Allows new types of apps like </a:t>
            </a:r>
            <a:r>
              <a:rPr b="1" i="1" lang="en-US"/>
              <a:t>augmented reality</a:t>
            </a:r>
            <a:endParaRPr/>
          </a:p>
          <a:p>
            <a:pPr indent="-342900" lvl="0" marL="342900" rtl="0" algn="l">
              <a:spcBef>
                <a:spcPts val="630"/>
              </a:spcBef>
              <a:spcAft>
                <a:spcPts val="0"/>
              </a:spcAft>
              <a:buSzPts val="1980"/>
              <a:buChar char="▪"/>
            </a:pPr>
            <a:r>
              <a:rPr lang="en-US"/>
              <a:t>Use IEEE 802.11 wireless, or cellular data networks for connectivity</a:t>
            </a:r>
            <a:endParaRPr/>
          </a:p>
          <a:p>
            <a:pPr indent="-342900" lvl="0" marL="342900" rtl="0" algn="l">
              <a:spcBef>
                <a:spcPts val="630"/>
              </a:spcBef>
              <a:spcAft>
                <a:spcPts val="0"/>
              </a:spcAft>
              <a:buSzPts val="1980"/>
              <a:buChar char="▪"/>
            </a:pPr>
            <a:r>
              <a:rPr lang="en-US"/>
              <a:t>Leaders are </a:t>
            </a:r>
            <a:r>
              <a:rPr b="1" lang="en-US">
                <a:solidFill>
                  <a:srgbClr val="006699"/>
                </a:solidFill>
                <a:latin typeface="Arial"/>
                <a:ea typeface="Arial"/>
                <a:cs typeface="Arial"/>
                <a:sym typeface="Arial"/>
              </a:rPr>
              <a:t>Apple iOS </a:t>
            </a:r>
            <a:r>
              <a:rPr lang="en-US"/>
              <a:t>and </a:t>
            </a:r>
            <a:r>
              <a:rPr b="1" lang="en-US">
                <a:solidFill>
                  <a:srgbClr val="006699"/>
                </a:solidFill>
                <a:latin typeface="Arial"/>
                <a:ea typeface="Arial"/>
                <a:cs typeface="Arial"/>
                <a:sym typeface="Arial"/>
              </a:rPr>
              <a:t>Google Android</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2"/>
          <p:cNvSpPr txBox="1"/>
          <p:nvPr>
            <p:ph idx="4294967295" type="title"/>
          </p:nvPr>
        </p:nvSpPr>
        <p:spPr>
          <a:xfrm>
            <a:off x="1296988" y="207963"/>
            <a:ext cx="71929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Client Server</a:t>
            </a:r>
            <a:endParaRPr/>
          </a:p>
        </p:txBody>
      </p:sp>
      <p:sp>
        <p:nvSpPr>
          <p:cNvPr id="451" name="Google Shape;451;p62"/>
          <p:cNvSpPr/>
          <p:nvPr/>
        </p:nvSpPr>
        <p:spPr>
          <a:xfrm>
            <a:off x="755650" y="1166813"/>
            <a:ext cx="7734300" cy="4673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Noto Sans Symbols"/>
              <a:buChar char="▪"/>
            </a:pPr>
            <a:r>
              <a:rPr b="0" i="0" lang="en-US" sz="1800" u="none" cap="none" strike="noStrike">
                <a:solidFill>
                  <a:schemeClr val="dk1"/>
                </a:solidFill>
                <a:latin typeface="Helvetica Neue"/>
                <a:ea typeface="Helvetica Neue"/>
                <a:cs typeface="Helvetica Neue"/>
                <a:sym typeface="Helvetica Neue"/>
              </a:rPr>
              <a:t>Client-Server Computing</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Dumb terminals supplanted by smart PCs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Many systems now </a:t>
            </a:r>
            <a:r>
              <a:rPr b="1" i="0" lang="en-US" sz="1800" u="none" cap="none" strike="noStrike">
                <a:solidFill>
                  <a:srgbClr val="006699"/>
                </a:solidFill>
                <a:latin typeface="Arial"/>
                <a:ea typeface="Arial"/>
                <a:cs typeface="Arial"/>
                <a:sym typeface="Arial"/>
              </a:rPr>
              <a:t>servers</a:t>
            </a:r>
            <a:r>
              <a:rPr b="0" i="0" lang="en-US" sz="1800" u="none" cap="none" strike="noStrike">
                <a:solidFill>
                  <a:schemeClr val="dk1"/>
                </a:solidFill>
                <a:latin typeface="Helvetica Neue"/>
                <a:ea typeface="Helvetica Neue"/>
                <a:cs typeface="Helvetica Neue"/>
                <a:sym typeface="Helvetica Neue"/>
              </a:rPr>
              <a:t>, responding to requests generated by </a:t>
            </a:r>
            <a:r>
              <a:rPr b="1" i="0" lang="en-US" sz="1800" u="none" cap="none" strike="noStrike">
                <a:solidFill>
                  <a:srgbClr val="006699"/>
                </a:solidFill>
                <a:latin typeface="Arial"/>
                <a:ea typeface="Arial"/>
                <a:cs typeface="Arial"/>
                <a:sym typeface="Arial"/>
              </a:rPr>
              <a:t>clients</a:t>
            </a:r>
            <a:endParaRPr/>
          </a:p>
          <a:p>
            <a:pPr indent="-228600" lvl="2" marL="1085850" marR="0" rtl="0" algn="l">
              <a:lnSpc>
                <a:spcPct val="90000"/>
              </a:lnSpc>
              <a:spcBef>
                <a:spcPts val="630"/>
              </a:spcBef>
              <a:spcAft>
                <a:spcPts val="0"/>
              </a:spcAft>
              <a:buClr>
                <a:srgbClr val="009900"/>
              </a:buClr>
              <a:buSzPts val="1350"/>
              <a:buFont typeface="Arimo"/>
              <a:buChar char="4"/>
            </a:pPr>
            <a:r>
              <a:rPr b="1" i="0" lang="en-US" sz="1800" u="none" cap="none" strike="noStrike">
                <a:solidFill>
                  <a:srgbClr val="006699"/>
                </a:solidFill>
                <a:latin typeface="Arial"/>
                <a:ea typeface="Arial"/>
                <a:cs typeface="Arial"/>
                <a:sym typeface="Arial"/>
              </a:rPr>
              <a:t>Compute-server system </a:t>
            </a:r>
            <a:r>
              <a:rPr b="0" i="0" lang="en-US" sz="1800" u="none" cap="none" strike="noStrike">
                <a:solidFill>
                  <a:schemeClr val="dk1"/>
                </a:solidFill>
                <a:latin typeface="Helvetica Neue"/>
                <a:ea typeface="Helvetica Neue"/>
                <a:cs typeface="Helvetica Neue"/>
                <a:sym typeface="Helvetica Neue"/>
              </a:rPr>
              <a:t>provides an interface to client to request services (i.e., database)</a:t>
            </a:r>
            <a:endParaRPr/>
          </a:p>
          <a:p>
            <a:pPr indent="-228600" lvl="2" marL="1085850" marR="0" rtl="0" algn="l">
              <a:lnSpc>
                <a:spcPct val="90000"/>
              </a:lnSpc>
              <a:spcBef>
                <a:spcPts val="630"/>
              </a:spcBef>
              <a:spcAft>
                <a:spcPts val="0"/>
              </a:spcAft>
              <a:buClr>
                <a:srgbClr val="009900"/>
              </a:buClr>
              <a:buSzPts val="1350"/>
              <a:buFont typeface="Arimo"/>
              <a:buChar char="4"/>
            </a:pPr>
            <a:r>
              <a:rPr b="1" i="0" lang="en-US" sz="1800" u="none" cap="none" strike="noStrike">
                <a:solidFill>
                  <a:srgbClr val="006699"/>
                </a:solidFill>
                <a:latin typeface="Arial"/>
                <a:ea typeface="Arial"/>
                <a:cs typeface="Arial"/>
                <a:sym typeface="Arial"/>
              </a:rPr>
              <a:t>File-server system </a:t>
            </a:r>
            <a:r>
              <a:rPr b="0" i="0" lang="en-US" sz="1800" u="none" cap="none" strike="noStrike">
                <a:solidFill>
                  <a:schemeClr val="dk1"/>
                </a:solidFill>
                <a:latin typeface="Helvetica Neue"/>
                <a:ea typeface="Helvetica Neue"/>
                <a:cs typeface="Helvetica Neue"/>
                <a:sym typeface="Helvetica Neue"/>
              </a:rPr>
              <a:t>provides interface for clients to store and retrieve files</a:t>
            </a:r>
            <a:endParaRPr/>
          </a:p>
        </p:txBody>
      </p:sp>
      <p:pic>
        <p:nvPicPr>
          <p:cNvPr descr="1_18.pdf" id="452" name="Google Shape;452;p62"/>
          <p:cNvPicPr preferRelativeResize="0"/>
          <p:nvPr/>
        </p:nvPicPr>
        <p:blipFill rotWithShape="1">
          <a:blip r:embed="rId3">
            <a:alphaModFix/>
          </a:blip>
          <a:srcRect b="0" l="0" r="0" t="0"/>
          <a:stretch/>
        </p:blipFill>
        <p:spPr>
          <a:xfrm>
            <a:off x="2081213" y="3805238"/>
            <a:ext cx="4610100" cy="20050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3"/>
          <p:cNvSpPr txBox="1"/>
          <p:nvPr>
            <p:ph idx="4294967295" type="title"/>
          </p:nvPr>
        </p:nvSpPr>
        <p:spPr>
          <a:xfrm>
            <a:off x="1152525" y="212725"/>
            <a:ext cx="73945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Peer-to-Peer</a:t>
            </a:r>
            <a:endParaRPr/>
          </a:p>
        </p:txBody>
      </p:sp>
      <p:sp>
        <p:nvSpPr>
          <p:cNvPr id="458" name="Google Shape;458;p63"/>
          <p:cNvSpPr txBox="1"/>
          <p:nvPr>
            <p:ph idx="4294967295" type="body"/>
          </p:nvPr>
        </p:nvSpPr>
        <p:spPr>
          <a:xfrm>
            <a:off x="806450" y="1233488"/>
            <a:ext cx="5057775"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Another model of distributed system</a:t>
            </a:r>
            <a:endParaRPr/>
          </a:p>
          <a:p>
            <a:pPr indent="-342900" lvl="0" marL="342900" rtl="0" algn="l">
              <a:spcBef>
                <a:spcPts val="630"/>
              </a:spcBef>
              <a:spcAft>
                <a:spcPts val="0"/>
              </a:spcAft>
              <a:buSzPts val="1980"/>
              <a:buChar char="▪"/>
            </a:pPr>
            <a:r>
              <a:rPr lang="en-US"/>
              <a:t>P2P does not distinguish clients and servers</a:t>
            </a:r>
            <a:endParaRPr/>
          </a:p>
          <a:p>
            <a:pPr indent="-285750" lvl="1" marL="742950" rtl="0" algn="l">
              <a:spcBef>
                <a:spcPts val="630"/>
              </a:spcBef>
              <a:spcAft>
                <a:spcPts val="0"/>
              </a:spcAft>
              <a:buSzPts val="1980"/>
              <a:buChar char="•"/>
            </a:pPr>
            <a:r>
              <a:rPr lang="en-US"/>
              <a:t>Instead all nodes are considered peers</a:t>
            </a:r>
            <a:endParaRPr/>
          </a:p>
          <a:p>
            <a:pPr indent="-285750" lvl="1" marL="742950" rtl="0" algn="l">
              <a:spcBef>
                <a:spcPts val="630"/>
              </a:spcBef>
              <a:spcAft>
                <a:spcPts val="0"/>
              </a:spcAft>
              <a:buSzPts val="1980"/>
              <a:buChar char="•"/>
            </a:pPr>
            <a:r>
              <a:rPr lang="en-US"/>
              <a:t>May each act as client, server or both</a:t>
            </a:r>
            <a:endParaRPr/>
          </a:p>
          <a:p>
            <a:pPr indent="-285750" lvl="1" marL="742950" rtl="0" algn="l">
              <a:spcBef>
                <a:spcPts val="630"/>
              </a:spcBef>
              <a:spcAft>
                <a:spcPts val="0"/>
              </a:spcAft>
              <a:buSzPts val="1980"/>
              <a:buChar char="•"/>
            </a:pPr>
            <a:r>
              <a:rPr lang="en-US"/>
              <a:t>Node must join P2P network</a:t>
            </a:r>
            <a:endParaRPr/>
          </a:p>
          <a:p>
            <a:pPr indent="-228600" lvl="2" marL="1085850" rtl="0" algn="l">
              <a:spcBef>
                <a:spcPts val="630"/>
              </a:spcBef>
              <a:spcAft>
                <a:spcPts val="0"/>
              </a:spcAft>
              <a:buSzPts val="1350"/>
              <a:buChar char="4"/>
            </a:pPr>
            <a:r>
              <a:rPr lang="en-US"/>
              <a:t>Registers its service with central lookup service on network, or</a:t>
            </a:r>
            <a:endParaRPr/>
          </a:p>
          <a:p>
            <a:pPr indent="-228600" lvl="2" marL="1085850" rtl="0" algn="l">
              <a:spcBef>
                <a:spcPts val="630"/>
              </a:spcBef>
              <a:spcAft>
                <a:spcPts val="0"/>
              </a:spcAft>
              <a:buSzPts val="1350"/>
              <a:buChar char="4"/>
            </a:pPr>
            <a:r>
              <a:rPr lang="en-US"/>
              <a:t>Broadcast request for service and respond to requests for service via </a:t>
            </a:r>
            <a:r>
              <a:rPr b="1" i="1" lang="en-US"/>
              <a:t>discovery protocol</a:t>
            </a:r>
            <a:endParaRPr/>
          </a:p>
          <a:p>
            <a:pPr indent="-285750" lvl="1" marL="742950" rtl="0" algn="l">
              <a:spcBef>
                <a:spcPts val="630"/>
              </a:spcBef>
              <a:spcAft>
                <a:spcPts val="0"/>
              </a:spcAft>
              <a:buSzPts val="1980"/>
              <a:buChar char="•"/>
            </a:pPr>
            <a:r>
              <a:rPr lang="en-US"/>
              <a:t>Examples include</a:t>
            </a:r>
            <a:r>
              <a:rPr i="1" lang="en-US"/>
              <a:t> </a:t>
            </a:r>
            <a:r>
              <a:rPr lang="en-US"/>
              <a:t>Napster</a:t>
            </a:r>
            <a:r>
              <a:rPr i="1" lang="en-US"/>
              <a:t> </a:t>
            </a:r>
            <a:r>
              <a:rPr lang="en-US"/>
              <a:t>and</a:t>
            </a:r>
            <a:r>
              <a:rPr i="1" lang="en-US"/>
              <a:t> </a:t>
            </a:r>
            <a:r>
              <a:rPr lang="en-US"/>
              <a:t>Gnutella</a:t>
            </a:r>
            <a:r>
              <a:rPr i="1" lang="en-US"/>
              <a:t>, </a:t>
            </a:r>
            <a:r>
              <a:rPr b="1" lang="en-US">
                <a:solidFill>
                  <a:srgbClr val="006699"/>
                </a:solidFill>
                <a:latin typeface="Arial"/>
                <a:ea typeface="Arial"/>
                <a:cs typeface="Arial"/>
                <a:sym typeface="Arial"/>
              </a:rPr>
              <a:t>Voice over IP </a:t>
            </a:r>
            <a:r>
              <a:rPr lang="en-US"/>
              <a:t>(</a:t>
            </a:r>
            <a:r>
              <a:rPr b="1" lang="en-US">
                <a:solidFill>
                  <a:srgbClr val="006699"/>
                </a:solidFill>
                <a:latin typeface="Arial"/>
                <a:ea typeface="Arial"/>
                <a:cs typeface="Arial"/>
                <a:sym typeface="Arial"/>
              </a:rPr>
              <a:t>VoIP</a:t>
            </a:r>
            <a:r>
              <a:rPr lang="en-US"/>
              <a:t>)</a:t>
            </a:r>
            <a:r>
              <a:rPr i="1" lang="en-US"/>
              <a:t> </a:t>
            </a:r>
            <a:r>
              <a:rPr lang="en-US"/>
              <a:t>such as Skype </a:t>
            </a:r>
            <a:endParaRPr/>
          </a:p>
        </p:txBody>
      </p:sp>
      <p:pic>
        <p:nvPicPr>
          <p:cNvPr descr="1_19.pdf" id="459" name="Google Shape;459;p63"/>
          <p:cNvPicPr preferRelativeResize="0"/>
          <p:nvPr/>
        </p:nvPicPr>
        <p:blipFill rotWithShape="1">
          <a:blip r:embed="rId3">
            <a:alphaModFix/>
          </a:blip>
          <a:srcRect b="0" l="0" r="0" t="0"/>
          <a:stretch/>
        </p:blipFill>
        <p:spPr>
          <a:xfrm>
            <a:off x="6059488" y="1984375"/>
            <a:ext cx="2668587" cy="2027238"/>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4"/>
          <p:cNvSpPr txBox="1"/>
          <p:nvPr>
            <p:ph idx="4294967295" type="title"/>
          </p:nvPr>
        </p:nvSpPr>
        <p:spPr>
          <a:xfrm>
            <a:off x="955675" y="198438"/>
            <a:ext cx="81232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Cloud Computing</a:t>
            </a:r>
            <a:endParaRPr/>
          </a:p>
        </p:txBody>
      </p:sp>
      <p:sp>
        <p:nvSpPr>
          <p:cNvPr id="465" name="Google Shape;465;p64"/>
          <p:cNvSpPr txBox="1"/>
          <p:nvPr>
            <p:ph idx="4294967295" type="body"/>
          </p:nvPr>
        </p:nvSpPr>
        <p:spPr>
          <a:xfrm>
            <a:off x="806451" y="1060450"/>
            <a:ext cx="6347976" cy="4807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Delivers computing, storage, even apps as a service across a network</a:t>
            </a:r>
            <a:endParaRPr/>
          </a:p>
          <a:p>
            <a:pPr indent="-342900" lvl="0" marL="342900" rtl="0" algn="l">
              <a:spcBef>
                <a:spcPts val="630"/>
              </a:spcBef>
              <a:spcAft>
                <a:spcPts val="0"/>
              </a:spcAft>
              <a:buSzPts val="1980"/>
              <a:buChar char="▪"/>
            </a:pPr>
            <a:r>
              <a:rPr lang="en-US"/>
              <a:t>Logical extension of virtualization because it uses virtualization as the base for it functionality.</a:t>
            </a:r>
            <a:endParaRPr/>
          </a:p>
          <a:p>
            <a:pPr indent="-285750" lvl="1" marL="742950" rtl="0" algn="l">
              <a:spcBef>
                <a:spcPts val="630"/>
              </a:spcBef>
              <a:spcAft>
                <a:spcPts val="0"/>
              </a:spcAft>
              <a:buSzPts val="1980"/>
              <a:buChar char="•"/>
            </a:pPr>
            <a:r>
              <a:rPr lang="en-US"/>
              <a:t>Amazon </a:t>
            </a:r>
            <a:r>
              <a:rPr b="1" lang="en-US">
                <a:solidFill>
                  <a:srgbClr val="006699"/>
                </a:solidFill>
                <a:latin typeface="Arial"/>
                <a:ea typeface="Arial"/>
                <a:cs typeface="Arial"/>
                <a:sym typeface="Arial"/>
              </a:rPr>
              <a:t>EC2</a:t>
            </a:r>
            <a:r>
              <a:rPr lang="en-US"/>
              <a:t>  has thousands of servers, millions of virtual machines, petabytes of storage available across the Internet, pay based on usage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5"/>
          <p:cNvSpPr txBox="1"/>
          <p:nvPr>
            <p:ph idx="4294967295" type="title"/>
          </p:nvPr>
        </p:nvSpPr>
        <p:spPr>
          <a:xfrm>
            <a:off x="955675" y="198438"/>
            <a:ext cx="81232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Cloud Computing (Cont.)</a:t>
            </a:r>
            <a:endParaRPr/>
          </a:p>
        </p:txBody>
      </p:sp>
      <p:sp>
        <p:nvSpPr>
          <p:cNvPr id="471" name="Google Shape;471;p65"/>
          <p:cNvSpPr txBox="1"/>
          <p:nvPr>
            <p:ph idx="4294967295" type="body"/>
          </p:nvPr>
        </p:nvSpPr>
        <p:spPr>
          <a:xfrm>
            <a:off x="806450" y="1060450"/>
            <a:ext cx="7712075" cy="510381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Many types</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Public cloud </a:t>
            </a:r>
            <a:r>
              <a:rPr lang="en-US"/>
              <a:t>– available via Internet to anyone willing to pay</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Private cloud </a:t>
            </a:r>
            <a:r>
              <a:rPr lang="en-US"/>
              <a:t>– run by a company for the company’s own use</a:t>
            </a:r>
            <a:endParaRPr/>
          </a:p>
          <a:p>
            <a:pPr indent="-285750" lvl="1" marL="742950" rtl="0" algn="l">
              <a:spcBef>
                <a:spcPts val="630"/>
              </a:spcBef>
              <a:spcAft>
                <a:spcPts val="0"/>
              </a:spcAft>
              <a:buSzPts val="1980"/>
              <a:buChar char="•"/>
            </a:pPr>
            <a:r>
              <a:rPr b="1" lang="en-US">
                <a:solidFill>
                  <a:srgbClr val="006699"/>
                </a:solidFill>
                <a:latin typeface="Arial"/>
                <a:ea typeface="Arial"/>
                <a:cs typeface="Arial"/>
                <a:sym typeface="Arial"/>
              </a:rPr>
              <a:t>Hybrid cloud </a:t>
            </a:r>
            <a:r>
              <a:rPr lang="en-US"/>
              <a:t>– includes both public and private cloud components</a:t>
            </a:r>
            <a:endParaRPr/>
          </a:p>
          <a:p>
            <a:pPr indent="-285750" lvl="1" marL="742950" rtl="0" algn="l">
              <a:spcBef>
                <a:spcPts val="630"/>
              </a:spcBef>
              <a:spcAft>
                <a:spcPts val="0"/>
              </a:spcAft>
              <a:buSzPts val="1980"/>
              <a:buChar char="•"/>
            </a:pPr>
            <a:r>
              <a:rPr lang="en-US"/>
              <a:t>Software as a Service (</a:t>
            </a:r>
            <a:r>
              <a:rPr b="1" lang="en-US">
                <a:solidFill>
                  <a:srgbClr val="006699"/>
                </a:solidFill>
                <a:latin typeface="Arial"/>
                <a:ea typeface="Arial"/>
                <a:cs typeface="Arial"/>
                <a:sym typeface="Arial"/>
              </a:rPr>
              <a:t>SaaS</a:t>
            </a:r>
            <a:r>
              <a:rPr lang="en-US"/>
              <a:t>) – one or more applications available via the Internet (i.e., word processor)</a:t>
            </a:r>
            <a:endParaRPr/>
          </a:p>
          <a:p>
            <a:pPr indent="-285750" lvl="1" marL="742950" rtl="0" algn="l">
              <a:spcBef>
                <a:spcPts val="630"/>
              </a:spcBef>
              <a:spcAft>
                <a:spcPts val="0"/>
              </a:spcAft>
              <a:buSzPts val="1980"/>
              <a:buChar char="•"/>
            </a:pPr>
            <a:r>
              <a:rPr lang="en-US"/>
              <a:t>Platform as a Service (</a:t>
            </a:r>
            <a:r>
              <a:rPr b="1" lang="en-US">
                <a:solidFill>
                  <a:srgbClr val="006699"/>
                </a:solidFill>
                <a:latin typeface="Arial"/>
                <a:ea typeface="Arial"/>
                <a:cs typeface="Arial"/>
                <a:sym typeface="Arial"/>
              </a:rPr>
              <a:t>PaaS</a:t>
            </a:r>
            <a:r>
              <a:rPr lang="en-US"/>
              <a:t>) – software stack ready for application use via the Internet (i.e., a database server)</a:t>
            </a:r>
            <a:endParaRPr/>
          </a:p>
          <a:p>
            <a:pPr indent="-285750" lvl="1" marL="742950" rtl="0" algn="l">
              <a:spcBef>
                <a:spcPts val="630"/>
              </a:spcBef>
              <a:spcAft>
                <a:spcPts val="0"/>
              </a:spcAft>
              <a:buSzPts val="1980"/>
              <a:buChar char="•"/>
            </a:pPr>
            <a:r>
              <a:rPr lang="en-US"/>
              <a:t>Infrastructure as a Service (</a:t>
            </a:r>
            <a:r>
              <a:rPr b="1" lang="en-US">
                <a:solidFill>
                  <a:srgbClr val="006699"/>
                </a:solidFill>
                <a:latin typeface="Arial"/>
                <a:ea typeface="Arial"/>
                <a:cs typeface="Arial"/>
                <a:sym typeface="Arial"/>
              </a:rPr>
              <a:t>IaaS</a:t>
            </a:r>
            <a:r>
              <a:rPr lang="en-US"/>
              <a:t>) – servers or storage available over Internet (i.e., storage available for backup use)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6"/>
          <p:cNvSpPr txBox="1"/>
          <p:nvPr>
            <p:ph idx="4294967295" type="body"/>
          </p:nvPr>
        </p:nvSpPr>
        <p:spPr>
          <a:xfrm>
            <a:off x="801688" y="1092200"/>
            <a:ext cx="7645400" cy="15716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Cloud computing environments composed of traditional OSes, plus VMMs, plus cloud management tools</a:t>
            </a:r>
            <a:endParaRPr/>
          </a:p>
          <a:p>
            <a:pPr indent="-285750" lvl="1" marL="742950" rtl="0" algn="l">
              <a:spcBef>
                <a:spcPts val="630"/>
              </a:spcBef>
              <a:spcAft>
                <a:spcPts val="0"/>
              </a:spcAft>
              <a:buSzPts val="1980"/>
              <a:buChar char="•"/>
            </a:pPr>
            <a:r>
              <a:rPr lang="en-US"/>
              <a:t>Internet connectivity requires security like firewalls</a:t>
            </a:r>
            <a:endParaRPr sz="800"/>
          </a:p>
          <a:p>
            <a:pPr indent="-285750" lvl="1" marL="742950" rtl="0" algn="l">
              <a:spcBef>
                <a:spcPts val="630"/>
              </a:spcBef>
              <a:spcAft>
                <a:spcPts val="0"/>
              </a:spcAft>
              <a:buSzPts val="1980"/>
              <a:buChar char="•"/>
            </a:pPr>
            <a:r>
              <a:rPr lang="en-US"/>
              <a:t>Load balancers spread traffic across multiple applications</a:t>
            </a:r>
            <a:endParaRPr/>
          </a:p>
        </p:txBody>
      </p:sp>
      <p:pic>
        <p:nvPicPr>
          <p:cNvPr descr="1_21.pdf" id="477" name="Google Shape;477;p66"/>
          <p:cNvPicPr preferRelativeResize="0"/>
          <p:nvPr/>
        </p:nvPicPr>
        <p:blipFill rotWithShape="1">
          <a:blip r:embed="rId3">
            <a:alphaModFix/>
          </a:blip>
          <a:srcRect b="0" l="0" r="0" t="0"/>
          <a:stretch/>
        </p:blipFill>
        <p:spPr>
          <a:xfrm>
            <a:off x="2427288" y="2800350"/>
            <a:ext cx="4119562" cy="3260725"/>
          </a:xfrm>
          <a:prstGeom prst="rect">
            <a:avLst/>
          </a:prstGeom>
          <a:noFill/>
          <a:ln>
            <a:noFill/>
          </a:ln>
        </p:spPr>
      </p:pic>
      <p:sp>
        <p:nvSpPr>
          <p:cNvPr id="478" name="Google Shape;478;p66"/>
          <p:cNvSpPr txBox="1"/>
          <p:nvPr/>
        </p:nvSpPr>
        <p:spPr>
          <a:xfrm>
            <a:off x="1020762" y="220663"/>
            <a:ext cx="8123238" cy="57626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006699"/>
                </a:solidFill>
                <a:latin typeface="Arial"/>
                <a:ea typeface="Arial"/>
                <a:cs typeface="Arial"/>
                <a:sym typeface="Arial"/>
              </a:rPr>
              <a:t>Cloud Computing (cont.)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7"/>
          <p:cNvSpPr txBox="1"/>
          <p:nvPr>
            <p:ph idx="4294967295" type="title"/>
          </p:nvPr>
        </p:nvSpPr>
        <p:spPr>
          <a:xfrm>
            <a:off x="1058863" y="73025"/>
            <a:ext cx="8229600" cy="711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Real-Time Embedded Systems</a:t>
            </a:r>
            <a:endParaRPr/>
          </a:p>
        </p:txBody>
      </p:sp>
      <p:sp>
        <p:nvSpPr>
          <p:cNvPr id="484" name="Google Shape;484;p67"/>
          <p:cNvSpPr txBox="1"/>
          <p:nvPr>
            <p:ph idx="4294967295" type="body"/>
          </p:nvPr>
        </p:nvSpPr>
        <p:spPr>
          <a:xfrm>
            <a:off x="820738" y="1154113"/>
            <a:ext cx="7688262"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Real-time embedded systems most prevalent form of computers</a:t>
            </a:r>
            <a:endParaRPr/>
          </a:p>
          <a:p>
            <a:pPr indent="-285750" lvl="1" marL="742950" rtl="0" algn="l">
              <a:spcBef>
                <a:spcPts val="630"/>
              </a:spcBef>
              <a:spcAft>
                <a:spcPts val="0"/>
              </a:spcAft>
              <a:buSzPts val="1980"/>
              <a:buChar char="•"/>
            </a:pPr>
            <a:r>
              <a:rPr lang="en-US"/>
              <a:t>Vary considerable, special purpose, limited purpose OS,  </a:t>
            </a:r>
            <a:r>
              <a:rPr b="1" lang="en-US">
                <a:solidFill>
                  <a:srgbClr val="006699"/>
                </a:solidFill>
                <a:latin typeface="Arial"/>
                <a:ea typeface="Arial"/>
                <a:cs typeface="Arial"/>
                <a:sym typeface="Arial"/>
              </a:rPr>
              <a:t>real-time OS</a:t>
            </a:r>
            <a:endParaRPr/>
          </a:p>
          <a:p>
            <a:pPr indent="-285750" lvl="1" marL="742950" rtl="0" algn="l">
              <a:spcBef>
                <a:spcPts val="630"/>
              </a:spcBef>
              <a:spcAft>
                <a:spcPts val="0"/>
              </a:spcAft>
              <a:buSzPts val="1980"/>
              <a:buChar char="•"/>
            </a:pPr>
            <a:r>
              <a:rPr lang="en-US"/>
              <a:t>Use expanding</a:t>
            </a:r>
            <a:endParaRPr/>
          </a:p>
          <a:p>
            <a:pPr indent="-342900" lvl="0" marL="342900" rtl="0" algn="l">
              <a:spcBef>
                <a:spcPts val="630"/>
              </a:spcBef>
              <a:spcAft>
                <a:spcPts val="0"/>
              </a:spcAft>
              <a:buSzPts val="1980"/>
              <a:buChar char="▪"/>
            </a:pPr>
            <a:r>
              <a:rPr lang="en-US"/>
              <a:t>Many other special computing environments as well</a:t>
            </a:r>
            <a:endParaRPr/>
          </a:p>
          <a:p>
            <a:pPr indent="-285750" lvl="1" marL="742950" rtl="0" algn="l">
              <a:spcBef>
                <a:spcPts val="630"/>
              </a:spcBef>
              <a:spcAft>
                <a:spcPts val="0"/>
              </a:spcAft>
              <a:buSzPts val="1980"/>
              <a:buChar char="•"/>
            </a:pPr>
            <a:r>
              <a:rPr lang="en-US"/>
              <a:t>Some have OSes, some perform tasks without an OS</a:t>
            </a:r>
            <a:endParaRPr/>
          </a:p>
          <a:p>
            <a:pPr indent="-342900" lvl="0" marL="342900" rtl="0" algn="l">
              <a:spcBef>
                <a:spcPts val="630"/>
              </a:spcBef>
              <a:spcAft>
                <a:spcPts val="0"/>
              </a:spcAft>
              <a:buSzPts val="1980"/>
              <a:buChar char="▪"/>
            </a:pPr>
            <a:r>
              <a:rPr lang="en-US"/>
              <a:t>Real-time OS has well-defined fixed time constraints</a:t>
            </a:r>
            <a:endParaRPr/>
          </a:p>
          <a:p>
            <a:pPr indent="-285750" lvl="1" marL="742950" rtl="0" algn="l">
              <a:spcBef>
                <a:spcPts val="630"/>
              </a:spcBef>
              <a:spcAft>
                <a:spcPts val="0"/>
              </a:spcAft>
              <a:buSzPts val="1980"/>
              <a:buChar char="•"/>
            </a:pPr>
            <a:r>
              <a:rPr lang="en-US"/>
              <a:t>Processing </a:t>
            </a:r>
            <a:r>
              <a:rPr b="1" i="1" lang="en-US"/>
              <a:t>must</a:t>
            </a:r>
            <a:r>
              <a:rPr lang="en-US"/>
              <a:t> be done within constraint</a:t>
            </a:r>
            <a:endParaRPr/>
          </a:p>
          <a:p>
            <a:pPr indent="-285750" lvl="1" marL="742950" rtl="0" algn="l">
              <a:spcBef>
                <a:spcPts val="630"/>
              </a:spcBef>
              <a:spcAft>
                <a:spcPts val="0"/>
              </a:spcAft>
              <a:buSzPts val="1980"/>
              <a:buChar char="•"/>
            </a:pPr>
            <a:r>
              <a:rPr lang="en-US"/>
              <a:t>Correct operation only if constraints met</a:t>
            </a:r>
            <a:endParaRPr/>
          </a:p>
          <a:p>
            <a:pPr indent="-160019" lvl="1" marL="742950" rtl="0" algn="l">
              <a:spcBef>
                <a:spcPts val="630"/>
              </a:spcBef>
              <a:spcAft>
                <a:spcPts val="0"/>
              </a:spcAft>
              <a:buSzPts val="1980"/>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8"/>
          <p:cNvSpPr txBox="1"/>
          <p:nvPr>
            <p:ph idx="4294967295" type="title"/>
          </p:nvPr>
        </p:nvSpPr>
        <p:spPr>
          <a:xfrm>
            <a:off x="982663" y="201613"/>
            <a:ext cx="77041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Free and Open-Source Operating Systems</a:t>
            </a:r>
            <a:endParaRPr/>
          </a:p>
        </p:txBody>
      </p:sp>
      <p:sp>
        <p:nvSpPr>
          <p:cNvPr id="490" name="Google Shape;490;p68"/>
          <p:cNvSpPr txBox="1"/>
          <p:nvPr>
            <p:ph idx="4294967295" type="body"/>
          </p:nvPr>
        </p:nvSpPr>
        <p:spPr>
          <a:xfrm>
            <a:off x="830263" y="961113"/>
            <a:ext cx="7704137"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Operating systems made available in source-code format rather than just binary </a:t>
            </a:r>
            <a:r>
              <a:rPr b="1" lang="en-US">
                <a:solidFill>
                  <a:srgbClr val="006699"/>
                </a:solidFill>
                <a:latin typeface="Arial"/>
                <a:ea typeface="Arial"/>
                <a:cs typeface="Arial"/>
                <a:sym typeface="Arial"/>
              </a:rPr>
              <a:t>closed-source</a:t>
            </a:r>
            <a:r>
              <a:rPr b="1" lang="en-US">
                <a:solidFill>
                  <a:srgbClr val="3366FF"/>
                </a:solidFill>
              </a:rPr>
              <a:t> </a:t>
            </a:r>
            <a:r>
              <a:rPr lang="en-US"/>
              <a:t>and</a:t>
            </a:r>
            <a:r>
              <a:rPr b="1" lang="en-US">
                <a:solidFill>
                  <a:srgbClr val="3366FF"/>
                </a:solidFill>
              </a:rPr>
              <a:t> </a:t>
            </a:r>
            <a:r>
              <a:rPr b="1" lang="en-US">
                <a:solidFill>
                  <a:srgbClr val="006699"/>
                </a:solidFill>
                <a:latin typeface="Arial"/>
                <a:ea typeface="Arial"/>
                <a:cs typeface="Arial"/>
                <a:sym typeface="Arial"/>
              </a:rPr>
              <a:t>proprietary</a:t>
            </a:r>
            <a:endParaRPr/>
          </a:p>
          <a:p>
            <a:pPr indent="-342900" lvl="0" marL="342900" rtl="0" algn="l">
              <a:spcBef>
                <a:spcPts val="630"/>
              </a:spcBef>
              <a:spcAft>
                <a:spcPts val="0"/>
              </a:spcAft>
              <a:buSzPts val="1980"/>
              <a:buChar char="▪"/>
            </a:pPr>
            <a:r>
              <a:rPr lang="en-US"/>
              <a:t>Counter to the </a:t>
            </a:r>
            <a:r>
              <a:rPr b="1" lang="en-US">
                <a:solidFill>
                  <a:srgbClr val="006699"/>
                </a:solidFill>
                <a:latin typeface="Arial"/>
                <a:ea typeface="Arial"/>
                <a:cs typeface="Arial"/>
                <a:sym typeface="Arial"/>
              </a:rPr>
              <a:t>copy protection </a:t>
            </a:r>
            <a:r>
              <a:rPr lang="en-US">
                <a:solidFill>
                  <a:srgbClr val="000000"/>
                </a:solidFill>
              </a:rPr>
              <a:t>and </a:t>
            </a:r>
            <a:r>
              <a:rPr b="1" lang="en-US">
                <a:solidFill>
                  <a:srgbClr val="006699"/>
                </a:solidFill>
                <a:latin typeface="Arial"/>
                <a:ea typeface="Arial"/>
                <a:cs typeface="Arial"/>
                <a:sym typeface="Arial"/>
              </a:rPr>
              <a:t>Digital Rights Management </a:t>
            </a:r>
            <a:r>
              <a:rPr lang="en-US"/>
              <a:t>(</a:t>
            </a:r>
            <a:r>
              <a:rPr b="1" lang="en-US">
                <a:solidFill>
                  <a:srgbClr val="006699"/>
                </a:solidFill>
                <a:latin typeface="Arial"/>
                <a:ea typeface="Arial"/>
                <a:cs typeface="Arial"/>
                <a:sym typeface="Arial"/>
              </a:rPr>
              <a:t>DRM</a:t>
            </a:r>
            <a:r>
              <a:rPr lang="en-US"/>
              <a:t>) </a:t>
            </a:r>
            <a:r>
              <a:rPr lang="en-US">
                <a:solidFill>
                  <a:srgbClr val="000000"/>
                </a:solidFill>
              </a:rPr>
              <a:t>movement</a:t>
            </a:r>
            <a:endParaRPr sz="800">
              <a:solidFill>
                <a:srgbClr val="000000"/>
              </a:solidFill>
            </a:endParaRPr>
          </a:p>
          <a:p>
            <a:pPr indent="-342900" lvl="0" marL="342900" rtl="0" algn="l">
              <a:spcBef>
                <a:spcPts val="630"/>
              </a:spcBef>
              <a:spcAft>
                <a:spcPts val="0"/>
              </a:spcAft>
              <a:buSzPts val="1980"/>
              <a:buChar char="▪"/>
            </a:pPr>
            <a:r>
              <a:rPr lang="en-US">
                <a:solidFill>
                  <a:srgbClr val="000000"/>
                </a:solidFill>
              </a:rPr>
              <a:t>Started by </a:t>
            </a:r>
            <a:r>
              <a:rPr b="1" lang="en-US">
                <a:solidFill>
                  <a:srgbClr val="006699"/>
                </a:solidFill>
                <a:latin typeface="Arial"/>
                <a:ea typeface="Arial"/>
                <a:cs typeface="Arial"/>
                <a:sym typeface="Arial"/>
              </a:rPr>
              <a:t>Free Software Foundation </a:t>
            </a:r>
            <a:r>
              <a:rPr lang="en-US">
                <a:solidFill>
                  <a:srgbClr val="000000"/>
                </a:solidFill>
              </a:rPr>
              <a:t>(</a:t>
            </a:r>
            <a:r>
              <a:rPr b="1" lang="en-US">
                <a:solidFill>
                  <a:srgbClr val="006699"/>
                </a:solidFill>
                <a:latin typeface="Arial"/>
                <a:ea typeface="Arial"/>
                <a:cs typeface="Arial"/>
                <a:sym typeface="Arial"/>
              </a:rPr>
              <a:t>FSF</a:t>
            </a:r>
            <a:r>
              <a:rPr lang="en-US"/>
              <a:t>)</a:t>
            </a:r>
            <a:r>
              <a:rPr lang="en-US">
                <a:solidFill>
                  <a:srgbClr val="000000"/>
                </a:solidFill>
              </a:rPr>
              <a:t>, which has “copyleft” </a:t>
            </a:r>
            <a:r>
              <a:rPr b="1" lang="en-US">
                <a:solidFill>
                  <a:srgbClr val="006699"/>
                </a:solidFill>
                <a:latin typeface="Arial"/>
                <a:ea typeface="Arial"/>
                <a:cs typeface="Arial"/>
                <a:sym typeface="Arial"/>
              </a:rPr>
              <a:t>GNU Public License </a:t>
            </a:r>
            <a:r>
              <a:rPr lang="en-US"/>
              <a:t>(</a:t>
            </a:r>
            <a:r>
              <a:rPr b="1" lang="en-US">
                <a:solidFill>
                  <a:srgbClr val="006699"/>
                </a:solidFill>
                <a:latin typeface="Arial"/>
                <a:ea typeface="Arial"/>
                <a:cs typeface="Arial"/>
                <a:sym typeface="Arial"/>
              </a:rPr>
              <a:t>GPL</a:t>
            </a:r>
            <a:r>
              <a:rPr lang="en-US"/>
              <a:t>)</a:t>
            </a:r>
            <a:endParaRPr/>
          </a:p>
          <a:p>
            <a:pPr indent="-285750" lvl="1" marL="742950" rtl="0" algn="l">
              <a:spcBef>
                <a:spcPts val="560"/>
              </a:spcBef>
              <a:spcAft>
                <a:spcPts val="0"/>
              </a:spcAft>
              <a:buSzPts val="1760"/>
              <a:buChar char="•"/>
            </a:pPr>
            <a:r>
              <a:rPr lang="en-US" sz="1600"/>
              <a:t>Free software and open-source software are two different ideas championed by different groups of people</a:t>
            </a:r>
            <a:endParaRPr/>
          </a:p>
          <a:p>
            <a:pPr indent="-228600" lvl="2" marL="1085850" rtl="0" algn="l">
              <a:spcBef>
                <a:spcPts val="560"/>
              </a:spcBef>
              <a:spcAft>
                <a:spcPts val="0"/>
              </a:spcAft>
              <a:buSzPts val="1200"/>
              <a:buChar char="4"/>
            </a:pPr>
            <a:r>
              <a:rPr b="1" lang="en-US" sz="1600">
                <a:solidFill>
                  <a:srgbClr val="663300"/>
                </a:solidFill>
              </a:rPr>
              <a:t>https://www.gnu.org/philosophy/open-source-misses-the-point.en.html</a:t>
            </a:r>
            <a:endParaRPr/>
          </a:p>
          <a:p>
            <a:pPr indent="-342900" lvl="0" marL="342900" rtl="0" algn="l">
              <a:spcBef>
                <a:spcPts val="630"/>
              </a:spcBef>
              <a:spcAft>
                <a:spcPts val="0"/>
              </a:spcAft>
              <a:buSzPts val="1980"/>
              <a:buChar char="▪"/>
            </a:pPr>
            <a:r>
              <a:rPr lang="en-US">
                <a:solidFill>
                  <a:srgbClr val="000000"/>
                </a:solidFill>
              </a:rPr>
              <a:t>Examples include </a:t>
            </a:r>
            <a:r>
              <a:rPr b="1" lang="en-US">
                <a:solidFill>
                  <a:srgbClr val="006699"/>
                </a:solidFill>
                <a:latin typeface="Arial"/>
                <a:ea typeface="Arial"/>
                <a:cs typeface="Arial"/>
                <a:sym typeface="Arial"/>
              </a:rPr>
              <a:t>GNU/Linux </a:t>
            </a:r>
            <a:r>
              <a:rPr lang="en-US"/>
              <a:t>and </a:t>
            </a:r>
            <a:r>
              <a:rPr b="1" lang="en-US">
                <a:solidFill>
                  <a:srgbClr val="006699"/>
                </a:solidFill>
                <a:latin typeface="Arial"/>
                <a:ea typeface="Arial"/>
                <a:cs typeface="Arial"/>
                <a:sym typeface="Arial"/>
              </a:rPr>
              <a:t>BSD UNIX </a:t>
            </a:r>
            <a:r>
              <a:rPr lang="en-US">
                <a:solidFill>
                  <a:srgbClr val="000000"/>
                </a:solidFill>
              </a:rPr>
              <a:t>(including core of </a:t>
            </a:r>
            <a:r>
              <a:rPr b="1" lang="en-US">
                <a:solidFill>
                  <a:srgbClr val="006699"/>
                </a:solidFill>
                <a:latin typeface="Arial"/>
                <a:ea typeface="Arial"/>
                <a:cs typeface="Arial"/>
                <a:sym typeface="Arial"/>
              </a:rPr>
              <a:t>Mac</a:t>
            </a:r>
            <a:r>
              <a:rPr b="1" lang="en-US">
                <a:solidFill>
                  <a:srgbClr val="3366FF"/>
                </a:solidFill>
              </a:rPr>
              <a:t> </a:t>
            </a:r>
            <a:r>
              <a:rPr b="1" lang="en-US">
                <a:solidFill>
                  <a:srgbClr val="006699"/>
                </a:solidFill>
                <a:latin typeface="Arial"/>
                <a:ea typeface="Arial"/>
                <a:cs typeface="Arial"/>
                <a:sym typeface="Arial"/>
              </a:rPr>
              <a:t>OS X</a:t>
            </a:r>
            <a:r>
              <a:rPr lang="en-US">
                <a:solidFill>
                  <a:srgbClr val="000000"/>
                </a:solidFill>
              </a:rPr>
              <a:t>), and many more</a:t>
            </a:r>
            <a:endParaRPr/>
          </a:p>
          <a:p>
            <a:pPr indent="-342900" lvl="0" marL="342900" rtl="0" algn="l">
              <a:spcBef>
                <a:spcPts val="630"/>
              </a:spcBef>
              <a:spcAft>
                <a:spcPts val="0"/>
              </a:spcAft>
              <a:buSzPts val="1980"/>
              <a:buChar char="▪"/>
            </a:pPr>
            <a:r>
              <a:rPr lang="en-US">
                <a:solidFill>
                  <a:srgbClr val="000000"/>
                </a:solidFill>
              </a:rPr>
              <a:t>Can use VMM like VMware Player (Free on Windows), Virtualbox (open source and free on many platforms - </a:t>
            </a:r>
            <a:r>
              <a:rPr lang="en-US"/>
              <a:t>http://www.virtualbox.com) </a:t>
            </a:r>
            <a:endParaRPr/>
          </a:p>
          <a:p>
            <a:pPr indent="-285750" lvl="1" marL="742950" rtl="0" algn="l">
              <a:spcBef>
                <a:spcPts val="630"/>
              </a:spcBef>
              <a:spcAft>
                <a:spcPts val="0"/>
              </a:spcAft>
              <a:buSzPts val="1980"/>
              <a:buChar char="•"/>
            </a:pPr>
            <a:r>
              <a:rPr lang="en-US">
                <a:solidFill>
                  <a:srgbClr val="000000"/>
                </a:solidFill>
              </a:rPr>
              <a:t>Use to run guest operating systems for exploration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9"/>
          <p:cNvSpPr txBox="1"/>
          <p:nvPr>
            <p:ph idx="4294967295" type="title"/>
          </p:nvPr>
        </p:nvSpPr>
        <p:spPr>
          <a:xfrm>
            <a:off x="1033463" y="198438"/>
            <a:ext cx="75342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The Study of Operating Systems</a:t>
            </a:r>
            <a:endParaRPr/>
          </a:p>
        </p:txBody>
      </p:sp>
      <p:sp>
        <p:nvSpPr>
          <p:cNvPr id="496" name="Google Shape;496;p69"/>
          <p:cNvSpPr/>
          <p:nvPr/>
        </p:nvSpPr>
        <p:spPr>
          <a:xfrm>
            <a:off x="647700" y="1222375"/>
            <a:ext cx="7920038" cy="4703763"/>
          </a:xfrm>
          <a:prstGeom prst="rect">
            <a:avLst/>
          </a:prstGeom>
          <a:solidFill>
            <a:srgbClr val="CEEBF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There has never been a more interesting time to study operating systems, and it has never been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easier. The open-source movement has overtaken operating systems, causing many of them to be</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made available in both source and binary (executable) format. The list of operating</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systems available in both formats includes Linux, BUSD UNIX, Solaris, and part of macOS.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The availability of source code allows us to study operating systems from the inside out.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Questions that we could once answer only by looking at documentation or the behavior of an</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operating system we can now answer by examining the code itself.</a:t>
            </a:r>
            <a:endParaRPr/>
          </a:p>
          <a:p>
            <a:pPr indent="0" lvl="0" marL="0" marR="0" rtl="0" algn="l">
              <a:spcBef>
                <a:spcPts val="0"/>
              </a:spcBef>
              <a:spcAft>
                <a:spcPts val="0"/>
              </a:spcAft>
              <a:buClr>
                <a:schemeClr val="dk1"/>
              </a:buClr>
              <a:buSzPts val="1200"/>
              <a:buFont typeface="Noto Sans Symbols"/>
              <a:buNone/>
            </a:pPr>
            <a:r>
              <a:t/>
            </a:r>
            <a:endParaRPr b="0" i="0" sz="12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Operating systems that are no longer commercially viable have been open-sourced as well, enabling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us to study how systems operated in a time of fewer CPU, memory, and storage resources.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An extensive but incomplete list of open-source operating-system projects is available</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from https://curlie.org/Computers/Software/Operating_Systems/Open_Source/</a:t>
            </a:r>
            <a:endParaRPr/>
          </a:p>
          <a:p>
            <a:pPr indent="0" lvl="0" marL="0" marR="0" rtl="0" algn="l">
              <a:spcBef>
                <a:spcPts val="0"/>
              </a:spcBef>
              <a:spcAft>
                <a:spcPts val="0"/>
              </a:spcAft>
              <a:buClr>
                <a:schemeClr val="dk1"/>
              </a:buClr>
              <a:buSzPts val="1200"/>
              <a:buFont typeface="Noto Sans Symbols"/>
              <a:buNone/>
            </a:pPr>
            <a:r>
              <a:t/>
            </a:r>
            <a:endParaRPr b="0" i="0" sz="12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In addition, the rise of virtualization as a mainstream (and frequently free) computer function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makes it possible to run many operating systems on top of one core system. For example, VMware</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(http://www.vmware.com) providesa free “player” for Windows on which hundreds of free</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“virtual appliances” can run. Virtualbox (http://www.virtualbox.com) provides a free, open-source</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virtual machine manager on many operating systems. Using such tools, students can try out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hundreds of operating systems without dedicated hardware.</a:t>
            </a:r>
            <a:endParaRPr/>
          </a:p>
          <a:p>
            <a:pPr indent="0" lvl="0" marL="0" marR="0" rtl="0" algn="l">
              <a:spcBef>
                <a:spcPts val="0"/>
              </a:spcBef>
              <a:spcAft>
                <a:spcPts val="0"/>
              </a:spcAft>
              <a:buClr>
                <a:schemeClr val="dk1"/>
              </a:buClr>
              <a:buSzPts val="1200"/>
              <a:buFont typeface="Noto Sans Symbols"/>
              <a:buNone/>
            </a:pPr>
            <a:r>
              <a:t/>
            </a:r>
            <a:endParaRPr b="0" i="0" sz="12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The advent of open-source operating systems has also made it easier to make the move from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student to operating-system developer. With some knowledge, some effort, and an Internet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connection, a student can even create a new operating-system distribution. Just a few years ago, </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it was difficult or impossible to get access to source code. Now, such access is limited only by</a:t>
            </a:r>
            <a:endParaRPr/>
          </a:p>
          <a:p>
            <a:pPr indent="0" lvl="0" marL="0" marR="0" rtl="0" algn="l">
              <a:spcBef>
                <a:spcPts val="0"/>
              </a:spcBef>
              <a:spcAft>
                <a:spcPts val="0"/>
              </a:spcAft>
              <a:buClr>
                <a:schemeClr val="dk1"/>
              </a:buClr>
              <a:buSzPts val="1200"/>
              <a:buFont typeface="Noto Sans Symbols"/>
              <a:buNone/>
            </a:pPr>
            <a:r>
              <a:rPr b="0" i="0" lang="en-US" sz="1200" u="none" cap="none" strike="noStrike">
                <a:solidFill>
                  <a:schemeClr val="dk1"/>
                </a:solidFill>
                <a:latin typeface="Verdana"/>
                <a:ea typeface="Verdana"/>
                <a:cs typeface="Verdana"/>
                <a:sym typeface="Verdana"/>
              </a:rPr>
              <a:t>how much interest, time, and disk space a student has.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cxnSp>
        <p:nvCxnSpPr>
          <p:cNvPr id="502" name="Google Shape;502;p70"/>
          <p:cNvCxnSpPr/>
          <p:nvPr/>
        </p:nvCxnSpPr>
        <p:spPr>
          <a:xfrm>
            <a:off x="0" y="0"/>
            <a:ext cx="914400" cy="0"/>
          </a:xfrm>
          <a:prstGeom prst="straightConnector1">
            <a:avLst/>
          </a:prstGeom>
          <a:solidFill>
            <a:schemeClr val="accent1"/>
          </a:solidFill>
          <a:ln cap="flat" cmpd="sng" w="9525">
            <a:solidFill>
              <a:srgbClr val="FBFFFF"/>
            </a:solidFill>
            <a:prstDash val="solid"/>
            <a:round/>
            <a:headEnd len="sm" w="sm" type="none"/>
            <a:tailEnd len="sm" w="sm" type="none"/>
          </a:ln>
        </p:spPr>
      </p:cxnSp>
      <p:sp>
        <p:nvSpPr>
          <p:cNvPr id="503" name="Google Shape;503;p70"/>
          <p:cNvSpPr txBox="1"/>
          <p:nvPr>
            <p:ph type="title"/>
          </p:nvPr>
        </p:nvSpPr>
        <p:spPr>
          <a:xfrm>
            <a:off x="469900" y="2736850"/>
            <a:ext cx="82677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Kernel Data Structure</a:t>
            </a:r>
            <a:endParaRPr/>
          </a:p>
        </p:txBody>
      </p:sp>
      <p:sp>
        <p:nvSpPr>
          <p:cNvPr id="504" name="Google Shape;504;p70"/>
          <p:cNvSpPr/>
          <p:nvPr/>
        </p:nvSpPr>
        <p:spPr>
          <a:xfrm>
            <a:off x="1422400" y="2851150"/>
            <a:ext cx="6845300" cy="28162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1"/>
          <p:cNvSpPr txBox="1"/>
          <p:nvPr>
            <p:ph type="title"/>
          </p:nvPr>
        </p:nvSpPr>
        <p:spPr>
          <a:xfrm>
            <a:off x="457200" y="2206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Kernel Data Structures</a:t>
            </a:r>
            <a:endParaRPr/>
          </a:p>
        </p:txBody>
      </p:sp>
      <p:sp>
        <p:nvSpPr>
          <p:cNvPr id="510" name="Google Shape;510;p71"/>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lang="en-US"/>
              <a:t>Many similar to standard programming data structures</a:t>
            </a:r>
            <a:endParaRPr/>
          </a:p>
          <a:p>
            <a:pPr indent="-342900" lvl="0" marL="342900" rtl="0" algn="l">
              <a:spcBef>
                <a:spcPts val="630"/>
              </a:spcBef>
              <a:spcAft>
                <a:spcPts val="0"/>
              </a:spcAft>
              <a:buSzPts val="1980"/>
              <a:buChar char="▪"/>
            </a:pPr>
            <a:r>
              <a:rPr b="1" i="1" lang="en-US"/>
              <a:t>Singly linked list</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342900" lvl="0" marL="342900" rtl="0" algn="l">
              <a:spcBef>
                <a:spcPts val="630"/>
              </a:spcBef>
              <a:spcAft>
                <a:spcPts val="0"/>
              </a:spcAft>
              <a:buSzPts val="1980"/>
              <a:buChar char="▪"/>
            </a:pPr>
            <a:r>
              <a:rPr b="1" i="1" lang="en-US"/>
              <a:t>Doubly linked list</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342900" lvl="0" marL="342900" rtl="0" algn="l">
              <a:spcBef>
                <a:spcPts val="630"/>
              </a:spcBef>
              <a:spcAft>
                <a:spcPts val="0"/>
              </a:spcAft>
              <a:buSzPts val="1980"/>
              <a:buChar char="▪"/>
            </a:pPr>
            <a:r>
              <a:rPr b="1" i="1" lang="en-US"/>
              <a:t>Circular linked list</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a:p>
            <a:pPr indent="0" lvl="0" marL="0" rtl="0" algn="l">
              <a:spcBef>
                <a:spcPts val="630"/>
              </a:spcBef>
              <a:spcAft>
                <a:spcPts val="0"/>
              </a:spcAft>
              <a:buSzPts val="1980"/>
              <a:buFont typeface="Arial"/>
              <a:buNone/>
            </a:pPr>
            <a:r>
              <a:t/>
            </a:r>
            <a:endParaRPr/>
          </a:p>
          <a:p>
            <a:pPr indent="-217170" lvl="0" marL="342900" rtl="0" algn="l">
              <a:spcBef>
                <a:spcPts val="630"/>
              </a:spcBef>
              <a:spcAft>
                <a:spcPts val="0"/>
              </a:spcAft>
              <a:buSzPts val="1980"/>
              <a:buFont typeface="Arial"/>
              <a:buNone/>
            </a:pPr>
            <a:r>
              <a:t/>
            </a:r>
            <a:endParaRPr/>
          </a:p>
        </p:txBody>
      </p:sp>
      <p:pic>
        <p:nvPicPr>
          <p:cNvPr descr="1_13.pdf" id="511" name="Google Shape;511;p71"/>
          <p:cNvPicPr preferRelativeResize="0"/>
          <p:nvPr/>
        </p:nvPicPr>
        <p:blipFill rotWithShape="1">
          <a:blip r:embed="rId3">
            <a:alphaModFix/>
          </a:blip>
          <a:srcRect b="0" l="0" r="0" t="0"/>
          <a:stretch/>
        </p:blipFill>
        <p:spPr>
          <a:xfrm>
            <a:off x="1327150" y="2068513"/>
            <a:ext cx="6932613" cy="779462"/>
          </a:xfrm>
          <a:prstGeom prst="rect">
            <a:avLst/>
          </a:prstGeom>
          <a:noFill/>
          <a:ln>
            <a:noFill/>
          </a:ln>
        </p:spPr>
      </p:pic>
      <p:pic>
        <p:nvPicPr>
          <p:cNvPr descr="1_14.pdf" id="512" name="Google Shape;512;p71"/>
          <p:cNvPicPr preferRelativeResize="0"/>
          <p:nvPr/>
        </p:nvPicPr>
        <p:blipFill rotWithShape="1">
          <a:blip r:embed="rId4">
            <a:alphaModFix/>
          </a:blip>
          <a:srcRect b="0" l="0" r="0" t="0"/>
          <a:stretch/>
        </p:blipFill>
        <p:spPr>
          <a:xfrm>
            <a:off x="1287463" y="3632200"/>
            <a:ext cx="7026275" cy="949325"/>
          </a:xfrm>
          <a:prstGeom prst="rect">
            <a:avLst/>
          </a:prstGeom>
          <a:noFill/>
          <a:ln>
            <a:noFill/>
          </a:ln>
        </p:spPr>
      </p:pic>
      <p:pic>
        <p:nvPicPr>
          <p:cNvPr descr="1_15.pdf" id="513" name="Google Shape;513;p71"/>
          <p:cNvPicPr preferRelativeResize="0"/>
          <p:nvPr/>
        </p:nvPicPr>
        <p:blipFill rotWithShape="1">
          <a:blip r:embed="rId5">
            <a:alphaModFix/>
          </a:blip>
          <a:srcRect b="0" l="0" r="0" t="0"/>
          <a:stretch/>
        </p:blipFill>
        <p:spPr>
          <a:xfrm>
            <a:off x="1231900" y="5099050"/>
            <a:ext cx="6842125" cy="11239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2"/>
          <p:cNvSpPr txBox="1"/>
          <p:nvPr>
            <p:ph type="title"/>
          </p:nvPr>
        </p:nvSpPr>
        <p:spPr>
          <a:xfrm>
            <a:off x="457200" y="2174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Kernel Data Structures</a:t>
            </a:r>
            <a:endParaRPr/>
          </a:p>
        </p:txBody>
      </p:sp>
      <p:sp>
        <p:nvSpPr>
          <p:cNvPr id="519" name="Google Shape;519;p72"/>
          <p:cNvSpPr txBox="1"/>
          <p:nvPr>
            <p:ph idx="1" type="body"/>
          </p:nvPr>
        </p:nvSpPr>
        <p:spPr>
          <a:xfrm>
            <a:off x="806450" y="1233488"/>
            <a:ext cx="5468938" cy="160496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b="1" lang="en-US" sz="1800">
                <a:solidFill>
                  <a:srgbClr val="3366FF"/>
                </a:solidFill>
              </a:rPr>
              <a:t>Binary search tree</a:t>
            </a:r>
            <a:br>
              <a:rPr lang="en-US" sz="1800"/>
            </a:br>
            <a:r>
              <a:rPr lang="en-US" sz="1800"/>
              <a:t>left &lt;= right</a:t>
            </a:r>
            <a:endParaRPr/>
          </a:p>
          <a:p>
            <a:pPr indent="-285750" lvl="1" marL="742950" rtl="0" algn="l">
              <a:spcBef>
                <a:spcPts val="630"/>
              </a:spcBef>
              <a:spcAft>
                <a:spcPts val="0"/>
              </a:spcAft>
              <a:buSzPts val="1980"/>
              <a:buChar char="•"/>
            </a:pPr>
            <a:r>
              <a:rPr lang="en-US" sz="1800"/>
              <a:t>Search performance is </a:t>
            </a:r>
            <a:r>
              <a:rPr i="1" lang="en-US" sz="1800"/>
              <a:t>O(n)</a:t>
            </a:r>
            <a:endParaRPr/>
          </a:p>
          <a:p>
            <a:pPr indent="-285750" lvl="1" marL="742950" rtl="0" algn="l">
              <a:spcBef>
                <a:spcPts val="630"/>
              </a:spcBef>
              <a:spcAft>
                <a:spcPts val="0"/>
              </a:spcAft>
              <a:buSzPts val="1980"/>
              <a:buChar char="•"/>
            </a:pPr>
            <a:r>
              <a:rPr b="1" lang="en-US" sz="1800">
                <a:solidFill>
                  <a:srgbClr val="3366FF"/>
                </a:solidFill>
              </a:rPr>
              <a:t>Balanced binary search tree </a:t>
            </a:r>
            <a:r>
              <a:rPr lang="en-US" sz="1800"/>
              <a:t>is </a:t>
            </a:r>
            <a:r>
              <a:rPr i="1" lang="en-US" sz="1800"/>
              <a:t>O(lg n)</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342900" lvl="0" marL="342900" rtl="0" algn="l">
              <a:spcBef>
                <a:spcPts val="980"/>
              </a:spcBef>
              <a:spcAft>
                <a:spcPts val="0"/>
              </a:spcAft>
              <a:buSzPts val="3080"/>
              <a:buFont typeface="Arial"/>
              <a:buNone/>
            </a:pPr>
            <a:r>
              <a:t/>
            </a:r>
            <a:endParaRPr/>
          </a:p>
          <a:p>
            <a:pPr indent="-147320" lvl="0" marL="342900" rtl="0" algn="l">
              <a:spcBef>
                <a:spcPts val="980"/>
              </a:spcBef>
              <a:spcAft>
                <a:spcPts val="0"/>
              </a:spcAft>
              <a:buSzPts val="3080"/>
              <a:buNone/>
            </a:pPr>
            <a:r>
              <a:t/>
            </a:r>
            <a:endParaRPr/>
          </a:p>
        </p:txBody>
      </p:sp>
      <p:pic>
        <p:nvPicPr>
          <p:cNvPr descr="1_16.pdf" id="520" name="Google Shape;520;p72"/>
          <p:cNvPicPr preferRelativeResize="0"/>
          <p:nvPr/>
        </p:nvPicPr>
        <p:blipFill rotWithShape="1">
          <a:blip r:embed="rId3">
            <a:alphaModFix/>
          </a:blip>
          <a:srcRect b="0" l="0" r="0" t="0"/>
          <a:stretch/>
        </p:blipFill>
        <p:spPr>
          <a:xfrm>
            <a:off x="1935163" y="2979738"/>
            <a:ext cx="2755900" cy="215106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3"/>
          <p:cNvSpPr txBox="1"/>
          <p:nvPr>
            <p:ph type="title"/>
          </p:nvPr>
        </p:nvSpPr>
        <p:spPr>
          <a:xfrm>
            <a:off x="457200" y="21748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Kernel Data Structures</a:t>
            </a:r>
            <a:endParaRPr/>
          </a:p>
        </p:txBody>
      </p:sp>
      <p:sp>
        <p:nvSpPr>
          <p:cNvPr id="526" name="Google Shape;526;p73"/>
          <p:cNvSpPr txBox="1"/>
          <p:nvPr>
            <p:ph idx="1" type="body"/>
          </p:nvPr>
        </p:nvSpPr>
        <p:spPr>
          <a:xfrm>
            <a:off x="806450" y="1233488"/>
            <a:ext cx="7726363" cy="498316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Char char="▪"/>
            </a:pPr>
            <a:r>
              <a:rPr b="1" lang="en-US" sz="1800">
                <a:solidFill>
                  <a:srgbClr val="3366FF"/>
                </a:solidFill>
              </a:rPr>
              <a:t>Hash function </a:t>
            </a:r>
            <a:r>
              <a:rPr lang="en-US" sz="1800"/>
              <a:t>can create a</a:t>
            </a:r>
            <a:r>
              <a:rPr b="1" lang="en-US" sz="1800">
                <a:solidFill>
                  <a:srgbClr val="3366FF"/>
                </a:solidFill>
              </a:rPr>
              <a:t> hash map</a:t>
            </a:r>
            <a:endParaRPr/>
          </a:p>
          <a:p>
            <a:pPr indent="-217170" lvl="0" marL="342900" rtl="0" algn="l">
              <a:spcBef>
                <a:spcPts val="630"/>
              </a:spcBef>
              <a:spcAft>
                <a:spcPts val="0"/>
              </a:spcAft>
              <a:buSzPts val="1980"/>
              <a:buNone/>
            </a:pPr>
            <a:r>
              <a:t/>
            </a:r>
            <a:endParaRPr b="1" i="1" sz="1800">
              <a:solidFill>
                <a:srgbClr val="3366FF"/>
              </a:solidFill>
            </a:endParaRPr>
          </a:p>
          <a:p>
            <a:pPr indent="-217170" lvl="0" marL="342900" rtl="0" algn="l">
              <a:spcBef>
                <a:spcPts val="630"/>
              </a:spcBef>
              <a:spcAft>
                <a:spcPts val="0"/>
              </a:spcAft>
              <a:buSzPts val="1980"/>
              <a:buNone/>
            </a:pPr>
            <a:r>
              <a:t/>
            </a:r>
            <a:endParaRPr b="1" i="1" sz="1800">
              <a:solidFill>
                <a:srgbClr val="3366FF"/>
              </a:solidFill>
            </a:endParaRPr>
          </a:p>
          <a:p>
            <a:pPr indent="-217170" lvl="0" marL="342900" rtl="0" algn="l">
              <a:spcBef>
                <a:spcPts val="630"/>
              </a:spcBef>
              <a:spcAft>
                <a:spcPts val="0"/>
              </a:spcAft>
              <a:buSzPts val="1980"/>
              <a:buNone/>
            </a:pPr>
            <a:r>
              <a:t/>
            </a:r>
            <a:endParaRPr b="1" i="1" sz="1800">
              <a:solidFill>
                <a:srgbClr val="3366FF"/>
              </a:solidFill>
            </a:endParaRPr>
          </a:p>
          <a:p>
            <a:pPr indent="-217170" lvl="0" marL="342900" rtl="0" algn="l">
              <a:spcBef>
                <a:spcPts val="630"/>
              </a:spcBef>
              <a:spcAft>
                <a:spcPts val="0"/>
              </a:spcAft>
              <a:buSzPts val="1980"/>
              <a:buNone/>
            </a:pPr>
            <a:r>
              <a:t/>
            </a:r>
            <a:endParaRPr b="1" i="1" sz="1800">
              <a:solidFill>
                <a:srgbClr val="3366FF"/>
              </a:solidFill>
            </a:endParaRPr>
          </a:p>
          <a:p>
            <a:pPr indent="-217170" lvl="0" marL="342900" rtl="0" algn="l">
              <a:spcBef>
                <a:spcPts val="630"/>
              </a:spcBef>
              <a:spcAft>
                <a:spcPts val="0"/>
              </a:spcAft>
              <a:buSzPts val="1980"/>
              <a:buNone/>
            </a:pPr>
            <a:r>
              <a:t/>
            </a:r>
            <a:endParaRPr b="1" i="1" sz="1800">
              <a:solidFill>
                <a:srgbClr val="3366FF"/>
              </a:solidFill>
            </a:endParaRPr>
          </a:p>
          <a:p>
            <a:pPr indent="-217170" lvl="0" marL="342900" rtl="0" algn="l">
              <a:spcBef>
                <a:spcPts val="630"/>
              </a:spcBef>
              <a:spcAft>
                <a:spcPts val="0"/>
              </a:spcAft>
              <a:buSzPts val="1980"/>
              <a:buNone/>
            </a:pPr>
            <a:r>
              <a:t/>
            </a:r>
            <a:endParaRPr b="1" i="1" sz="1800">
              <a:solidFill>
                <a:srgbClr val="3366FF"/>
              </a:solidFill>
            </a:endParaRPr>
          </a:p>
          <a:p>
            <a:pPr indent="-342900" lvl="0" marL="342900" rtl="0" algn="l">
              <a:spcBef>
                <a:spcPts val="630"/>
              </a:spcBef>
              <a:spcAft>
                <a:spcPts val="0"/>
              </a:spcAft>
              <a:buSzPts val="1980"/>
              <a:buFont typeface="Arial"/>
              <a:buNone/>
            </a:pPr>
            <a:r>
              <a:t/>
            </a:r>
            <a:endParaRPr b="1" i="1" sz="1800">
              <a:solidFill>
                <a:srgbClr val="3366FF"/>
              </a:solidFill>
            </a:endParaRPr>
          </a:p>
          <a:p>
            <a:pPr indent="-342900" lvl="0" marL="342900" rtl="0" algn="l">
              <a:spcBef>
                <a:spcPts val="630"/>
              </a:spcBef>
              <a:spcAft>
                <a:spcPts val="0"/>
              </a:spcAft>
              <a:buSzPts val="1980"/>
              <a:buChar char="▪"/>
            </a:pPr>
            <a:r>
              <a:rPr b="1" lang="en-US" sz="1800">
                <a:solidFill>
                  <a:srgbClr val="3366FF"/>
                </a:solidFill>
              </a:rPr>
              <a:t>Bitmap</a:t>
            </a:r>
            <a:r>
              <a:rPr lang="en-US" sz="1800"/>
              <a:t> – string of </a:t>
            </a:r>
            <a:r>
              <a:rPr i="1" lang="en-US" sz="1800"/>
              <a:t>n</a:t>
            </a:r>
            <a:r>
              <a:rPr lang="en-US" sz="1800"/>
              <a:t> binary digits representing the status of </a:t>
            </a:r>
            <a:r>
              <a:rPr i="1" lang="en-US" sz="1800"/>
              <a:t>n</a:t>
            </a:r>
            <a:r>
              <a:rPr lang="en-US" sz="1800"/>
              <a:t> items</a:t>
            </a:r>
            <a:endParaRPr/>
          </a:p>
          <a:p>
            <a:pPr indent="-342900" lvl="0" marL="342900" rtl="0" algn="l">
              <a:spcBef>
                <a:spcPts val="630"/>
              </a:spcBef>
              <a:spcAft>
                <a:spcPts val="0"/>
              </a:spcAft>
              <a:buSzPts val="1980"/>
              <a:buChar char="▪"/>
            </a:pPr>
            <a:r>
              <a:rPr lang="en-US" sz="1800"/>
              <a:t>Linux data structures defined in </a:t>
            </a:r>
            <a:r>
              <a:rPr b="1" i="1" lang="en-US" sz="1800"/>
              <a:t>include</a:t>
            </a:r>
            <a:r>
              <a:rPr lang="en-US" sz="1800"/>
              <a:t> files </a:t>
            </a:r>
            <a:r>
              <a:rPr lang="en-US" sz="1800">
                <a:latin typeface="Courier New"/>
                <a:ea typeface="Courier New"/>
                <a:cs typeface="Courier New"/>
                <a:sym typeface="Courier New"/>
              </a:rPr>
              <a:t>&lt;linux/list.h&gt;, &lt;linux/kfifo.h&gt;, &lt;linux/rbtree.h&gt;</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147320" lvl="0" marL="342900" rtl="0" algn="l">
              <a:spcBef>
                <a:spcPts val="980"/>
              </a:spcBef>
              <a:spcAft>
                <a:spcPts val="0"/>
              </a:spcAft>
              <a:buSzPts val="3080"/>
              <a:buNone/>
            </a:pPr>
            <a:r>
              <a:t/>
            </a:r>
            <a:endParaRPr/>
          </a:p>
          <a:p>
            <a:pPr indent="-342900" lvl="0" marL="342900" rtl="0" algn="l">
              <a:spcBef>
                <a:spcPts val="980"/>
              </a:spcBef>
              <a:spcAft>
                <a:spcPts val="0"/>
              </a:spcAft>
              <a:buSzPts val="3080"/>
              <a:buFont typeface="Arial"/>
              <a:buNone/>
            </a:pPr>
            <a:r>
              <a:t/>
            </a:r>
            <a:endParaRPr/>
          </a:p>
          <a:p>
            <a:pPr indent="-147320" lvl="0" marL="342900" rtl="0" algn="l">
              <a:spcBef>
                <a:spcPts val="980"/>
              </a:spcBef>
              <a:spcAft>
                <a:spcPts val="0"/>
              </a:spcAft>
              <a:buSzPts val="3080"/>
              <a:buNone/>
            </a:pPr>
            <a:r>
              <a:t/>
            </a:r>
            <a:endParaRPr/>
          </a:p>
        </p:txBody>
      </p:sp>
      <p:pic>
        <p:nvPicPr>
          <p:cNvPr descr="1_17.pdf" id="527" name="Google Shape;527;p73"/>
          <p:cNvPicPr preferRelativeResize="0"/>
          <p:nvPr/>
        </p:nvPicPr>
        <p:blipFill rotWithShape="1">
          <a:blip r:embed="rId3">
            <a:alphaModFix/>
          </a:blip>
          <a:srcRect b="0" l="0" r="0" t="0"/>
          <a:stretch/>
        </p:blipFill>
        <p:spPr>
          <a:xfrm>
            <a:off x="2092325" y="1863725"/>
            <a:ext cx="4873625" cy="19621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4"/>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 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