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6858000" cx="9144000"/>
  <p:notesSz cx="7010400" cy="9296400"/>
  <p:embeddedFontLst>
    <p:embeddedFont>
      <p:font typeface="Helvetica Neue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77" roundtripDataSignature="AMtx7mjQtBPqP2v+GmLdyoE8GhdiZFmw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 orient="horz"/>
        <p:guide pos="4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HelveticaNeue-regular.fnt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HelveticaNeue-italic.fntdata"/><Relationship Id="rId30" Type="http://schemas.openxmlformats.org/officeDocument/2006/relationships/slide" Target="slides/slide25.xml"/><Relationship Id="rId74" Type="http://schemas.openxmlformats.org/officeDocument/2006/relationships/font" Target="fonts/HelveticaNeue-bold.fntdata"/><Relationship Id="rId33" Type="http://schemas.openxmlformats.org/officeDocument/2006/relationships/slide" Target="slides/slide28.xml"/><Relationship Id="rId77" Type="http://customschemas.google.com/relationships/presentationmetadata" Target="metadata"/><Relationship Id="rId32" Type="http://schemas.openxmlformats.org/officeDocument/2006/relationships/slide" Target="slides/slide27.xml"/><Relationship Id="rId76" Type="http://schemas.openxmlformats.org/officeDocument/2006/relationships/font" Target="fonts/HelveticaNeue-boldItalic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68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3513" y="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2850"/>
            <a:ext cx="30368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2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2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2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2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p2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2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p3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3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p3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3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8" name="Google Shape;288;p3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3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3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3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p3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3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p3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3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3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3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7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4" name="Google Shape;324;p3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3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p3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8" name="Google Shape;338;p3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3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5" name="Google Shape;345;p4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4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3" name="Google Shape;353;p4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4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1" name="Google Shape;361;p4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4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4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5" name="Google Shape;375;p4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4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3" name="Google Shape;383;p4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4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0" name="Google Shape;390;p4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4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7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p4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4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4" name="Google Shape;404;p4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4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p4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4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0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8" name="Google Shape;418;p5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5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5" name="Google Shape;425;p5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5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p5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5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3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9" name="Google Shape;439;p5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5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4" name="Google Shape;464;p5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5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8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p5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5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9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p5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5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0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5" name="Google Shape;485;p6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6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1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3" name="Google Shape;493;p6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p6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6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6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3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8" name="Google Shape;508;p6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6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4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5" name="Google Shape;515;p6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6" name="Google Shape;516;p6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5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3" name="Google Shape;523;p6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6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6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1" name="Google Shape;531;p6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6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7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9" name="Google Shape;539;p6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6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69"/>
          <p:cNvGrpSpPr/>
          <p:nvPr/>
        </p:nvGrpSpPr>
        <p:grpSpPr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23" name="Google Shape;23;p69"/>
            <p:cNvSpPr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" name="Google Shape;24;p69"/>
            <p:cNvSpPr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5" name="Google Shape;25;p69"/>
            <p:cNvSpPr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6" name="Google Shape;26;p69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©2018</a:t>
            </a:r>
            <a:endParaRPr/>
          </a:p>
        </p:txBody>
      </p:sp>
      <p:sp>
        <p:nvSpPr>
          <p:cNvPr id="27" name="Google Shape;27;p69"/>
          <p:cNvSpPr txBox="1"/>
          <p:nvPr/>
        </p:nvSpPr>
        <p:spPr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10</a:t>
            </a:r>
            <a:r>
              <a:rPr b="1" baseline="30000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4" id="28" name="Google Shape;28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0738" y="4157663"/>
            <a:ext cx="2062162" cy="1593850"/>
          </a:xfrm>
          <a:prstGeom prst="rect">
            <a:avLst/>
          </a:prstGeom>
          <a:noFill/>
          <a:ln cap="flat" cmpd="sng" w="76200">
            <a:solidFill>
              <a:srgbClr val="336699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9" name="Google Shape;29;p69"/>
          <p:cNvSpPr/>
          <p:nvPr/>
        </p:nvSpPr>
        <p:spPr>
          <a:xfrm>
            <a:off x="3224213" y="4006850"/>
            <a:ext cx="2336800" cy="1887538"/>
          </a:xfrm>
          <a:prstGeom prst="rect">
            <a:avLst/>
          </a:prstGeom>
          <a:noFill/>
          <a:ln cap="flat" cmpd="thinThick" w="57150">
            <a:solidFill>
              <a:srgbClr val="66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69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0"/>
          <p:cNvSpPr txBox="1"/>
          <p:nvPr>
            <p:ph type="title"/>
          </p:nvPr>
        </p:nvSpPr>
        <p:spPr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0"/>
          <p:cNvSpPr txBox="1"/>
          <p:nvPr>
            <p:ph idx="1" type="body"/>
          </p:nvPr>
        </p:nvSpPr>
        <p:spPr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63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spcBef>
                <a:spcPts val="630"/>
              </a:spcBef>
              <a:spcAft>
                <a:spcPts val="0"/>
              </a:spcAft>
              <a:buSzPts val="1980"/>
              <a:buChar char="•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1"/>
          <p:cNvSpPr txBox="1"/>
          <p:nvPr>
            <p:ph type="title"/>
          </p:nvPr>
        </p:nvSpPr>
        <p:spPr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3"/>
          <p:cNvSpPr txBox="1"/>
          <p:nvPr>
            <p:ph type="title"/>
          </p:nvPr>
        </p:nvSpPr>
        <p:spPr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3"/>
          <p:cNvSpPr txBox="1"/>
          <p:nvPr>
            <p:ph idx="1" type="body"/>
          </p:nvPr>
        </p:nvSpPr>
        <p:spPr>
          <a:xfrm>
            <a:off x="806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algn="l">
              <a:spcBef>
                <a:spcPts val="980"/>
              </a:spcBef>
              <a:spcAft>
                <a:spcPts val="0"/>
              </a:spcAft>
              <a:buSzPts val="3080"/>
              <a:buChar char="▪"/>
              <a:defRPr sz="2800"/>
            </a:lvl1pPr>
            <a:lvl2pPr indent="-396240" lvl="1" marL="914400" algn="l">
              <a:spcBef>
                <a:spcPts val="840"/>
              </a:spcBef>
              <a:spcAft>
                <a:spcPts val="0"/>
              </a:spcAft>
              <a:buSzPts val="2640"/>
              <a:buChar char="•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42" name="Google Shape;42;p73"/>
          <p:cNvSpPr txBox="1"/>
          <p:nvPr>
            <p:ph idx="2" type="body"/>
          </p:nvPr>
        </p:nvSpPr>
        <p:spPr>
          <a:xfrm>
            <a:off x="4997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algn="l">
              <a:spcBef>
                <a:spcPts val="980"/>
              </a:spcBef>
              <a:spcAft>
                <a:spcPts val="0"/>
              </a:spcAft>
              <a:buSzPts val="3080"/>
              <a:buChar char="▪"/>
              <a:defRPr sz="2800"/>
            </a:lvl1pPr>
            <a:lvl2pPr indent="-396240" lvl="1" marL="914400" algn="l">
              <a:spcBef>
                <a:spcPts val="840"/>
              </a:spcBef>
              <a:spcAft>
                <a:spcPts val="0"/>
              </a:spcAft>
              <a:buSzPts val="2640"/>
              <a:buChar char="•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64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6" name="Google Shape;46;p7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algn="l">
              <a:spcBef>
                <a:spcPts val="840"/>
              </a:spcBef>
              <a:spcAft>
                <a:spcPts val="0"/>
              </a:spcAft>
              <a:buSzPts val="2640"/>
              <a:buChar char="▪"/>
              <a:defRPr sz="2400"/>
            </a:lvl1pPr>
            <a:lvl2pPr indent="-368300" lvl="1" marL="914400" algn="l">
              <a:spcBef>
                <a:spcPts val="700"/>
              </a:spcBef>
              <a:spcAft>
                <a:spcPts val="0"/>
              </a:spcAft>
              <a:buSzPts val="2200"/>
              <a:buChar char="•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7" name="Google Shape;47;p7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64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8" name="Google Shape;48;p7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algn="l">
              <a:spcBef>
                <a:spcPts val="840"/>
              </a:spcBef>
              <a:spcAft>
                <a:spcPts val="0"/>
              </a:spcAft>
              <a:buSzPts val="2640"/>
              <a:buChar char="▪"/>
              <a:defRPr sz="2400"/>
            </a:lvl1pPr>
            <a:lvl2pPr indent="-368300" lvl="1" marL="914400" algn="l">
              <a:spcBef>
                <a:spcPts val="700"/>
              </a:spcBef>
              <a:spcAft>
                <a:spcPts val="0"/>
              </a:spcAft>
              <a:buSzPts val="2200"/>
              <a:buChar char="•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2119" lvl="0" marL="457200" algn="l">
              <a:spcBef>
                <a:spcPts val="1120"/>
              </a:spcBef>
              <a:spcAft>
                <a:spcPts val="0"/>
              </a:spcAft>
              <a:buSzPts val="3520"/>
              <a:buChar char="▪"/>
              <a:defRPr sz="3200"/>
            </a:lvl1pPr>
            <a:lvl2pPr indent="-424180" lvl="1" marL="914400" algn="l">
              <a:spcBef>
                <a:spcPts val="980"/>
              </a:spcBef>
              <a:spcAft>
                <a:spcPts val="0"/>
              </a:spcAft>
              <a:buSzPts val="3080"/>
              <a:buChar char="•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23850" lvl="3" marL="1828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3" name="Google Shape;53;p7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54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54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8"/>
          <p:cNvSpPr txBox="1"/>
          <p:nvPr>
            <p:ph type="title"/>
          </p:nvPr>
        </p:nvSpPr>
        <p:spPr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8"/>
          <p:cNvSpPr txBox="1"/>
          <p:nvPr>
            <p:ph idx="1" type="body"/>
          </p:nvPr>
        </p:nvSpPr>
        <p:spPr>
          <a:xfrm rot="5400000">
            <a:off x="2405063" y="-365125"/>
            <a:ext cx="4530725" cy="772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63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spcBef>
                <a:spcPts val="630"/>
              </a:spcBef>
              <a:spcAft>
                <a:spcPts val="0"/>
              </a:spcAft>
              <a:buSzPts val="1980"/>
              <a:buChar char="•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9"/>
          <p:cNvSpPr txBox="1"/>
          <p:nvPr>
            <p:ph type="title"/>
          </p:nvPr>
        </p:nvSpPr>
        <p:spPr>
          <a:xfrm rot="5400000">
            <a:off x="5220494" y="1948657"/>
            <a:ext cx="5486400" cy="214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9"/>
          <p:cNvSpPr txBox="1"/>
          <p:nvPr>
            <p:ph idx="1" type="body"/>
          </p:nvPr>
        </p:nvSpPr>
        <p:spPr>
          <a:xfrm rot="5400000">
            <a:off x="854869" y="-119856"/>
            <a:ext cx="5486400" cy="628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63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spcBef>
                <a:spcPts val="630"/>
              </a:spcBef>
              <a:spcAft>
                <a:spcPts val="0"/>
              </a:spcAft>
              <a:buSzPts val="1980"/>
              <a:buChar char="•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0.jpg"/><Relationship Id="rId2" Type="http://schemas.openxmlformats.org/officeDocument/2006/relationships/image" Target="../media/image30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no_3" id="10" name="Google Shape;10;p6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8"/>
          <p:cNvSpPr txBox="1"/>
          <p:nvPr>
            <p:ph type="title"/>
          </p:nvPr>
        </p:nvSpPr>
        <p:spPr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8"/>
          <p:cNvSpPr txBox="1"/>
          <p:nvPr>
            <p:ph idx="1" type="body"/>
          </p:nvPr>
        </p:nvSpPr>
        <p:spPr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433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68"/>
          <p:cNvSpPr/>
          <p:nvPr/>
        </p:nvSpPr>
        <p:spPr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" name="Google Shape;14;p68"/>
          <p:cNvCxnSpPr/>
          <p:nvPr/>
        </p:nvCxnSpPr>
        <p:spPr>
          <a:xfrm>
            <a:off x="457200" y="86042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366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" name="Google Shape;15;p68"/>
          <p:cNvSpPr/>
          <p:nvPr/>
        </p:nvSpPr>
        <p:spPr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68"/>
          <p:cNvSpPr/>
          <p:nvPr/>
        </p:nvSpPr>
        <p:spPr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68"/>
          <p:cNvSpPr txBox="1"/>
          <p:nvPr/>
        </p:nvSpPr>
        <p:spPr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</a:t>
            </a:r>
            <a:fld id="{00000000-1234-1234-1234-123412341234}" type="slidenum"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000" u="none" cap="none" strike="noStrike">
              <a:solidFill>
                <a:srgbClr val="006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68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©2018</a:t>
            </a:r>
            <a:endParaRPr/>
          </a:p>
        </p:txBody>
      </p:sp>
      <p:sp>
        <p:nvSpPr>
          <p:cNvPr id="19" name="Google Shape;19;p68"/>
          <p:cNvSpPr txBox="1"/>
          <p:nvPr/>
        </p:nvSpPr>
        <p:spPr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10</a:t>
            </a:r>
            <a:r>
              <a:rPr b="1" baseline="30000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6" id="20" name="Google Shape;2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7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8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685800" y="793750"/>
            <a:ext cx="7772400" cy="21288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9:  Main Memory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1006475" y="214313"/>
            <a:ext cx="77438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9:  Memory Management</a:t>
            </a:r>
            <a:endParaRPr/>
          </a:p>
        </p:txBody>
      </p:sp>
      <p:sp>
        <p:nvSpPr>
          <p:cNvPr id="76" name="Google Shape;76;p2"/>
          <p:cNvSpPr txBox="1"/>
          <p:nvPr>
            <p:ph idx="1" type="body"/>
          </p:nvPr>
        </p:nvSpPr>
        <p:spPr>
          <a:xfrm>
            <a:off x="821094" y="1203325"/>
            <a:ext cx="7678381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Background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Contiguous Memory Allocation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Paging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Structure of the Page Table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Swapping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Example: The Intel 32 and 64-bit Architectures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Example: ARMv8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457200" y="228054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830426" y="1262063"/>
            <a:ext cx="7735078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To provide a detailed description of various ways of organizing memory hardware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To discuss various memory-management techniques, 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To provide a detailed description of the Intel Pentium, which supports both pure segmentation and segmentation with paging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1060450" y="228830"/>
            <a:ext cx="6764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849085" y="1208088"/>
            <a:ext cx="7669763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Program must be brought (from disk)  into memory and placed within a process for it to be run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Main memory and registers are only storage CPU can access directly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Memory unit only sees a stream of: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addresses + read requests, or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address + data and write requests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Register access is done in one CPU clock (or less)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Main memory can take many cycles, causing 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Cache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sits between main memory and CPU registers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Protection of memory required to ensure correct operation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1265238" y="224685"/>
            <a:ext cx="65595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Protection</a:t>
            </a:r>
            <a:endParaRPr/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858416" y="1200636"/>
            <a:ext cx="7688424" cy="169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Need to censure that a process can access only access those addresses in its address space.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We can provide this protection by using  a pair of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and</a:t>
            </a:r>
            <a:r>
              <a:rPr b="1" lang="en-US">
                <a:solidFill>
                  <a:srgbClr val="FF0000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limit registers</a:t>
            </a:r>
            <a:r>
              <a:rPr lang="en-US"/>
              <a:t> define the logical address space of a process</a:t>
            </a:r>
            <a:endParaRPr/>
          </a:p>
        </p:txBody>
      </p:sp>
      <p:pic>
        <p:nvPicPr>
          <p:cNvPr descr="W:\os-book\OS10\slide-dir\os-figures\9_01.jpg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941388" y="228636"/>
            <a:ext cx="77454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Address Protection</a:t>
            </a:r>
            <a:endParaRPr/>
          </a:p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849086" y="1147763"/>
            <a:ext cx="7380514" cy="4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CPU must check every memory access generated in user mode to be sure it is between base and limit for that user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the instructions to loading the base and limit registers are privileged 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  <p:pic>
        <p:nvPicPr>
          <p:cNvPr descr="W:\os-book\OS10\slide-dir\os-figures\9_02.jpg" id="105" name="Google Shape;1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457200" y="23556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 Binding</a:t>
            </a:r>
            <a:endParaRPr/>
          </a:p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849085" y="1144588"/>
            <a:ext cx="7688424" cy="492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Programs on disk, ready to be brought into memory to execute form an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input queue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Without support, must be loaded into address 0000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Inconvenient to have first user process physical address always at 0000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How can it not be?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Addresses represented in different ways at different stages of a program’s life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Source code addresses usually symbolic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Compiled code addresses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bind</a:t>
            </a:r>
            <a:r>
              <a:rPr b="1" lang="en-US">
                <a:solidFill>
                  <a:srgbClr val="0000FF"/>
                </a:solidFill>
              </a:rPr>
              <a:t> </a:t>
            </a:r>
            <a:r>
              <a:rPr lang="en-US"/>
              <a:t>to relocatable addresses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i.e., “14 bytes from beginning of this module”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Linker or loader will bind relocatable addresses to absolute addresses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i.e., 74014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Each binding maps one address space to another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>
            <p:ph type="title"/>
          </p:nvPr>
        </p:nvSpPr>
        <p:spPr>
          <a:xfrm>
            <a:off x="862692" y="346499"/>
            <a:ext cx="8134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Binding of Instructions and Data to Memory</a:t>
            </a:r>
            <a:endParaRPr/>
          </a:p>
        </p:txBody>
      </p:sp>
      <p:sp>
        <p:nvSpPr>
          <p:cNvPr id="118" name="Google Shape;118;p8"/>
          <p:cNvSpPr txBox="1"/>
          <p:nvPr>
            <p:ph idx="1" type="body"/>
          </p:nvPr>
        </p:nvSpPr>
        <p:spPr>
          <a:xfrm>
            <a:off x="862692" y="1334278"/>
            <a:ext cx="7665488" cy="3860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Address binding of instructions and data to memory addresses can happen at three different stages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/>
              <a:t>Compile time</a:t>
            </a:r>
            <a:r>
              <a:rPr lang="en-US"/>
              <a:t>:  If memory location known a priori,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absolute code </a:t>
            </a:r>
            <a:r>
              <a:rPr lang="en-US"/>
              <a:t>can be generated; must recompile code if starting location changes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/>
              <a:t>Load time</a:t>
            </a:r>
            <a:r>
              <a:rPr lang="en-US"/>
              <a:t>:  Must generate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relocatable code </a:t>
            </a:r>
            <a:r>
              <a:rPr lang="en-US"/>
              <a:t>if memory location is not known at compile time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/>
              <a:t>Execution time</a:t>
            </a:r>
            <a:r>
              <a:rPr lang="en-US"/>
              <a:t>:  Binding delayed until run time if the process can be moved during its execution from one memory segment to another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Need hardware support for address maps (e.g., base and limit</a:t>
            </a:r>
            <a:r>
              <a:rPr i="1" lang="en-US"/>
              <a:t> </a:t>
            </a:r>
            <a:r>
              <a:rPr lang="en-US"/>
              <a:t>registers)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1007705" y="239976"/>
            <a:ext cx="763244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Multistep Processing of a User Program </a:t>
            </a:r>
            <a:endParaRPr/>
          </a:p>
        </p:txBody>
      </p:sp>
      <p:pic>
        <p:nvPicPr>
          <p:cNvPr descr="8"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993808" y="235762"/>
            <a:ext cx="75485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vs. Physical Address Space</a:t>
            </a:r>
            <a:endParaRPr/>
          </a:p>
        </p:txBody>
      </p:sp>
      <p:sp>
        <p:nvSpPr>
          <p:cNvPr id="132" name="Google Shape;132;p10"/>
          <p:cNvSpPr txBox="1"/>
          <p:nvPr>
            <p:ph idx="1" type="body"/>
          </p:nvPr>
        </p:nvSpPr>
        <p:spPr>
          <a:xfrm>
            <a:off x="839754" y="1236663"/>
            <a:ext cx="7702615" cy="44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The concept of a logical address space that is bound to a separate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is central to proper memory management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generated by the CPU; also referred to as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virtual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address seen by the memory unit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Logical and physical addresses are the same in compile-time and load-time address-binding schemes; logical (virtual) and physical addresses differ in execution-time address-binding scheme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is the set of all logical addresses generated by a program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is the set of all physical addresses generated by a program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879475" y="225267"/>
            <a:ext cx="78390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Memory-Management Unit (</a:t>
            </a:r>
            <a:r>
              <a:rPr lang="en-US" sz="2800"/>
              <a:t>MMU</a:t>
            </a:r>
            <a:r>
              <a:rPr lang="en-US"/>
              <a:t>)</a:t>
            </a:r>
            <a:endParaRPr/>
          </a:p>
        </p:txBody>
      </p:sp>
      <p:sp>
        <p:nvSpPr>
          <p:cNvPr id="139" name="Google Shape;139;p11"/>
          <p:cNvSpPr txBox="1"/>
          <p:nvPr>
            <p:ph idx="1" type="body"/>
          </p:nvPr>
        </p:nvSpPr>
        <p:spPr>
          <a:xfrm>
            <a:off x="839757" y="1147602"/>
            <a:ext cx="7623108" cy="4484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Hardware device that at run time maps virtual to physical address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Many methods possible, covered in the rest of this chapter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SzPts val="880"/>
              <a:buFont typeface="Arial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W:\os-book\OS10\slide-dir\os-figures\9_04.jpg" id="140" name="Google Shape;1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>
            <p:ph type="title"/>
          </p:nvPr>
        </p:nvSpPr>
        <p:spPr>
          <a:xfrm>
            <a:off x="879475" y="225265"/>
            <a:ext cx="78390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Memory-Management Unit (Cont.)</a:t>
            </a:r>
            <a:endParaRPr/>
          </a:p>
        </p:txBody>
      </p:sp>
      <p:sp>
        <p:nvSpPr>
          <p:cNvPr id="147" name="Google Shape;147;p12"/>
          <p:cNvSpPr txBox="1"/>
          <p:nvPr>
            <p:ph idx="1" type="body"/>
          </p:nvPr>
        </p:nvSpPr>
        <p:spPr>
          <a:xfrm>
            <a:off x="851482" y="1163638"/>
            <a:ext cx="7630045" cy="448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Consider simple scheme. which is  a generalization of the base-register scheme.</a:t>
            </a:r>
            <a:endParaRPr/>
          </a:p>
          <a:p>
            <a:pPr indent="-285750" lvl="1" marL="28575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lang="en-US"/>
              <a:t>The base register now called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relocation</a:t>
            </a:r>
            <a:r>
              <a:rPr b="1" lang="en-US">
                <a:solidFill>
                  <a:srgbClr val="0000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The value in the relocation register is added to every address generated by a user process at the time it is sent to memory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The user program deals with </a:t>
            </a:r>
            <a:r>
              <a:rPr i="1" lang="en-US"/>
              <a:t>logical</a:t>
            </a:r>
            <a:r>
              <a:rPr lang="en-US"/>
              <a:t> addresses; it never sees the </a:t>
            </a:r>
            <a:r>
              <a:rPr i="1" lang="en-US"/>
              <a:t>real</a:t>
            </a:r>
            <a:r>
              <a:rPr lang="en-US"/>
              <a:t> physical addresses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Execution-time binding occurs when reference is made to location in memory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Logical address bound to physical addresses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type="title"/>
          </p:nvPr>
        </p:nvSpPr>
        <p:spPr>
          <a:xfrm>
            <a:off x="879475" y="225267"/>
            <a:ext cx="78390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Memory-Management Unit (Cont.)</a:t>
            </a:r>
            <a:endParaRPr/>
          </a:p>
        </p:txBody>
      </p:sp>
      <p:sp>
        <p:nvSpPr>
          <p:cNvPr id="154" name="Google Shape;154;p13"/>
          <p:cNvSpPr txBox="1"/>
          <p:nvPr>
            <p:ph idx="1" type="body"/>
          </p:nvPr>
        </p:nvSpPr>
        <p:spPr>
          <a:xfrm>
            <a:off x="851482" y="1163638"/>
            <a:ext cx="7704690" cy="448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Consider simple scheme. which is  a generalization of the base-register scheme.</a:t>
            </a:r>
            <a:endParaRPr/>
          </a:p>
          <a:p>
            <a:pPr indent="-285750" lvl="1" marL="28575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lang="en-US"/>
              <a:t>The base register now called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relocation</a:t>
            </a:r>
            <a:r>
              <a:rPr b="1" lang="en-US">
                <a:solidFill>
                  <a:srgbClr val="0000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The value in the relocation register is added to every address generated by a user process at the time it is sent to memory</a:t>
            </a:r>
            <a:endParaRPr/>
          </a:p>
        </p:txBody>
      </p:sp>
      <p:pic>
        <p:nvPicPr>
          <p:cNvPr descr="W:\os-book\OS10\slide-dir\os-figures\9_05.jpg" id="155" name="Google Shape;1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0763" y="2957513"/>
            <a:ext cx="3981450" cy="280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452631" y="237998"/>
            <a:ext cx="8224837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Loading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-488950" lvl="0" marL="488950" marR="0" rtl="0" algn="l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entire  program does need to be in memory to execute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Routine is not loaded until it is called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memory-space utilization; unused routine is never loaded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routines kept on disk in relocatable load format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when large amounts of code are needed to handle infrequently occurring cases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special support from the operating system is required</a:t>
            </a:r>
            <a:endParaRPr/>
          </a:p>
          <a:p>
            <a:pPr indent="-407988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Implemented through program design</a:t>
            </a:r>
            <a:endParaRPr/>
          </a:p>
          <a:p>
            <a:pPr indent="-407988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can help by providing libraries to implement dynamic loading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457200" y="2371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Linking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830424" y="1062038"/>
            <a:ext cx="7669764" cy="4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linking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– system libraries and program code combined by the loader into the binary program image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Dynamic linking –linking postponed until execution time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Small piece of code,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stub</a:t>
            </a:r>
            <a:r>
              <a:rPr lang="en-US"/>
              <a:t>, used to locate the appropriate memory-resident library routine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Stub replaces itself with the address of the routine, and executes the routine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Operating system checks if routine is in processes’ memory address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If not in address space, add to address space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Dynamic linking is particularly useful for libraries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System also known as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shared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libraries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>
                <a:solidFill>
                  <a:srgbClr val="000000"/>
                </a:solidFill>
              </a:rPr>
              <a:t>Consider applicability to patching system libraries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0000"/>
                </a:solidFill>
              </a:rPr>
              <a:t>Versioning may be needed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866775" y="222674"/>
            <a:ext cx="782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Contiguous Allocation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866775" y="1077913"/>
            <a:ext cx="7633413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Main memory must support both OS and user processes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Limited resource, must allocate efficiently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Contiguous allocation is one early method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Main memory usually into two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partitions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Resident operating system, usually held in low memory with interrupt vector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User processes then held in high memory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Each process contained in single contiguous section of memory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866775" y="232005"/>
            <a:ext cx="782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Contiguous Allocation (Cont.)</a:t>
            </a:r>
            <a:endParaRPr/>
          </a:p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866775" y="1093788"/>
            <a:ext cx="7605421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Relocation registers used to protect user processes from each other, and from changing operating-system code and data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Base register contains value of smallest physical address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Limit register contains range of logical addresses – each logical address must be less than the limit register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MMU maps logical address </a:t>
            </a:r>
            <a:r>
              <a:rPr i="1" lang="en-US"/>
              <a:t>dynamically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Can then allow actions such as kernel code being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transient</a:t>
            </a:r>
            <a:r>
              <a:rPr b="1" lang="en-US">
                <a:solidFill>
                  <a:srgbClr val="0000FF"/>
                </a:solidFill>
              </a:rPr>
              <a:t> </a:t>
            </a:r>
            <a:r>
              <a:rPr lang="en-US"/>
              <a:t>and kernel changing size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788693" y="232005"/>
            <a:ext cx="84423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Hardware Support for Relocation and Limit Registers</a:t>
            </a:r>
            <a:endParaRPr/>
          </a:p>
        </p:txBody>
      </p:sp>
      <p:pic>
        <p:nvPicPr>
          <p:cNvPr descr="8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559837" y="184150"/>
            <a:ext cx="8438113" cy="615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Variable Partition</a:t>
            </a:r>
            <a:endParaRPr/>
          </a:p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787400" y="1076325"/>
            <a:ext cx="7770813" cy="326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Multiple-partition allocation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Degree of multiprogramming limited by number of partitions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Variable-partition</a:t>
            </a:r>
            <a:r>
              <a:rPr b="1" lang="en-US" sz="1600">
                <a:solidFill>
                  <a:srgbClr val="0000FF"/>
                </a:solidFill>
              </a:rPr>
              <a:t> </a:t>
            </a:r>
            <a:r>
              <a:rPr lang="en-US" sz="1600"/>
              <a:t>sizes for efficiency (sized to a given process’ needs)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Hole</a:t>
            </a:r>
            <a:r>
              <a:rPr lang="en-US" sz="1600"/>
              <a:t> – block of available memory; holes of various size are scattered throughout memory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When a process arrives, it is allocated memory from a hole large enough to accommodate it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Process exiting frees its partition, adjacent free partitions combined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Operating system maintains information about:</a:t>
            </a:r>
            <a:br>
              <a:rPr lang="en-US" sz="1600"/>
            </a:br>
            <a:r>
              <a:rPr lang="en-US" sz="1600"/>
              <a:t>a) allocated partitions    b) free partitions (hole)</a:t>
            </a:r>
            <a:endParaRPr/>
          </a:p>
        </p:txBody>
      </p:sp>
      <p:pic>
        <p:nvPicPr>
          <p:cNvPr descr="W:\os-book\OS10\slide-dir\os-figures\9_07.jp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989886" y="235762"/>
            <a:ext cx="7772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Storage-Allocation Problem</a:t>
            </a:r>
            <a:endParaRPr/>
          </a:p>
        </p:txBody>
      </p:sp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1479550" y="1709738"/>
            <a:ext cx="7001977" cy="2605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First-fit</a:t>
            </a:r>
            <a:r>
              <a:rPr lang="en-US"/>
              <a:t>:  Allocate the </a:t>
            </a:r>
            <a:r>
              <a:rPr b="1" i="1" lang="en-US"/>
              <a:t>first</a:t>
            </a:r>
            <a:r>
              <a:rPr lang="en-US"/>
              <a:t> hole that is big enough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Best-fit</a:t>
            </a:r>
            <a:r>
              <a:rPr lang="en-US"/>
              <a:t>:  Allocate the </a:t>
            </a:r>
            <a:r>
              <a:rPr b="1" i="1" lang="en-US"/>
              <a:t>smallest</a:t>
            </a:r>
            <a:r>
              <a:rPr lang="en-US"/>
              <a:t> hole that is big enough; must search entire list, unless ordered by size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Produces the smallest leftover hole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Worst-fit</a:t>
            </a:r>
            <a:r>
              <a:rPr lang="en-US"/>
              <a:t>:  Allocate the </a:t>
            </a:r>
            <a:r>
              <a:rPr b="1" i="1" lang="en-US"/>
              <a:t>largest</a:t>
            </a:r>
            <a:r>
              <a:rPr lang="en-US"/>
              <a:t> hole; must also search entire list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Produces the largest leftover hole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satisfy a request of size </a:t>
            </a:r>
            <a:r>
              <a:rPr b="1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a list of free holes?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First-fit and best-fit better than worst-fit in terms of speed and storage utilization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type="title"/>
          </p:nvPr>
        </p:nvSpPr>
        <p:spPr>
          <a:xfrm>
            <a:off x="855663" y="236379"/>
            <a:ext cx="7831137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Fragmentation</a:t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55663" y="1114425"/>
            <a:ext cx="7663186" cy="4999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Fragmentation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total memory space exists to satisfy a request, but it is not contiguous</a:t>
            </a:r>
            <a:endParaRPr b="1">
              <a:solidFill>
                <a:srgbClr val="3366FF"/>
              </a:solidFill>
            </a:endParaRPr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Fragmentation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allocated memory may be slightly larger than requested memory; this size difference is memory internal to a partition, but not being used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First fit analysis reveals that given </a:t>
            </a:r>
            <a:r>
              <a:rPr i="1" lang="en-US"/>
              <a:t>N</a:t>
            </a:r>
            <a:r>
              <a:rPr lang="en-US"/>
              <a:t> blocks allocated, 0.5 </a:t>
            </a:r>
            <a:r>
              <a:rPr i="1" lang="en-US"/>
              <a:t>N</a:t>
            </a:r>
            <a:r>
              <a:rPr lang="en-US"/>
              <a:t> blocks lost to fragmentation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1/3 may be unusable -&gt;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50-percent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457200" y="248493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Fragmentation (Cont.)</a:t>
            </a:r>
            <a:endParaRPr/>
          </a:p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849086" y="1154113"/>
            <a:ext cx="7651102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Reduce external fragmentation by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compaction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Shuffle memory contents to place all free memory together in one large block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Compaction is possible </a:t>
            </a:r>
            <a:r>
              <a:rPr i="1" lang="en-US"/>
              <a:t>only</a:t>
            </a:r>
            <a:r>
              <a:rPr lang="en-US"/>
              <a:t> if relocation is dynamic, and is done at execution time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I/O problem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Latch job in memory while it is involved in I/O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Do I/O only into OS buffers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Now consider that backing store has same fragmentation problems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457200" y="236379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Paging</a:t>
            </a:r>
            <a:endParaRPr/>
          </a:p>
        </p:txBody>
      </p:sp>
      <p:sp>
        <p:nvSpPr>
          <p:cNvPr id="227" name="Google Shape;227;p23"/>
          <p:cNvSpPr txBox="1"/>
          <p:nvPr>
            <p:ph idx="1" type="body"/>
          </p:nvPr>
        </p:nvSpPr>
        <p:spPr>
          <a:xfrm>
            <a:off x="821094" y="1128713"/>
            <a:ext cx="7484706" cy="476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Physical  address space of a process can be noncontiguous; process is allocated physical memory whenever the latter is available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Avoids external fragmentation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Avoids problem of varying sized memory chunks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Divide physical memory into fixed-sized blocks called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frames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0000"/>
                </a:solidFill>
              </a:rPr>
              <a:t>Size </a:t>
            </a:r>
            <a:r>
              <a:rPr lang="en-US"/>
              <a:t>is power of 2, between 512 bytes and 16 Mbytes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Divide logical memory into blocks of same size called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Keep track of all free frames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To run a program of size </a:t>
            </a:r>
            <a:r>
              <a:rPr b="1" i="1" lang="en-US"/>
              <a:t>N</a:t>
            </a:r>
            <a:r>
              <a:rPr i="1" lang="en-US"/>
              <a:t> </a:t>
            </a:r>
            <a:r>
              <a:rPr lang="en-US"/>
              <a:t>pages, need to find </a:t>
            </a:r>
            <a:r>
              <a:rPr b="1" i="1" lang="en-US"/>
              <a:t>N</a:t>
            </a:r>
            <a:r>
              <a:rPr lang="en-US"/>
              <a:t> free frames and load program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Set up 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lang="en-US"/>
              <a:t> to translate logical to physical addresses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Backing store likewise split into pages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Still have Internal fragmentation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>
            <p:ph type="title"/>
          </p:nvPr>
        </p:nvSpPr>
        <p:spPr>
          <a:xfrm>
            <a:off x="846138" y="236379"/>
            <a:ext cx="7840662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 Translation Scheme</a:t>
            </a:r>
            <a:endParaRPr/>
          </a:p>
        </p:txBody>
      </p:sp>
      <p:sp>
        <p:nvSpPr>
          <p:cNvPr id="234" name="Google Shape;234;p24"/>
          <p:cNvSpPr txBox="1"/>
          <p:nvPr>
            <p:ph idx="1" type="body"/>
          </p:nvPr>
        </p:nvSpPr>
        <p:spPr>
          <a:xfrm>
            <a:off x="841375" y="1125538"/>
            <a:ext cx="7299325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Address generated by CPU is divided into: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i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/>
              <a:t>)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used as an index into 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which contains base address of each page in physical memory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offset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i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/>
              <a:t>)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combined with base address to define the physical memory address that is sent to the memory unit</a:t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For given logical address space 2</a:t>
            </a:r>
            <a:r>
              <a:rPr baseline="30000" i="1" lang="en-US"/>
              <a:t>m </a:t>
            </a:r>
            <a:r>
              <a:rPr lang="en-US"/>
              <a:t>and page size</a:t>
            </a:r>
            <a:r>
              <a:rPr baseline="30000" lang="en-US"/>
              <a:t> </a:t>
            </a:r>
            <a:r>
              <a:rPr i="1" lang="en-US"/>
              <a:t>2</a:t>
            </a:r>
            <a:r>
              <a:rPr baseline="30000" lang="en-US"/>
              <a:t>n</a:t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>
            <p:ph type="title"/>
          </p:nvPr>
        </p:nvSpPr>
        <p:spPr>
          <a:xfrm>
            <a:off x="749300" y="223291"/>
            <a:ext cx="79375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Paging Hardware</a:t>
            </a:r>
            <a:endParaRPr/>
          </a:p>
        </p:txBody>
      </p:sp>
      <p:pic>
        <p:nvPicPr>
          <p:cNvPr descr="C:\Users\as668\Desktop\9_08.jpg" id="242" name="Google Shape;24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936819" y="167339"/>
            <a:ext cx="82296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Paging Model of Logical and  Physical Memory</a:t>
            </a:r>
            <a:endParaRPr/>
          </a:p>
        </p:txBody>
      </p:sp>
      <p:pic>
        <p:nvPicPr>
          <p:cNvPr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type="title"/>
          </p:nvPr>
        </p:nvSpPr>
        <p:spPr>
          <a:xfrm>
            <a:off x="488950" y="232622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Paging Example </a:t>
            </a:r>
            <a:endParaRPr/>
          </a:p>
        </p:txBody>
      </p:sp>
      <p:sp>
        <p:nvSpPr>
          <p:cNvPr id="255" name="Google Shape;255;p27"/>
          <p:cNvSpPr txBox="1"/>
          <p:nvPr>
            <p:ph idx="1" type="body"/>
          </p:nvPr>
        </p:nvSpPr>
        <p:spPr>
          <a:xfrm>
            <a:off x="830424" y="1138238"/>
            <a:ext cx="7604449" cy="4821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Logical address:  n = 2 and  m = 4. Using a page size of 4 bytes and a physical memory of 32 bytes (8 pages)</a:t>
            </a:r>
            <a:endParaRPr/>
          </a:p>
        </p:txBody>
      </p:sp>
      <p:pic>
        <p:nvPicPr>
          <p:cNvPr id="256" name="Google Shape;2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>
            <p:ph type="title"/>
          </p:nvPr>
        </p:nvSpPr>
        <p:spPr>
          <a:xfrm>
            <a:off x="966593" y="175468"/>
            <a:ext cx="7491607" cy="6365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Paging -- Calculating internal fragmentation</a:t>
            </a:r>
            <a:endParaRPr/>
          </a:p>
        </p:txBody>
      </p:sp>
      <p:sp>
        <p:nvSpPr>
          <p:cNvPr id="262" name="Google Shape;262;p28"/>
          <p:cNvSpPr txBox="1"/>
          <p:nvPr>
            <p:ph idx="1" type="body"/>
          </p:nvPr>
        </p:nvSpPr>
        <p:spPr>
          <a:xfrm>
            <a:off x="826196" y="1112044"/>
            <a:ext cx="749160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Page size = 2,048 bytes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Process size = 72,766 bytes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35 pages + 1,086 bytes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Internal fragmentation of 2,048 - 1,086 = 962 bytes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Worst case fragmentation = 1 frame – 1 byte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On average fragmentation = 1 / 2 frame size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So small frame sizes desirable?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But each page table entry takes memory to track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Page sizes growing over time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Solaris supports two page sizes – 8 KB and 4 MB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type="title"/>
          </p:nvPr>
        </p:nvSpPr>
        <p:spPr>
          <a:xfrm>
            <a:off x="457200" y="236379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 Frames</a:t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Before allocation</a:t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allocation</a:t>
            </a:r>
            <a:endParaRPr/>
          </a:p>
        </p:txBody>
      </p:sp>
      <p:pic>
        <p:nvPicPr>
          <p:cNvPr id="271" name="Google Shape;2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/>
          <p:nvPr>
            <p:ph type="title"/>
          </p:nvPr>
        </p:nvSpPr>
        <p:spPr>
          <a:xfrm>
            <a:off x="646113" y="23576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Page Table</a:t>
            </a:r>
            <a:endParaRPr/>
          </a:p>
        </p:txBody>
      </p:sp>
      <p:sp>
        <p:nvSpPr>
          <p:cNvPr id="278" name="Google Shape;278;p30"/>
          <p:cNvSpPr txBox="1"/>
          <p:nvPr>
            <p:ph idx="1" type="body"/>
          </p:nvPr>
        </p:nvSpPr>
        <p:spPr>
          <a:xfrm>
            <a:off x="802434" y="1146175"/>
            <a:ext cx="7725746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Page table is kept in main memory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Page-table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PTBR</a:t>
            </a:r>
            <a:r>
              <a:rPr lang="en-US"/>
              <a:t>)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points to the page table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Page-table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PTLR</a:t>
            </a:r>
            <a:r>
              <a:rPr lang="en-US"/>
              <a:t>)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indicates size of the page table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In this scheme every data/instruction access requires two memory accesses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One for the page table and one for the data / instruction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The two-memory access problem can be solved by the use of a special fast-lookup hardware cache called 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translation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look-aside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buffers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TLBs</a:t>
            </a:r>
            <a:r>
              <a:rPr lang="en-US"/>
              <a:t>) (also called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associative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lang="en-US"/>
              <a:t>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/>
          <p:nvPr>
            <p:ph type="title"/>
          </p:nvPr>
        </p:nvSpPr>
        <p:spPr>
          <a:xfrm>
            <a:off x="531846" y="222674"/>
            <a:ext cx="83602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Translation Look-Aside Buffer </a:t>
            </a:r>
            <a:endParaRPr/>
          </a:p>
        </p:txBody>
      </p:sp>
      <p:sp>
        <p:nvSpPr>
          <p:cNvPr id="285" name="Google Shape;285;p31"/>
          <p:cNvSpPr txBox="1"/>
          <p:nvPr>
            <p:ph idx="1" type="body"/>
          </p:nvPr>
        </p:nvSpPr>
        <p:spPr>
          <a:xfrm>
            <a:off x="793101" y="1146175"/>
            <a:ext cx="7144399" cy="4606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Some TLBs store</a:t>
            </a:r>
            <a:r>
              <a:rPr b="1" lang="en-US"/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address-space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identifiers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ASIDs</a:t>
            </a:r>
            <a:r>
              <a:rPr lang="en-US"/>
              <a:t>)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in each TLB entry – uniquely identifies each process to provide address-space protection for that process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Otherwise need to flush at every context switch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TLBs typically small (64 to 1,024 entries)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On a TLB miss, value is loaded into the TLB for faster access next time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Replacement policies must be considered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Some entries can be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wired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for permanent fast access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>
            <p:ph type="title"/>
          </p:nvPr>
        </p:nvSpPr>
        <p:spPr>
          <a:xfrm>
            <a:off x="457200" y="23200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</a:t>
            </a:r>
            <a:endParaRPr/>
          </a:p>
        </p:txBody>
      </p:sp>
      <p:sp>
        <p:nvSpPr>
          <p:cNvPr id="292" name="Google Shape;292;p32"/>
          <p:cNvSpPr txBox="1"/>
          <p:nvPr>
            <p:ph idx="1" type="body"/>
          </p:nvPr>
        </p:nvSpPr>
        <p:spPr>
          <a:xfrm>
            <a:off x="811763" y="1211263"/>
            <a:ext cx="7735078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Associative memory – parallel search 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Address translation (p, d)</a:t>
            </a:r>
            <a:endParaRPr/>
          </a:p>
          <a:p>
            <a:pPr indent="-285749" lvl="1" marL="627063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If p is in associative register, get frame # out</a:t>
            </a:r>
            <a:endParaRPr/>
          </a:p>
          <a:p>
            <a:pPr indent="-285749" lvl="1" marL="627063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Otherwise get frame # from page table in memory</a:t>
            </a:r>
            <a:endParaRPr/>
          </a:p>
          <a:p>
            <a:pPr indent="-160019" lvl="1" marL="627063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  <p:pic>
        <p:nvPicPr>
          <p:cNvPr id="293" name="Google Shape;2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/>
          <p:nvPr>
            <p:ph type="title"/>
          </p:nvPr>
        </p:nvSpPr>
        <p:spPr>
          <a:xfrm>
            <a:off x="488950" y="23854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Paging Hardware With TLB</a:t>
            </a:r>
            <a:endParaRPr sz="2400"/>
          </a:p>
        </p:txBody>
      </p:sp>
      <p:pic>
        <p:nvPicPr>
          <p:cNvPr id="300" name="Google Shape;3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 txBox="1"/>
          <p:nvPr>
            <p:ph type="title"/>
          </p:nvPr>
        </p:nvSpPr>
        <p:spPr>
          <a:xfrm>
            <a:off x="457200" y="236379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Effective Access Time</a:t>
            </a:r>
            <a:endParaRPr/>
          </a:p>
        </p:txBody>
      </p:sp>
      <p:sp>
        <p:nvSpPr>
          <p:cNvPr id="307" name="Google Shape;307;p34"/>
          <p:cNvSpPr txBox="1"/>
          <p:nvPr>
            <p:ph idx="1" type="body"/>
          </p:nvPr>
        </p:nvSpPr>
        <p:spPr>
          <a:xfrm>
            <a:off x="821095" y="1231638"/>
            <a:ext cx="7772400" cy="4835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lang="en-US"/>
              <a:t>Hit ratio – percentage of times that a page number is found in the  TLB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An 80% hit ratio means that we find the desired  page number  in the TLB 80% of the time.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Suppose that 10 nanoseconds to access memory.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If we find the desired page in TLB then a mapped-memory access take 10 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Otherwise we need two memory access so it is 20 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Effective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Access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EAT</a:t>
            </a:r>
            <a:r>
              <a:rPr lang="en-US"/>
              <a:t>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rPr lang="en-US"/>
              <a:t>	               EAT = 0.80 x 10 + 0.20 x 20 = 12  nanoseconds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rPr lang="en-US"/>
              <a:t>       implying 20% slowdown in access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Consider  amore realistic hit ratio of 99%,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rPr lang="en-US"/>
              <a:t>     EAT = 0.99 x 10 + 0.01 x 20 = 10.1ns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rPr lang="en-US"/>
              <a:t>      implying  only 1% slowdown in access time.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160019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/>
          <p:nvPr>
            <p:ph type="title"/>
          </p:nvPr>
        </p:nvSpPr>
        <p:spPr>
          <a:xfrm>
            <a:off x="457200" y="247880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 Protection</a:t>
            </a:r>
            <a:endParaRPr/>
          </a:p>
        </p:txBody>
      </p:sp>
      <p:sp>
        <p:nvSpPr>
          <p:cNvPr id="314" name="Google Shape;314;p35"/>
          <p:cNvSpPr txBox="1"/>
          <p:nvPr>
            <p:ph idx="1" type="body"/>
          </p:nvPr>
        </p:nvSpPr>
        <p:spPr>
          <a:xfrm>
            <a:off x="830425" y="1157288"/>
            <a:ext cx="7651102" cy="44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Memory protection implemented by associating protection bit with each frame to indicate if read-only or read-write access is allowed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Can also add more bits to indicate page execute-only, and so 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Valid-invalid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bit attached to each entry in the page table: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“valid” indicates that the associated page is in the process’ logical address space, and is thus a legal page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“invalid” indicates that the page is not in the process’ logical address space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Or use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page-table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PTLR</a:t>
            </a: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Any violations result in a trap to the kernel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/>
          <p:nvPr>
            <p:ph type="title"/>
          </p:nvPr>
        </p:nvSpPr>
        <p:spPr>
          <a:xfrm>
            <a:off x="709127" y="-95603"/>
            <a:ext cx="8112611" cy="9032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Valid (v) or Invalid (i) Bit In A Page Table</a:t>
            </a:r>
            <a:endParaRPr/>
          </a:p>
        </p:txBody>
      </p:sp>
      <p:pic>
        <p:nvPicPr>
          <p:cNvPr id="321" name="Google Shape;3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"/>
          <p:cNvSpPr txBox="1"/>
          <p:nvPr>
            <p:ph type="title"/>
          </p:nvPr>
        </p:nvSpPr>
        <p:spPr>
          <a:xfrm>
            <a:off x="457200" y="247880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Shared Pages</a:t>
            </a:r>
            <a:endParaRPr/>
          </a:p>
        </p:txBody>
      </p:sp>
      <p:sp>
        <p:nvSpPr>
          <p:cNvPr id="328" name="Google Shape;328;p37"/>
          <p:cNvSpPr txBox="1"/>
          <p:nvPr>
            <p:ph idx="1" type="body"/>
          </p:nvPr>
        </p:nvSpPr>
        <p:spPr>
          <a:xfrm>
            <a:off x="802433" y="1113421"/>
            <a:ext cx="7734788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Shared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One copy of read-only 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reentrant</a:t>
            </a:r>
            <a:r>
              <a:rPr lang="en-US"/>
              <a:t>) code shared among processes (i.e., text editors, compilers, window systems)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Similar to multiple threads sharing the same process space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Also useful for interprocess communication if sharing of read-write pages is allowed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>
                <a:solidFill>
                  <a:srgbClr val="3366FF"/>
                </a:solidFill>
              </a:rPr>
              <a:t>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Each process keeps a separate copy of the code and data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The pages for the private code and data can appear anywhere in the logical address space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/>
          <p:cNvSpPr txBox="1"/>
          <p:nvPr>
            <p:ph type="title"/>
          </p:nvPr>
        </p:nvSpPr>
        <p:spPr>
          <a:xfrm>
            <a:off x="982663" y="24509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Shared Pages Example</a:t>
            </a:r>
            <a:endParaRPr sz="2400"/>
          </a:p>
        </p:txBody>
      </p:sp>
      <p:pic>
        <p:nvPicPr>
          <p:cNvPr descr="W:\os-book\OS10\slide-dir\os-figures\9_14.jpg" id="335" name="Google Shape;33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/>
          <p:nvPr>
            <p:ph type="title"/>
          </p:nvPr>
        </p:nvSpPr>
        <p:spPr>
          <a:xfrm>
            <a:off x="520700" y="247880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Structure of the Page Table</a:t>
            </a:r>
            <a:endParaRPr/>
          </a:p>
        </p:txBody>
      </p:sp>
      <p:sp>
        <p:nvSpPr>
          <p:cNvPr id="342" name="Google Shape;342;p39"/>
          <p:cNvSpPr txBox="1"/>
          <p:nvPr>
            <p:ph idx="1" type="body"/>
          </p:nvPr>
        </p:nvSpPr>
        <p:spPr>
          <a:xfrm>
            <a:off x="811763" y="1227138"/>
            <a:ext cx="7697755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Memory structures for paging can get huge using straight-forward methods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Consider a 32-bit logical address space as on modern computers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Page size of 4 KB (2</a:t>
            </a:r>
            <a:r>
              <a:rPr baseline="30000" lang="en-US"/>
              <a:t>12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Page table would have 1 million entries (2</a:t>
            </a:r>
            <a:r>
              <a:rPr baseline="30000" lang="en-US"/>
              <a:t>32</a:t>
            </a:r>
            <a:r>
              <a:rPr lang="en-US"/>
              <a:t> / 2</a:t>
            </a:r>
            <a:r>
              <a:rPr baseline="30000" lang="en-US"/>
              <a:t>12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If each entry is 4 bytes 🡺 each process 4 MB of physical address space for the  page table alone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Don’t want to allocate that contiguously in main memory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One simple solution is to divide the page table into smaller units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Hierarchical Paging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Hashed Page Tables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Inverted Page Tables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/>
          <p:nvPr>
            <p:ph type="title"/>
          </p:nvPr>
        </p:nvSpPr>
        <p:spPr>
          <a:xfrm>
            <a:off x="473075" y="23200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Hierarchical Page Tables</a:t>
            </a:r>
            <a:endParaRPr/>
          </a:p>
        </p:txBody>
      </p:sp>
      <p:sp>
        <p:nvSpPr>
          <p:cNvPr id="349" name="Google Shape;349;p40"/>
          <p:cNvSpPr txBox="1"/>
          <p:nvPr>
            <p:ph idx="1" type="body"/>
          </p:nvPr>
        </p:nvSpPr>
        <p:spPr>
          <a:xfrm>
            <a:off x="839755" y="1131888"/>
            <a:ext cx="7489858" cy="109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Break up the logical address space into multiple page tables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 simple technique is a two-level page table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We then page the page table</a:t>
            </a:r>
            <a:endParaRPr/>
          </a:p>
        </p:txBody>
      </p:sp>
      <p:pic>
        <p:nvPicPr>
          <p:cNvPr descr="8" id="350" name="Google Shape;35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>
            <p:ph type="title"/>
          </p:nvPr>
        </p:nvSpPr>
        <p:spPr>
          <a:xfrm>
            <a:off x="955675" y="236379"/>
            <a:ext cx="7762875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Two-Level Paging Example</a:t>
            </a:r>
            <a:endParaRPr/>
          </a:p>
        </p:txBody>
      </p:sp>
      <p:sp>
        <p:nvSpPr>
          <p:cNvPr id="357" name="Google Shape;357;p41"/>
          <p:cNvSpPr txBox="1"/>
          <p:nvPr>
            <p:ph idx="1" type="body"/>
          </p:nvPr>
        </p:nvSpPr>
        <p:spPr>
          <a:xfrm>
            <a:off x="849087" y="1085850"/>
            <a:ext cx="7679093" cy="5146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 logical address (on 32-bit machine with 4K page size) is divided into:</a:t>
            </a:r>
            <a:endParaRPr/>
          </a:p>
          <a:p>
            <a:pPr indent="-285749" lvl="1" marL="627063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 page number consisting of 20 bits</a:t>
            </a:r>
            <a:endParaRPr/>
          </a:p>
          <a:p>
            <a:pPr indent="-285749" lvl="1" marL="627063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 page offset consisting of 12 bits</a:t>
            </a:r>
            <a:endParaRPr/>
          </a:p>
          <a:p>
            <a:pPr indent="-229869" lvl="1" marL="627063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880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Since the page table is paged, the page number is further divided into:</a:t>
            </a:r>
            <a:endParaRPr/>
          </a:p>
          <a:p>
            <a:pPr indent="-285749" lvl="1" marL="627063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 10-bit page number </a:t>
            </a:r>
            <a:endParaRPr/>
          </a:p>
          <a:p>
            <a:pPr indent="-285749" lvl="1" marL="627063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 10-bit page offset</a:t>
            </a:r>
            <a:endParaRPr/>
          </a:p>
          <a:p>
            <a:pPr indent="-229869" lvl="1" marL="627063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880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Thus, a logical address is as follows:</a:t>
            </a:r>
            <a:br>
              <a:rPr lang="en-US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where</a:t>
            </a:r>
            <a:r>
              <a:rPr i="1" lang="en-US"/>
              <a:t> p</a:t>
            </a:r>
            <a:r>
              <a:rPr baseline="-25000" i="1" lang="en-US"/>
              <a:t>1</a:t>
            </a:r>
            <a:r>
              <a:rPr lang="en-US"/>
              <a:t> is an index into the outer page table, and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is the displacement within the page of the inner page table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Known as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forward-mapped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/>
          </a:p>
        </p:txBody>
      </p:sp>
      <p:pic>
        <p:nvPicPr>
          <p:cNvPr descr="W:\os-book\OS10\slide-dir\os-figures\in-9_3.jpg" id="358" name="Google Shape;35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>
            <p:ph type="title"/>
          </p:nvPr>
        </p:nvSpPr>
        <p:spPr>
          <a:xfrm>
            <a:off x="1128713" y="236379"/>
            <a:ext cx="7558087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Address-Translation Scheme</a:t>
            </a:r>
            <a:endParaRPr sz="2400"/>
          </a:p>
        </p:txBody>
      </p:sp>
      <p:pic>
        <p:nvPicPr>
          <p:cNvPr id="365" name="Google Shape;3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 txBox="1"/>
          <p:nvPr>
            <p:ph type="title"/>
          </p:nvPr>
        </p:nvSpPr>
        <p:spPr>
          <a:xfrm>
            <a:off x="536575" y="15580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64-bit Logical Address Space</a:t>
            </a:r>
            <a:endParaRPr/>
          </a:p>
        </p:txBody>
      </p:sp>
      <p:sp>
        <p:nvSpPr>
          <p:cNvPr id="371" name="Google Shape;371;p43"/>
          <p:cNvSpPr txBox="1"/>
          <p:nvPr>
            <p:ph idx="1" type="body"/>
          </p:nvPr>
        </p:nvSpPr>
        <p:spPr>
          <a:xfrm>
            <a:off x="875685" y="1130300"/>
            <a:ext cx="7596512" cy="5087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Even two-level paging scheme not sufficient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If page size is 4 KB (2</a:t>
            </a:r>
            <a:r>
              <a:rPr baseline="30000" lang="en-US"/>
              <a:t>12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Then page table has 2</a:t>
            </a:r>
            <a:r>
              <a:rPr baseline="30000" lang="en-US"/>
              <a:t>52</a:t>
            </a:r>
            <a:r>
              <a:rPr lang="en-US"/>
              <a:t> entries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If two level scheme, inner page tables could be 2</a:t>
            </a:r>
            <a:r>
              <a:rPr baseline="30000" lang="en-US"/>
              <a:t>10</a:t>
            </a:r>
            <a:r>
              <a:rPr lang="en-US"/>
              <a:t> 4-byte entries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Address would look like</a:t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Outer page table has 2</a:t>
            </a:r>
            <a:r>
              <a:rPr baseline="30000" lang="en-US"/>
              <a:t>42</a:t>
            </a:r>
            <a:r>
              <a:rPr lang="en-US"/>
              <a:t> entries or 2</a:t>
            </a:r>
            <a:r>
              <a:rPr baseline="30000" lang="en-US"/>
              <a:t>44</a:t>
            </a:r>
            <a:r>
              <a:rPr lang="en-US"/>
              <a:t> bytes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One solution is to add a 2</a:t>
            </a:r>
            <a:r>
              <a:rPr baseline="30000" lang="en-US"/>
              <a:t>nd</a:t>
            </a:r>
            <a:r>
              <a:rPr lang="en-US"/>
              <a:t> outer page table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But in the following example the 2</a:t>
            </a:r>
            <a:r>
              <a:rPr baseline="30000" lang="en-US"/>
              <a:t>nd</a:t>
            </a:r>
            <a:r>
              <a:rPr lang="en-US"/>
              <a:t> outer page table is still 2</a:t>
            </a:r>
            <a:r>
              <a:rPr baseline="30000" lang="en-US"/>
              <a:t>34</a:t>
            </a:r>
            <a:r>
              <a:rPr lang="en-US"/>
              <a:t> bytes in size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And possibly 4 memory access to get to one physical memory location</a:t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  <p:pic>
        <p:nvPicPr>
          <p:cNvPr descr="W:\os-book\OS10\slide-dir\os-figures\in-9_5.jpg" id="372" name="Google Shape;37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 txBox="1"/>
          <p:nvPr>
            <p:ph type="title"/>
          </p:nvPr>
        </p:nvSpPr>
        <p:spPr>
          <a:xfrm>
            <a:off x="865188" y="144075"/>
            <a:ext cx="7821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Three-level Paging Scheme</a:t>
            </a:r>
            <a:endParaRPr/>
          </a:p>
        </p:txBody>
      </p:sp>
      <p:pic>
        <p:nvPicPr>
          <p:cNvPr id="379" name="Google Shape;37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"/>
          <p:cNvSpPr txBox="1"/>
          <p:nvPr>
            <p:ph type="title"/>
          </p:nvPr>
        </p:nvSpPr>
        <p:spPr>
          <a:xfrm>
            <a:off x="846138" y="222674"/>
            <a:ext cx="7840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Hashed Page Tables</a:t>
            </a:r>
            <a:endParaRPr/>
          </a:p>
        </p:txBody>
      </p:sp>
      <p:sp>
        <p:nvSpPr>
          <p:cNvPr id="387" name="Google Shape;387;p45"/>
          <p:cNvSpPr txBox="1"/>
          <p:nvPr>
            <p:ph idx="1" type="body"/>
          </p:nvPr>
        </p:nvSpPr>
        <p:spPr>
          <a:xfrm>
            <a:off x="903288" y="1141413"/>
            <a:ext cx="7626350" cy="4722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Common in address spaces &gt; 32 bits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The virtual page number is hashed into a page table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This page table contains a chain of elements hashing to the same location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Each element contains (1) the virtual page number (2) the value of the mapped page frame (3) a pointer to the next element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Virtual page numbers are compared in this chain searching for a match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If a match is found, the corresponding physical frame is extracted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Variation for 64-bit addresses is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clustered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Similar to hashed but each entry refers to several pages (such as 16) rather than 1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Especially useful for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sparse</a:t>
            </a:r>
            <a:r>
              <a:rPr lang="en-US"/>
              <a:t> address spaces (where memory references are non-contiguous and scattered)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/>
          <p:cNvSpPr txBox="1"/>
          <p:nvPr>
            <p:ph type="title"/>
          </p:nvPr>
        </p:nvSpPr>
        <p:spPr>
          <a:xfrm>
            <a:off x="457200" y="236379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Hashed Page Table</a:t>
            </a:r>
            <a:endParaRPr sz="2400"/>
          </a:p>
        </p:txBody>
      </p:sp>
      <p:pic>
        <p:nvPicPr>
          <p:cNvPr id="394" name="Google Shape;3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>
            <p:ph type="title"/>
          </p:nvPr>
        </p:nvSpPr>
        <p:spPr>
          <a:xfrm>
            <a:off x="457200" y="227048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Inverted Page Table</a:t>
            </a:r>
            <a:endParaRPr/>
          </a:p>
        </p:txBody>
      </p:sp>
      <p:sp>
        <p:nvSpPr>
          <p:cNvPr id="401" name="Google Shape;401;p47"/>
          <p:cNvSpPr txBox="1"/>
          <p:nvPr>
            <p:ph idx="1" type="body"/>
          </p:nvPr>
        </p:nvSpPr>
        <p:spPr>
          <a:xfrm>
            <a:off x="839755" y="1152525"/>
            <a:ext cx="7697755" cy="4792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Rather than each process having a page table and keeping track of all possible logical pages, track all physical pages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One entry for each real page of memory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Entry consists of the virtual address of the page stored in that real memory location, with information about the process that owns that page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Decreases memory needed to store each page table, but increases time needed to search the table when a page reference occurs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Use hash table to limit the search to one — or at most a few — page-table entries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TLB can accelerate access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But how to implement shared memory?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One mapping of a virtual address to the shared physical address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8"/>
          <p:cNvSpPr txBox="1"/>
          <p:nvPr>
            <p:ph type="title"/>
          </p:nvPr>
        </p:nvSpPr>
        <p:spPr>
          <a:xfrm>
            <a:off x="958850" y="238549"/>
            <a:ext cx="7791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Inverted Page Table Architecture</a:t>
            </a:r>
            <a:endParaRPr sz="2400"/>
          </a:p>
        </p:txBody>
      </p:sp>
      <p:pic>
        <p:nvPicPr>
          <p:cNvPr id="408" name="Google Shape;40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"/>
          <p:cNvSpPr txBox="1"/>
          <p:nvPr>
            <p:ph type="title"/>
          </p:nvPr>
        </p:nvSpPr>
        <p:spPr>
          <a:xfrm>
            <a:off x="730250" y="235762"/>
            <a:ext cx="79565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SPARC Solaris</a:t>
            </a:r>
            <a:endParaRPr/>
          </a:p>
        </p:txBody>
      </p:sp>
      <p:sp>
        <p:nvSpPr>
          <p:cNvPr id="415" name="Google Shape;415;p49"/>
          <p:cNvSpPr txBox="1"/>
          <p:nvPr>
            <p:ph idx="1" type="body"/>
          </p:nvPr>
        </p:nvSpPr>
        <p:spPr>
          <a:xfrm>
            <a:off x="802433" y="1035050"/>
            <a:ext cx="7679094" cy="506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Consider modern, 64-bit operating system example with tightly integrated HW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Goals are efficiency, low overhead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Based on hashing, but more complex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Two hash tables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One kernel and one for all user processes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Each maps memory addresses from virtual to physical memory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Each entry represents a contiguous area of mapped virtual memory,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More efficient than having a separate hash-table entry for each page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Each entry has  base address and  span (indicating the number of pages the entry represents)</a:t>
            </a:r>
            <a:endParaRPr/>
          </a:p>
          <a:p>
            <a:pPr indent="-245109" lvl="0" marL="342900" rtl="0" algn="l">
              <a:spcBef>
                <a:spcPts val="49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0"/>
          <p:cNvSpPr txBox="1"/>
          <p:nvPr>
            <p:ph type="title"/>
          </p:nvPr>
        </p:nvSpPr>
        <p:spPr>
          <a:xfrm>
            <a:off x="762000" y="235762"/>
            <a:ext cx="79565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SPARC Solaris (Cont.)</a:t>
            </a:r>
            <a:endParaRPr/>
          </a:p>
        </p:txBody>
      </p:sp>
      <p:sp>
        <p:nvSpPr>
          <p:cNvPr id="422" name="Google Shape;422;p50"/>
          <p:cNvSpPr txBox="1"/>
          <p:nvPr>
            <p:ph idx="1" type="body"/>
          </p:nvPr>
        </p:nvSpPr>
        <p:spPr>
          <a:xfrm>
            <a:off x="830425" y="1096963"/>
            <a:ext cx="7665876" cy="5062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TLB holds translation table entries (TTEs) for fast hardware lookups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 cache of TTEs reside in a translation storage buffer (TSB)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Includes an entry per recently accessed page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Virtual address reference causes TLB search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If miss, hardware walks the in-memory TSB looking for the TTE corresponding to the address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If match found, the CPU copies the TSB entry into the TLB and translation completes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If no match found, kernel interrupted to search the hash table</a:t>
            </a:r>
            <a:endParaRPr/>
          </a:p>
          <a:p>
            <a:pPr indent="-228600" lvl="3" marL="1428750" rtl="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</a:pPr>
            <a:r>
              <a:rPr lang="en-US"/>
              <a:t>The kernel then creates a TTE from the appropriate hash table and stores it in the TSB, Interrupt handler returns control to the MMU, which completes the address translation. 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1"/>
          <p:cNvSpPr txBox="1"/>
          <p:nvPr>
            <p:ph type="title"/>
          </p:nvPr>
        </p:nvSpPr>
        <p:spPr>
          <a:xfrm>
            <a:off x="488950" y="23103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Swapping</a:t>
            </a:r>
            <a:endParaRPr/>
          </a:p>
        </p:txBody>
      </p:sp>
      <p:sp>
        <p:nvSpPr>
          <p:cNvPr id="429" name="Google Shape;429;p51"/>
          <p:cNvSpPr txBox="1"/>
          <p:nvPr>
            <p:ph idx="1" type="body"/>
          </p:nvPr>
        </p:nvSpPr>
        <p:spPr>
          <a:xfrm>
            <a:off x="849086" y="1122363"/>
            <a:ext cx="7679094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 process can be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swapped</a:t>
            </a:r>
            <a:r>
              <a:rPr lang="en-US"/>
              <a:t> temporarily out of memory to a backing store, and then brought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r>
              <a:rPr lang="en-US"/>
              <a:t> into memory for continued execution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Total physical memory space of processes can exceed physical memory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Backing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fast disk large enough to accommodate copies of all memory images for all users; must provide direct access to these memory images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Roll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1" lang="en-US">
                <a:solidFill>
                  <a:srgbClr val="3366FF"/>
                </a:solidFill>
              </a:rPr>
              <a:t>,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roll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swapping variant used for priority-based scheduling algorithms; lower-priority process is swapped out so higher-priority process can be loaded and executed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Major part of swap time is transfer time; total transfer time is directly proportional to the amount of memory swapped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System maintains 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ready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queue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of ready-to-run processes which have memory images on disk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2"/>
          <p:cNvSpPr txBox="1"/>
          <p:nvPr>
            <p:ph type="title"/>
          </p:nvPr>
        </p:nvSpPr>
        <p:spPr>
          <a:xfrm>
            <a:off x="488950" y="23854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Swapping (Cont.)</a:t>
            </a:r>
            <a:endParaRPr/>
          </a:p>
        </p:txBody>
      </p:sp>
      <p:sp>
        <p:nvSpPr>
          <p:cNvPr id="436" name="Google Shape;436;p52"/>
          <p:cNvSpPr txBox="1"/>
          <p:nvPr>
            <p:ph idx="1" type="body"/>
          </p:nvPr>
        </p:nvSpPr>
        <p:spPr>
          <a:xfrm>
            <a:off x="839754" y="1101725"/>
            <a:ext cx="7697755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Does the swapped out process need to swap back in to same physical addresses?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Depends on address binding method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Plus consider pending I/O to / from process memory space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Modified versions of swapping are found on many systems (i.e., UNIX, Linux, and Windows)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Swapping normally disabled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Started if more than threshold amount of memory allocated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Disabled again once memory demand reduced below threshold</a:t>
            </a:r>
            <a:endParaRPr/>
          </a:p>
          <a:p>
            <a:pPr indent="-342900" lvl="0" marL="342900" rtl="0" algn="l">
              <a:spcBef>
                <a:spcPts val="490"/>
              </a:spcBef>
              <a:spcAft>
                <a:spcPts val="0"/>
              </a:spcAft>
              <a:buSzPts val="1540"/>
              <a:buFont typeface="Arial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3"/>
          <p:cNvSpPr txBox="1"/>
          <p:nvPr>
            <p:ph type="title"/>
          </p:nvPr>
        </p:nvSpPr>
        <p:spPr>
          <a:xfrm>
            <a:off x="817563" y="229218"/>
            <a:ext cx="7869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Schematic View of Swapping</a:t>
            </a:r>
            <a:endParaRPr sz="2400"/>
          </a:p>
        </p:txBody>
      </p:sp>
      <p:pic>
        <p:nvPicPr>
          <p:cNvPr descr="8" id="443" name="Google Shape;44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4"/>
          <p:cNvSpPr txBox="1"/>
          <p:nvPr>
            <p:ph type="title"/>
          </p:nvPr>
        </p:nvSpPr>
        <p:spPr>
          <a:xfrm>
            <a:off x="869950" y="241336"/>
            <a:ext cx="80375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Context Switch Time including Swapping</a:t>
            </a:r>
            <a:endParaRPr/>
          </a:p>
        </p:txBody>
      </p:sp>
      <p:sp>
        <p:nvSpPr>
          <p:cNvPr id="449" name="Google Shape;449;p54"/>
          <p:cNvSpPr txBox="1"/>
          <p:nvPr>
            <p:ph idx="1" type="body"/>
          </p:nvPr>
        </p:nvSpPr>
        <p:spPr>
          <a:xfrm>
            <a:off x="869950" y="1112838"/>
            <a:ext cx="7686221" cy="475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If next processes to be put on CPU is not in memory, need to swap out a process and swap in target process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Context switch time can then be very high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100MB process swapping to hard disk with transfer rate of 50MB/sec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Swap out time of 2000 ms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Plus swap in of same sized process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Total context switch swapping component time of 4000ms (4 seconds)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Can reduce if reduce size of memory swapped – by knowing how much memory really being used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System calls to inform OS of memory use via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request_memory() </a:t>
            </a:r>
            <a:r>
              <a:rPr lang="en-US"/>
              <a:t>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release_memory()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5"/>
          <p:cNvSpPr txBox="1"/>
          <p:nvPr>
            <p:ph type="title"/>
          </p:nvPr>
        </p:nvSpPr>
        <p:spPr>
          <a:xfrm>
            <a:off x="1046809" y="232005"/>
            <a:ext cx="76358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Context Switch Time and Swapping (Cont.)</a:t>
            </a:r>
            <a:endParaRPr/>
          </a:p>
        </p:txBody>
      </p:sp>
      <p:sp>
        <p:nvSpPr>
          <p:cNvPr id="455" name="Google Shape;455;p55"/>
          <p:cNvSpPr txBox="1"/>
          <p:nvPr>
            <p:ph idx="1" type="body"/>
          </p:nvPr>
        </p:nvSpPr>
        <p:spPr>
          <a:xfrm>
            <a:off x="821094" y="1160463"/>
            <a:ext cx="7635875" cy="475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Other constraints as well on swapping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Pending I/O – can’t swap out as I/O would occur to wrong process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Or always transfer I/O to kernel space, then to I/O device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Known as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buffering</a:t>
            </a:r>
            <a:r>
              <a:rPr lang="en-US"/>
              <a:t>, adds overhead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Standard swapping not used in modern operating systems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But modified version common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Swap only when free memory extremely low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6"/>
          <p:cNvSpPr txBox="1"/>
          <p:nvPr>
            <p:ph type="title"/>
          </p:nvPr>
        </p:nvSpPr>
        <p:spPr>
          <a:xfrm>
            <a:off x="488950" y="23200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Swapping on Mobile Systems</a:t>
            </a:r>
            <a:endParaRPr/>
          </a:p>
        </p:txBody>
      </p:sp>
      <p:sp>
        <p:nvSpPr>
          <p:cNvPr id="461" name="Google Shape;461;p56"/>
          <p:cNvSpPr txBox="1"/>
          <p:nvPr>
            <p:ph idx="1" type="body"/>
          </p:nvPr>
        </p:nvSpPr>
        <p:spPr>
          <a:xfrm>
            <a:off x="845101" y="1060450"/>
            <a:ext cx="7723187" cy="4935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Not typically supported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Flash memory based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Small amount of space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Limited number of write cycles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Poor throughput between flash memory and CPU on mobile platform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Instead use other methods to free memory if low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iOS </a:t>
            </a:r>
            <a:r>
              <a:rPr b="1" i="1" lang="en-US"/>
              <a:t>asks</a:t>
            </a:r>
            <a:r>
              <a:rPr lang="en-US"/>
              <a:t> apps to voluntarily relinquish allocated memory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Read-only data thrown out and reloaded from flash if needed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Failure to free can result in termination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Android terminates apps if low free memory, but first writes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lang="en-US"/>
              <a:t> to flash for fast restart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Both OSes support paging as discussed below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7"/>
          <p:cNvSpPr txBox="1"/>
          <p:nvPr>
            <p:ph type="title"/>
          </p:nvPr>
        </p:nvSpPr>
        <p:spPr>
          <a:xfrm>
            <a:off x="817563" y="238549"/>
            <a:ext cx="7869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Swapping with Paging</a:t>
            </a:r>
            <a:endParaRPr sz="2400"/>
          </a:p>
        </p:txBody>
      </p:sp>
      <p:pic>
        <p:nvPicPr>
          <p:cNvPr descr="W:\os-book\OS10\slide-dir\os-figures\9_20.jpg" id="468" name="Google Shape;46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8"/>
          <p:cNvSpPr txBox="1"/>
          <p:nvPr>
            <p:ph type="title"/>
          </p:nvPr>
        </p:nvSpPr>
        <p:spPr>
          <a:xfrm>
            <a:off x="858416" y="226854"/>
            <a:ext cx="7876009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Example: The Intel 32 and 64-bit Architectures</a:t>
            </a:r>
            <a:endParaRPr/>
          </a:p>
        </p:txBody>
      </p:sp>
      <p:sp>
        <p:nvSpPr>
          <p:cNvPr id="475" name="Google Shape;475;p58"/>
          <p:cNvSpPr txBox="1"/>
          <p:nvPr>
            <p:ph idx="1" type="body"/>
          </p:nvPr>
        </p:nvSpPr>
        <p:spPr>
          <a:xfrm>
            <a:off x="830423" y="1233488"/>
            <a:ext cx="7669765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Dominant industry chips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Pentium CPUs are 32-bit and called IA-32 architecture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Current Intel CPUs are 64-bit and called IA-64 architecture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Many variations in the chips, cover the main ideas here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9"/>
          <p:cNvSpPr txBox="1"/>
          <p:nvPr>
            <p:ph type="title"/>
          </p:nvPr>
        </p:nvSpPr>
        <p:spPr>
          <a:xfrm>
            <a:off x="921721" y="232005"/>
            <a:ext cx="76073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Example: The Intel IA-32 Architecture</a:t>
            </a:r>
            <a:endParaRPr/>
          </a:p>
        </p:txBody>
      </p:sp>
      <p:sp>
        <p:nvSpPr>
          <p:cNvPr id="482" name="Google Shape;482;p59"/>
          <p:cNvSpPr txBox="1"/>
          <p:nvPr>
            <p:ph idx="1" type="body"/>
          </p:nvPr>
        </p:nvSpPr>
        <p:spPr>
          <a:xfrm>
            <a:off x="819080" y="1339361"/>
            <a:ext cx="7735918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Supports both segmentation and segmentation with paging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Each segment can be 4 GB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Up to 16 K segments per process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Divided into two partitions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First partition of up to 8 K segments are private to process (kept in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descriptor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LDT</a:t>
            </a:r>
            <a:r>
              <a:rPr lang="en-US"/>
              <a:t>))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Second partition of up to 8K segments shared among all processes (kept in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global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descriptor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GDT</a:t>
            </a:r>
            <a:r>
              <a:rPr lang="en-US"/>
              <a:t>))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/>
          <p:nvPr>
            <p:ph type="title"/>
          </p:nvPr>
        </p:nvSpPr>
        <p:spPr>
          <a:xfrm>
            <a:off x="886408" y="231649"/>
            <a:ext cx="8146467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Example: The Intel IA-32 Architecture (Cont.)</a:t>
            </a:r>
            <a:endParaRPr/>
          </a:p>
        </p:txBody>
      </p:sp>
      <p:sp>
        <p:nvSpPr>
          <p:cNvPr id="489" name="Google Shape;489;p60"/>
          <p:cNvSpPr txBox="1"/>
          <p:nvPr>
            <p:ph idx="1" type="body"/>
          </p:nvPr>
        </p:nvSpPr>
        <p:spPr>
          <a:xfrm>
            <a:off x="821095" y="1323452"/>
            <a:ext cx="7679093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CPU generates logical address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Selector given to segmentation unit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Which produces linear addresses </a:t>
            </a:r>
            <a:endParaRPr/>
          </a:p>
          <a:p>
            <a:pPr indent="0" lvl="2" marL="857250" rtl="0" algn="l">
              <a:spcBef>
                <a:spcPts val="630"/>
              </a:spcBef>
              <a:spcAft>
                <a:spcPts val="0"/>
              </a:spcAft>
              <a:buSzPts val="1350"/>
              <a:buFont typeface="Arimo"/>
              <a:buNone/>
            </a:pPr>
            <a:r>
              <a:t/>
            </a:r>
            <a:endParaRPr/>
          </a:p>
          <a:p>
            <a:pPr indent="-142875" lvl="2" marL="1085850" rtl="0" algn="l">
              <a:spcBef>
                <a:spcPts val="63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Linear address given to paging unit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Which generates physical address in main memory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Paging units form equivalent of MMU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Pages sizes can be 4 KB or 4 MB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  <p:pic>
        <p:nvPicPr>
          <p:cNvPr descr="Screen Shot 2013-01-04 at 12.24.50 PM.png" id="490" name="Google Shape;49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1"/>
          <p:cNvSpPr txBox="1"/>
          <p:nvPr>
            <p:ph type="title"/>
          </p:nvPr>
        </p:nvSpPr>
        <p:spPr>
          <a:xfrm>
            <a:off x="905296" y="188588"/>
            <a:ext cx="76708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Logical to Physical Address Translation in IA-32</a:t>
            </a:r>
            <a:endParaRPr/>
          </a:p>
        </p:txBody>
      </p:sp>
      <p:pic>
        <p:nvPicPr>
          <p:cNvPr id="497" name="Google Shape;497;p61"/>
          <p:cNvPicPr preferRelativeResize="0"/>
          <p:nvPr/>
        </p:nvPicPr>
        <p:blipFill rotWithShape="1">
          <a:blip r:embed="rId3">
            <a:alphaModFix/>
          </a:blip>
          <a:srcRect b="35571" l="638" r="660" t="35570"/>
          <a:stretch/>
        </p:blipFill>
        <p:spPr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2"/>
          <p:cNvSpPr txBox="1"/>
          <p:nvPr>
            <p:ph type="title"/>
          </p:nvPr>
        </p:nvSpPr>
        <p:spPr>
          <a:xfrm>
            <a:off x="1195388" y="235762"/>
            <a:ext cx="74914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Intel IA-32 Segmentation</a:t>
            </a:r>
            <a:endParaRPr/>
          </a:p>
        </p:txBody>
      </p:sp>
      <p:pic>
        <p:nvPicPr>
          <p:cNvPr descr="8" id="505" name="Google Shape;50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3"/>
          <p:cNvSpPr txBox="1"/>
          <p:nvPr>
            <p:ph type="title"/>
          </p:nvPr>
        </p:nvSpPr>
        <p:spPr>
          <a:xfrm>
            <a:off x="817563" y="238549"/>
            <a:ext cx="7869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Intel IA-32 Paging Architecture</a:t>
            </a:r>
            <a:endParaRPr/>
          </a:p>
        </p:txBody>
      </p:sp>
      <p:pic>
        <p:nvPicPr>
          <p:cNvPr id="512" name="Google Shape;51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4"/>
          <p:cNvSpPr txBox="1"/>
          <p:nvPr>
            <p:ph type="title"/>
          </p:nvPr>
        </p:nvSpPr>
        <p:spPr>
          <a:xfrm>
            <a:off x="853909" y="232975"/>
            <a:ext cx="7869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Intel IA-32 Page Address Extensions</a:t>
            </a:r>
            <a:endParaRPr/>
          </a:p>
        </p:txBody>
      </p:sp>
      <p:pic>
        <p:nvPicPr>
          <p:cNvPr descr="8_24.pdf" id="519" name="Google Shape;51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4"/>
          <p:cNvSpPr txBox="1"/>
          <p:nvPr/>
        </p:nvSpPr>
        <p:spPr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32-bit address limits led Intel to create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extension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allowing 32-bit apps access to more than 4GB of memory space</a:t>
            </a:r>
            <a:endParaRPr/>
          </a:p>
          <a:p>
            <a:pPr indent="-407988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 went to a 3-level scheme</a:t>
            </a:r>
            <a:endParaRPr/>
          </a:p>
          <a:p>
            <a:pPr indent="-407988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 two bits refer to a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directory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pointer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/>
          </a:p>
          <a:p>
            <a:pPr indent="-407988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Page-directory and page-table entries moved to 64-bits in size</a:t>
            </a:r>
            <a:endParaRPr/>
          </a:p>
          <a:p>
            <a:pPr indent="-407988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 effect is increasing address space to 36 bits – 64GB of physical memory</a:t>
            </a:r>
            <a:endParaRPr/>
          </a:p>
          <a:p>
            <a:pPr indent="-316547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366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608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5"/>
          <p:cNvSpPr txBox="1"/>
          <p:nvPr>
            <p:ph type="title"/>
          </p:nvPr>
        </p:nvSpPr>
        <p:spPr>
          <a:xfrm>
            <a:off x="481661" y="245093"/>
            <a:ext cx="7869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Intel x86-64</a:t>
            </a:r>
            <a:endParaRPr/>
          </a:p>
        </p:txBody>
      </p:sp>
      <p:sp>
        <p:nvSpPr>
          <p:cNvPr id="527" name="Google Shape;527;p65"/>
          <p:cNvSpPr txBox="1"/>
          <p:nvPr/>
        </p:nvSpPr>
        <p:spPr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-488950" lvl="0" marL="488950" marR="0" rtl="0" algn="l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generation Intel x86 architecture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64 bits is ginormous (&gt; 16 exabytes)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practice only implement 48 bit addressing</a:t>
            </a:r>
            <a:endParaRPr/>
          </a:p>
          <a:p>
            <a:pPr indent="-407988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sizes of 4 KB, 2 MB, 1 GB</a:t>
            </a:r>
            <a:endParaRPr/>
          </a:p>
          <a:p>
            <a:pPr indent="-407988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Four levels of paging hierarchy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also use PAE so virtual addresses are 48 bits and physical addresses are 52 bits</a:t>
            </a:r>
            <a:endParaRPr/>
          </a:p>
        </p:txBody>
      </p:sp>
      <p:pic>
        <p:nvPicPr>
          <p:cNvPr descr="8_25.pdf" id="528" name="Google Shape;52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6"/>
          <p:cNvSpPr txBox="1"/>
          <p:nvPr>
            <p:ph type="title"/>
          </p:nvPr>
        </p:nvSpPr>
        <p:spPr>
          <a:xfrm>
            <a:off x="833438" y="238549"/>
            <a:ext cx="7869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ARM Architecture</a:t>
            </a:r>
            <a:endParaRPr/>
          </a:p>
        </p:txBody>
      </p:sp>
      <p:sp>
        <p:nvSpPr>
          <p:cNvPr id="535" name="Google Shape;535;p66"/>
          <p:cNvSpPr txBox="1"/>
          <p:nvPr/>
        </p:nvSpPr>
        <p:spPr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-488950" lvl="0" marL="488950" marR="0" rtl="0" algn="l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76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Dominant mobile platform chip (Apple iOS and Google Android devices for example)</a:t>
            </a:r>
            <a:endParaRPr/>
          </a:p>
          <a:p>
            <a:pPr indent="-488950" lvl="0" marL="488950" marR="0" rtl="0" algn="l"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76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Modern, energy efficient, 32-bit CPU</a:t>
            </a:r>
            <a:endParaRPr/>
          </a:p>
          <a:p>
            <a:pPr indent="-488950" lvl="0" marL="488950" marR="0" rtl="0" algn="l"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76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KB and 16 KB pages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76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MB and 16 MB pages (termed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sections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488950" lvl="0" marL="488950" marR="0" rtl="0" algn="l"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76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One-level paging for sections, two-level for smaller pages</a:t>
            </a:r>
            <a:endParaRPr/>
          </a:p>
          <a:p>
            <a:pPr indent="-488950" lvl="0" marL="488950" marR="0" rtl="0" algn="l"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76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levels of TLBs</a:t>
            </a:r>
            <a:endParaRPr/>
          </a:p>
          <a:p>
            <a:pPr indent="-285750" lvl="1" marL="938212" marR="0" rtl="0" algn="l"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76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Outer level has two micro TLBs (one data, one instruction)</a:t>
            </a:r>
            <a:endParaRPr/>
          </a:p>
          <a:p>
            <a:pPr indent="-285750" lvl="1" marL="938212" marR="0" rtl="0" algn="l"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76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Inner is single main TLB</a:t>
            </a:r>
            <a:endParaRPr/>
          </a:p>
          <a:p>
            <a:pPr indent="-285750" lvl="1" marL="938212" marR="0" rtl="0" algn="l"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76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inner is checked, on miss outers are checked, and on miss page table walk performed by CPU</a:t>
            </a:r>
            <a:endParaRPr/>
          </a:p>
          <a:p>
            <a:pPr indent="-397510" lvl="0" marL="488950" marR="0" rtl="0" algn="l"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8_26.pdf" id="536" name="Google Shape;53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7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of Chapter 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2011-01-13T23:43:38Z</dcterms:created>
  <dc:creator>Lucent End User</dc:creator>
</cp:coreProperties>
</file>