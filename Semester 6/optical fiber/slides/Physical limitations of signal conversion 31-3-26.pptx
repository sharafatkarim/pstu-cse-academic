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7" d="100"/>
          <a:sy n="87" d="100"/>
        </p:scale>
        <p:origin x="38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C055-B408-4243-B31D-8686AF54EE6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2C83D-7E9B-49E9-B1CB-FA7EF01CA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91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C055-B408-4243-B31D-8686AF54EE6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2C83D-7E9B-49E9-B1CB-FA7EF01CA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91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C055-B408-4243-B31D-8686AF54EE6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2C83D-7E9B-49E9-B1CB-FA7EF01CA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83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C055-B408-4243-B31D-8686AF54EE6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2C83D-7E9B-49E9-B1CB-FA7EF01CA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C055-B408-4243-B31D-8686AF54EE6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2C83D-7E9B-49E9-B1CB-FA7EF01CA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67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C055-B408-4243-B31D-8686AF54EE6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2C83D-7E9B-49E9-B1CB-FA7EF01CA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02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C055-B408-4243-B31D-8686AF54EE6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2C83D-7E9B-49E9-B1CB-FA7EF01CA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11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C055-B408-4243-B31D-8686AF54EE6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2C83D-7E9B-49E9-B1CB-FA7EF01CA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43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C055-B408-4243-B31D-8686AF54EE6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2C83D-7E9B-49E9-B1CB-FA7EF01CA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4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C055-B408-4243-B31D-8686AF54EE6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2C83D-7E9B-49E9-B1CB-FA7EF01CA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29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C055-B408-4243-B31D-8686AF54EE6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2C83D-7E9B-49E9-B1CB-FA7EF01CA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94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5C055-B408-4243-B31D-8686AF54EE6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2C83D-7E9B-49E9-B1CB-FA7EF01CA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3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Physical limitations of signal conversion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44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Why this matters for CSE Students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Understanding the physical limitations of signal conversion is </a:t>
            </a:r>
            <a:r>
              <a:rPr lang="en-US" dirty="0" smtClean="0">
                <a:solidFill>
                  <a:srgbClr val="FF0000"/>
                </a:solidFill>
              </a:rPr>
              <a:t>crucial for "Power Budgeting."</a:t>
            </a:r>
            <a:r>
              <a:rPr lang="en-US" dirty="0" smtClean="0"/>
              <a:t> </a:t>
            </a:r>
          </a:p>
          <a:p>
            <a:r>
              <a:rPr lang="en-US" dirty="0" smtClean="0"/>
              <a:t>If the light signal becomes </a:t>
            </a:r>
            <a:r>
              <a:rPr lang="en-US" dirty="0" smtClean="0">
                <a:solidFill>
                  <a:srgbClr val="FF0000"/>
                </a:solidFill>
              </a:rPr>
              <a:t>too weak due to fiber loss</a:t>
            </a:r>
            <a:r>
              <a:rPr lang="en-US" dirty="0" smtClean="0"/>
              <a:t>, </a:t>
            </a:r>
          </a:p>
          <a:p>
            <a:pPr lvl="1"/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photocurrent will drop below the noise floor</a:t>
            </a:r>
            <a:r>
              <a:rPr lang="en-US" dirty="0" smtClean="0"/>
              <a:t>, leading to a high Bit Error Rate (BER).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5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562" y="118941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Concept: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In an optical communication system, the receiver's job is to </a:t>
            </a:r>
            <a:r>
              <a:rPr lang="en-US" sz="3200" dirty="0" smtClean="0">
                <a:solidFill>
                  <a:srgbClr val="FF0000"/>
                </a:solidFill>
              </a:rPr>
              <a:t>convert light (photons) back into electricity (electrons)</a:t>
            </a:r>
            <a:r>
              <a:rPr lang="en-US" sz="3200" dirty="0" smtClean="0"/>
              <a:t>. </a:t>
            </a:r>
          </a:p>
          <a:p>
            <a:pPr lvl="1"/>
            <a:r>
              <a:rPr lang="en-US" sz="2800" dirty="0" smtClean="0"/>
              <a:t>Quantum Efficiency (</a:t>
            </a:r>
            <a:r>
              <a:rPr lang="el-GR" sz="2800" dirty="0"/>
              <a:t>η</a:t>
            </a:r>
            <a:r>
              <a:rPr lang="en-US" sz="2800" dirty="0" smtClean="0"/>
              <a:t>): This represents the </a:t>
            </a:r>
            <a:r>
              <a:rPr lang="en-US" sz="2800" dirty="0" smtClean="0">
                <a:solidFill>
                  <a:srgbClr val="FF0000"/>
                </a:solidFill>
              </a:rPr>
              <a:t>"success rate" of the photodiode</a:t>
            </a:r>
            <a:r>
              <a:rPr lang="en-US" sz="2800" dirty="0" smtClean="0"/>
              <a:t>. A 70% efficiency means that for </a:t>
            </a:r>
            <a:r>
              <a:rPr lang="en-US" sz="2800" dirty="0" smtClean="0">
                <a:solidFill>
                  <a:srgbClr val="FF0000"/>
                </a:solidFill>
              </a:rPr>
              <a:t>every 100 photons that hit the detector, only 70 successfully generate an electron-hole pair to create current</a:t>
            </a:r>
            <a:r>
              <a:rPr lang="en-US" sz="2800" dirty="0" smtClean="0"/>
              <a:t>.</a:t>
            </a:r>
          </a:p>
          <a:p>
            <a:pPr lvl="1"/>
            <a:r>
              <a:rPr lang="en-US" sz="2800" dirty="0" smtClean="0"/>
              <a:t>Responsivity (R): This is a practical measure for engineers. </a:t>
            </a:r>
          </a:p>
          <a:p>
            <a:pPr lvl="2"/>
            <a:r>
              <a:rPr lang="en-US" sz="2400" dirty="0" smtClean="0"/>
              <a:t>While quantum efficiency is a ratio of particles, </a:t>
            </a:r>
            <a:r>
              <a:rPr lang="en-US" sz="2400" dirty="0" smtClean="0">
                <a:solidFill>
                  <a:srgbClr val="FF0000"/>
                </a:solidFill>
              </a:rPr>
              <a:t>Responsivity tells us exactly how many Amperes of current we get for every Watt of light power</a:t>
            </a:r>
            <a:r>
              <a:rPr lang="en-US" sz="2400" dirty="0" smtClean="0"/>
              <a:t>. </a:t>
            </a:r>
          </a:p>
          <a:p>
            <a:pPr lvl="2"/>
            <a:r>
              <a:rPr lang="en-US" sz="2400" dirty="0" smtClean="0"/>
              <a:t>It is wavelength-dependent because the energy of a photon changes with its color (wavelength).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5623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562" y="118941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Concept: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Photocurrent (</a:t>
            </a:r>
            <a:r>
              <a:rPr lang="en-US" sz="3200" dirty="0" err="1" smtClean="0"/>
              <a:t>I</a:t>
            </a:r>
            <a:r>
              <a:rPr lang="en-US" dirty="0" err="1" smtClean="0"/>
              <a:t>p</a:t>
            </a:r>
            <a:r>
              <a:rPr lang="en-US" sz="3200" dirty="0" smtClean="0"/>
              <a:t>): This is the </a:t>
            </a:r>
            <a:r>
              <a:rPr lang="en-US" sz="3200" dirty="0" smtClean="0">
                <a:solidFill>
                  <a:srgbClr val="FF0000"/>
                </a:solidFill>
              </a:rPr>
              <a:t>actual electrical signal that will be amplified and processed by the rest of the computer system to recover the transmitted data</a:t>
            </a:r>
            <a:r>
              <a:rPr lang="en-US" sz="32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9597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198"/>
            <a:ext cx="10515600" cy="1325563"/>
          </a:xfrm>
        </p:spPr>
        <p:txBody>
          <a:bodyPr/>
          <a:lstStyle/>
          <a:p>
            <a:r>
              <a:rPr lang="en-US" dirty="0" smtClean="0"/>
              <a:t>Exercise: Optical Detector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5761"/>
            <a:ext cx="7271238" cy="18004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651" y="1046285"/>
            <a:ext cx="5468113" cy="559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9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198"/>
            <a:ext cx="10515600" cy="1325563"/>
          </a:xfrm>
        </p:spPr>
        <p:txBody>
          <a:bodyPr/>
          <a:lstStyle/>
          <a:p>
            <a:r>
              <a:rPr lang="en-US" dirty="0" smtClean="0"/>
              <a:t>Exercise: Optical Detector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5761"/>
            <a:ext cx="7271238" cy="18004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86237"/>
            <a:ext cx="5410955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71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218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Physical limitations of signal conversion</vt:lpstr>
      <vt:lpstr>Why this matters for CSE Students</vt:lpstr>
      <vt:lpstr>Concept:</vt:lpstr>
      <vt:lpstr>Concept:</vt:lpstr>
      <vt:lpstr>Exercise: Optical Detector Performance</vt:lpstr>
      <vt:lpstr>Exercise: Optical Detector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limitations of signal conversion</dc:title>
  <dc:creator>Lenovo</dc:creator>
  <cp:lastModifiedBy>Lenovo</cp:lastModifiedBy>
  <cp:revision>2</cp:revision>
  <dcterms:created xsi:type="dcterms:W3CDTF">2026-03-31T05:19:07Z</dcterms:created>
  <dcterms:modified xsi:type="dcterms:W3CDTF">2026-03-31T05:24:04Z</dcterms:modified>
</cp:coreProperties>
</file>