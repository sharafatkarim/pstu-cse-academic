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5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9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10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9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5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2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3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84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4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C742C-A8E5-4E57-BD43-F0B8F462B86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C485D-1393-4FBB-854E-BDC6A27E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0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Requirements of transmitter and receiver in WDM networks, types of tunable lasers, optical amplifiers, SOA and FOA, EDFA and EBFA.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94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WDM (Wavelength Division Multiplexing)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="1" dirty="0" smtClean="0"/>
              <a:t>WDM (Wavelength Division Multiplexing)</a:t>
            </a:r>
            <a:r>
              <a:rPr lang="en-US" dirty="0" smtClean="0"/>
              <a:t> networks, </a:t>
            </a:r>
            <a:r>
              <a:rPr lang="en-US" dirty="0" smtClean="0">
                <a:solidFill>
                  <a:srgbClr val="FF0000"/>
                </a:solidFill>
              </a:rPr>
              <a:t>multiple data signals are sent simultaneously</a:t>
            </a:r>
            <a:r>
              <a:rPr lang="en-US" dirty="0" smtClean="0"/>
              <a:t> over a single optical fiber </a:t>
            </a:r>
            <a:r>
              <a:rPr lang="en-US" dirty="0" smtClean="0">
                <a:solidFill>
                  <a:srgbClr val="FF0000"/>
                </a:solidFill>
              </a:rPr>
              <a:t>by using different wavelengths (colors) of laser light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To make this work, the hardware—</a:t>
            </a:r>
            <a:r>
              <a:rPr lang="en-US" dirty="0" smtClean="0">
                <a:solidFill>
                  <a:srgbClr val="FF0000"/>
                </a:solidFill>
              </a:rPr>
              <a:t>transmitters, receivers, and amplifiers—must meet specific high-performance requirements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08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Transmitter and Receiver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Transmitter Requirements:</a:t>
            </a:r>
          </a:p>
          <a:p>
            <a:pPr lvl="1"/>
            <a:r>
              <a:rPr lang="en-US" sz="3200" b="1" dirty="0" smtClean="0"/>
              <a:t>Precision Wavelength:</a:t>
            </a:r>
            <a:r>
              <a:rPr lang="en-US" sz="3200" dirty="0" smtClean="0"/>
              <a:t> The laser must emit </a:t>
            </a:r>
            <a:r>
              <a:rPr lang="en-US" sz="3200" dirty="0" smtClean="0">
                <a:solidFill>
                  <a:srgbClr val="FF0000"/>
                </a:solidFill>
              </a:rPr>
              <a:t>a very specific wavelength to avoid interfering with adjacent channels </a:t>
            </a:r>
            <a:r>
              <a:rPr lang="en-US" sz="3200" dirty="0" smtClean="0"/>
              <a:t>(Crosstalk).</a:t>
            </a:r>
          </a:p>
          <a:p>
            <a:pPr lvl="1"/>
            <a:r>
              <a:rPr lang="en-US" sz="3200" b="1" dirty="0" smtClean="0"/>
              <a:t>Stability:</a:t>
            </a:r>
            <a:r>
              <a:rPr lang="en-US" sz="3200" dirty="0" smtClean="0"/>
              <a:t> The wavelength </a:t>
            </a:r>
            <a:r>
              <a:rPr lang="en-US" sz="3200" dirty="0" smtClean="0">
                <a:solidFill>
                  <a:srgbClr val="FF0000"/>
                </a:solidFill>
              </a:rPr>
              <a:t>must remain constant regardless of temperature changes </a:t>
            </a:r>
            <a:r>
              <a:rPr lang="en-US" sz="3200" dirty="0" smtClean="0"/>
              <a:t>(often using "wavelength lockers").</a:t>
            </a:r>
          </a:p>
          <a:p>
            <a:pPr lvl="1"/>
            <a:r>
              <a:rPr lang="en-US" sz="3200" b="1" dirty="0" smtClean="0"/>
              <a:t>Narrow Linewidth:</a:t>
            </a:r>
            <a:r>
              <a:rPr lang="en-US" sz="3200" dirty="0" smtClean="0"/>
              <a:t> The light beam must be </a:t>
            </a:r>
            <a:r>
              <a:rPr lang="en-US" sz="3200" dirty="0" smtClean="0">
                <a:solidFill>
                  <a:srgbClr val="FF0000"/>
                </a:solidFill>
              </a:rPr>
              <a:t>"pure" so the signal doesn't spread out (dispersion) over long distances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0854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wavelength lockers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Wavelength lockers </a:t>
            </a:r>
            <a:r>
              <a:rPr lang="as-IN" dirty="0" smtClean="0"/>
              <a:t>হলো অপটিক্যাল কমিউনিকেশন সিস্টেমে ব্যবহৃত একটি গুরুত্বপূর্ণ ডিভাইস, যা লেজারের নির্দিষ্ট তরঙ্গদৈর্ঘ্য (</a:t>
            </a:r>
            <a:r>
              <a:rPr lang="en-US" dirty="0" smtClean="0"/>
              <a:t>wavelength) </a:t>
            </a:r>
            <a:r>
              <a:rPr lang="as-IN" dirty="0" smtClean="0"/>
              <a:t>স্থির রাখতে সাহায্য করে।</a:t>
            </a:r>
            <a:endParaRPr lang="en-US" dirty="0" smtClean="0"/>
          </a:p>
          <a:p>
            <a:r>
              <a:rPr lang="as-IN" dirty="0" smtClean="0"/>
              <a:t>লেজার থেকে যে আলো বের হয়, তার </a:t>
            </a:r>
            <a:r>
              <a:rPr lang="en-US" dirty="0" smtClean="0"/>
              <a:t>wavelength </a:t>
            </a:r>
            <a:r>
              <a:rPr lang="as-IN" dirty="0" smtClean="0"/>
              <a:t>কখনো কখনো তাপমাত্রা বা অন্য কারণে পরিবর্তিত হতে পারে। কিন্তু </a:t>
            </a:r>
            <a:r>
              <a:rPr lang="en-US" b="1" dirty="0" smtClean="0"/>
              <a:t>fiber optic communication</a:t>
            </a:r>
            <a:r>
              <a:rPr lang="en-US" dirty="0" smtClean="0"/>
              <a:t>-</a:t>
            </a:r>
            <a:r>
              <a:rPr lang="as-IN" dirty="0" smtClean="0"/>
              <a:t>এ নির্দিষ্ট </a:t>
            </a:r>
            <a:r>
              <a:rPr lang="en-US" dirty="0" smtClean="0"/>
              <a:t>wavelength </a:t>
            </a:r>
            <a:r>
              <a:rPr lang="as-IN" dirty="0" smtClean="0"/>
              <a:t>খুব গুরুত্বপূর্ণ (বিশেষ করে </a:t>
            </a:r>
            <a:r>
              <a:rPr lang="en-US" dirty="0" smtClean="0"/>
              <a:t>WDM </a:t>
            </a:r>
            <a:r>
              <a:rPr lang="as-IN" dirty="0" smtClean="0"/>
              <a:t>সিস্টেমে)।</a:t>
            </a:r>
            <a:endParaRPr lang="en-US" dirty="0"/>
          </a:p>
          <a:p>
            <a:pPr lvl="1"/>
            <a:r>
              <a:rPr lang="as-IN" dirty="0" smtClean="0"/>
              <a:t>এই </a:t>
            </a:r>
            <a:r>
              <a:rPr lang="en-US" dirty="0" smtClean="0"/>
              <a:t>wavelength </a:t>
            </a:r>
            <a:r>
              <a:rPr lang="as-IN" dirty="0" smtClean="0"/>
              <a:t>ঠিক রাখার কাজই করে </a:t>
            </a:r>
            <a:r>
              <a:rPr lang="en-US" b="1" dirty="0" smtClean="0"/>
              <a:t>wavelength locker</a:t>
            </a:r>
            <a:r>
              <a:rPr lang="en-US" dirty="0" smtClean="0"/>
              <a:t>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588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Receiver Requirements:</a:t>
            </a:r>
          </a:p>
          <a:p>
            <a:pPr lvl="1"/>
            <a:r>
              <a:rPr lang="en-US" sz="3200" b="1" dirty="0" smtClean="0"/>
              <a:t>Selectivity:</a:t>
            </a:r>
            <a:r>
              <a:rPr lang="en-US" sz="3200" dirty="0" smtClean="0"/>
              <a:t> The receiver must be </a:t>
            </a:r>
            <a:r>
              <a:rPr lang="en-US" sz="3200" dirty="0" smtClean="0">
                <a:solidFill>
                  <a:srgbClr val="FF0000"/>
                </a:solidFill>
              </a:rPr>
              <a:t>able to pick out one specific wavelength from the many arriving at the end of the fiber</a:t>
            </a:r>
            <a:r>
              <a:rPr lang="en-US" sz="3200" dirty="0" smtClean="0"/>
              <a:t>.</a:t>
            </a:r>
          </a:p>
          <a:p>
            <a:pPr lvl="1"/>
            <a:r>
              <a:rPr lang="en-US" sz="3200" b="1" dirty="0" smtClean="0"/>
              <a:t>Sensitivity:</a:t>
            </a:r>
            <a:r>
              <a:rPr lang="en-US" sz="3200" dirty="0" smtClean="0"/>
              <a:t> It must be </a:t>
            </a:r>
            <a:r>
              <a:rPr lang="en-US" sz="3200" dirty="0" smtClean="0">
                <a:solidFill>
                  <a:srgbClr val="FF0000"/>
                </a:solidFill>
              </a:rPr>
              <a:t>able to detect very weak signals after they have traveled hundreds of kilometers</a:t>
            </a:r>
            <a:r>
              <a:rPr lang="en-US" sz="3200" dirty="0" smtClean="0"/>
              <a:t>.</a:t>
            </a:r>
          </a:p>
          <a:p>
            <a:pPr lvl="1"/>
            <a:r>
              <a:rPr lang="en-US" sz="3200" b="1" dirty="0" smtClean="0"/>
              <a:t>Wide Bandwidth:</a:t>
            </a:r>
            <a:r>
              <a:rPr lang="en-US" sz="3200" dirty="0" smtClean="0"/>
              <a:t> It </a:t>
            </a:r>
            <a:r>
              <a:rPr lang="en-US" sz="3200" dirty="0" smtClean="0">
                <a:solidFill>
                  <a:srgbClr val="FF0000"/>
                </a:solidFill>
              </a:rPr>
              <a:t>needs to handle the high data rates (e.g., 100Gbps or 400Gbps) sent by the transmitter</a:t>
            </a:r>
            <a:r>
              <a:rPr lang="en-US" sz="3200" dirty="0" smtClean="0"/>
              <a:t>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50614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Types of Tunable Lasers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 tunable laser </a:t>
            </a:r>
            <a:r>
              <a:rPr lang="en-US" sz="3200" dirty="0" smtClean="0">
                <a:solidFill>
                  <a:srgbClr val="FF0000"/>
                </a:solidFill>
              </a:rPr>
              <a:t>can change its operating wavelength</a:t>
            </a:r>
            <a:r>
              <a:rPr lang="en-US" sz="3200" dirty="0" smtClean="0"/>
              <a:t>. </a:t>
            </a:r>
          </a:p>
          <a:p>
            <a:r>
              <a:rPr lang="en-US" sz="3200" dirty="0" smtClean="0"/>
              <a:t>This is </a:t>
            </a:r>
            <a:r>
              <a:rPr lang="en-US" sz="3200" dirty="0" smtClean="0">
                <a:solidFill>
                  <a:srgbClr val="FF0000"/>
                </a:solidFill>
              </a:rPr>
              <a:t>useful because one backup laser can replace any failed laser in a WDM system</a:t>
            </a:r>
            <a:r>
              <a:rPr lang="en-US" sz="3200" dirty="0" smtClean="0"/>
              <a:t>.</a:t>
            </a:r>
          </a:p>
          <a:p>
            <a:pPr lvl="1"/>
            <a:r>
              <a:rPr lang="en-US" sz="2800" b="1" dirty="0" smtClean="0"/>
              <a:t>External Cavity Lasers (ECL):</a:t>
            </a:r>
            <a:r>
              <a:rPr lang="en-US" sz="2800" dirty="0" smtClean="0"/>
              <a:t> Uses a </a:t>
            </a:r>
            <a:r>
              <a:rPr lang="en-US" sz="2800" dirty="0" smtClean="0">
                <a:solidFill>
                  <a:srgbClr val="FF0000"/>
                </a:solidFill>
              </a:rPr>
              <a:t>physical grating that moves to change the color</a:t>
            </a:r>
            <a:r>
              <a:rPr lang="en-US" sz="2800" dirty="0" smtClean="0"/>
              <a:t>. Very </a:t>
            </a:r>
            <a:r>
              <a:rPr lang="en-US" sz="2800" dirty="0" smtClean="0">
                <a:solidFill>
                  <a:srgbClr val="FF0000"/>
                </a:solidFill>
              </a:rPr>
              <a:t>precise but mechanically complex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b="1" dirty="0" smtClean="0"/>
              <a:t>Distributed Bragg Reflector (DBR):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Uses electrical current to change the refractive index of a built-in grating, changing the wavelength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b="1" dirty="0" smtClean="0"/>
              <a:t>Vertical Cavity Surface Emitting Lasers (VCSEL):</a:t>
            </a:r>
            <a:r>
              <a:rPr lang="en-US" sz="2800" dirty="0" smtClean="0"/>
              <a:t> Small and cheap; </a:t>
            </a:r>
            <a:r>
              <a:rPr lang="en-US" sz="2800" dirty="0" smtClean="0">
                <a:solidFill>
                  <a:srgbClr val="FF0000"/>
                </a:solidFill>
              </a:rPr>
              <a:t>they tune by moving a tiny top mirror </a:t>
            </a:r>
            <a:r>
              <a:rPr lang="en-US" sz="2800" dirty="0" smtClean="0"/>
              <a:t>using MEMS technology.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51812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MEMS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MEMS technology </a:t>
            </a:r>
            <a:r>
              <a:rPr lang="as-IN" dirty="0" smtClean="0"/>
              <a:t>এর পূর্ণরূপ হলো </a:t>
            </a:r>
            <a:r>
              <a:rPr lang="en-US" dirty="0" smtClean="0"/>
              <a:t>Micro-Electro-Mechanical Systems।.</a:t>
            </a:r>
          </a:p>
          <a:p>
            <a:r>
              <a:rPr lang="en-US" dirty="0" smtClean="0"/>
              <a:t>MEMS </a:t>
            </a:r>
            <a:r>
              <a:rPr lang="as-IN" dirty="0" smtClean="0"/>
              <a:t>হলো এমন একটি প্রযুক্তি যেখানে খুব ছোট (</a:t>
            </a:r>
            <a:r>
              <a:rPr lang="en-US" dirty="0" smtClean="0"/>
              <a:t>micro-level) </a:t>
            </a:r>
            <a:r>
              <a:rPr lang="en-US" b="1" dirty="0" smtClean="0"/>
              <a:t>mechanical + electrical components</a:t>
            </a:r>
            <a:r>
              <a:rPr lang="en-US" dirty="0" smtClean="0"/>
              <a:t> </a:t>
            </a:r>
            <a:r>
              <a:rPr lang="as-IN" dirty="0" smtClean="0"/>
              <a:t>একসাথে একটি চিপের মধ্যে তৈরি করা হয়।</a:t>
            </a:r>
            <a:endParaRPr lang="en-US" dirty="0" smtClean="0"/>
          </a:p>
          <a:p>
            <a:r>
              <a:rPr lang="as-IN" b="1" dirty="0" smtClean="0"/>
              <a:t>উদাহরণ:</a:t>
            </a:r>
          </a:p>
          <a:p>
            <a:pPr lvl="1"/>
            <a:r>
              <a:rPr lang="en-US" dirty="0" smtClean="0"/>
              <a:t>Mobile phone-</a:t>
            </a:r>
            <a:r>
              <a:rPr lang="as-IN" dirty="0" smtClean="0"/>
              <a:t>এর </a:t>
            </a:r>
            <a:r>
              <a:rPr lang="en-US" b="1" dirty="0" smtClean="0"/>
              <a:t>accelerometer</a:t>
            </a:r>
            <a:r>
              <a:rPr lang="en-US" dirty="0" smtClean="0"/>
              <a:t> (</a:t>
            </a:r>
            <a:r>
              <a:rPr lang="as-IN" dirty="0" smtClean="0"/>
              <a:t>ফোন ঘোরালে </a:t>
            </a:r>
            <a:r>
              <a:rPr lang="en-US" dirty="0" smtClean="0"/>
              <a:t>screen rotate </a:t>
            </a:r>
            <a:r>
              <a:rPr lang="as-IN" dirty="0" smtClean="0"/>
              <a:t>হয়) </a:t>
            </a:r>
          </a:p>
          <a:p>
            <a:pPr lvl="1"/>
            <a:r>
              <a:rPr lang="en-US" dirty="0" smtClean="0"/>
              <a:t>Car airbag sensor </a:t>
            </a:r>
          </a:p>
          <a:p>
            <a:pPr lvl="1"/>
            <a:r>
              <a:rPr lang="en-US" dirty="0" smtClean="0"/>
              <a:t>Inkjet printer head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67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 Optical Amplifiers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past, to boost a signal, we </a:t>
            </a:r>
            <a:r>
              <a:rPr lang="en-US" dirty="0" smtClean="0">
                <a:solidFill>
                  <a:srgbClr val="FF0000"/>
                </a:solidFill>
              </a:rPr>
              <a:t>had to convert light to electricity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amplify it, and turn it back to light</a:t>
            </a:r>
            <a:r>
              <a:rPr lang="en-US" dirty="0" smtClean="0"/>
              <a:t>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Modern </a:t>
            </a:r>
            <a:r>
              <a:rPr lang="en-US" b="1" dirty="0" smtClean="0">
                <a:solidFill>
                  <a:srgbClr val="FF0000"/>
                </a:solidFill>
              </a:rPr>
              <a:t>Optical Amplifiers</a:t>
            </a:r>
            <a:r>
              <a:rPr lang="en-US" dirty="0" smtClean="0">
                <a:solidFill>
                  <a:srgbClr val="FF0000"/>
                </a:solidFill>
              </a:rPr>
              <a:t> boost the light signal directly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42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 Optical Amplifiers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SOA (Semiconductor Optical Amplifier)</a:t>
            </a:r>
          </a:p>
          <a:p>
            <a:pPr lvl="1"/>
            <a:r>
              <a:rPr lang="en-US" b="1" dirty="0" smtClean="0"/>
              <a:t>Mechanism:</a:t>
            </a:r>
            <a:r>
              <a:rPr lang="en-US" dirty="0" smtClean="0"/>
              <a:t> Uses a semiconductor chip (</a:t>
            </a:r>
            <a:r>
              <a:rPr lang="en-US" dirty="0" smtClean="0">
                <a:solidFill>
                  <a:srgbClr val="FF0000"/>
                </a:solidFill>
              </a:rPr>
              <a:t>similar to a laser but without the mirrors</a:t>
            </a:r>
            <a:r>
              <a:rPr lang="en-US" dirty="0" smtClean="0"/>
              <a:t>).</a:t>
            </a:r>
          </a:p>
          <a:p>
            <a:pPr lvl="1"/>
            <a:r>
              <a:rPr lang="en-US" b="1" dirty="0" smtClean="0"/>
              <a:t>Pros: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Small, can be integrated on circuits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Cons: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Higher noise and lower power than fiber-based amplifiers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EDFA (Erbium-Doped Fiber Amplifier)</a:t>
            </a:r>
          </a:p>
          <a:p>
            <a:pPr lvl="1"/>
            <a:r>
              <a:rPr lang="en-US" b="1" dirty="0" smtClean="0"/>
              <a:t>Mechanism: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A piece of glass fiber is "doped" with Erbium ions</a:t>
            </a:r>
            <a:r>
              <a:rPr lang="en-US" dirty="0" smtClean="0"/>
              <a:t>. </a:t>
            </a:r>
          </a:p>
          <a:p>
            <a:pPr lvl="2"/>
            <a:r>
              <a:rPr lang="en-US" dirty="0" smtClean="0"/>
              <a:t>A "pump laser" </a:t>
            </a:r>
            <a:r>
              <a:rPr lang="en-US" dirty="0" smtClean="0">
                <a:solidFill>
                  <a:srgbClr val="FF0000"/>
                </a:solidFill>
              </a:rPr>
              <a:t>excites these ions, and when the signal passes through, the ions release energy to boost the signal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Standard:</a:t>
            </a:r>
            <a:r>
              <a:rPr lang="en-US" dirty="0" smtClean="0"/>
              <a:t> This is the </a:t>
            </a:r>
            <a:r>
              <a:rPr lang="en-US" dirty="0" smtClean="0">
                <a:solidFill>
                  <a:srgbClr val="FF0000"/>
                </a:solidFill>
              </a:rPr>
              <a:t>"gold standard" for long-distance internet because it can amplify many WDM channels at once without distortion.</a:t>
            </a:r>
          </a:p>
          <a:p>
            <a:r>
              <a:rPr lang="en-US" b="1" dirty="0" smtClean="0"/>
              <a:t>EBFA (Erbium-Bismuth Fiber Amplifier)</a:t>
            </a:r>
          </a:p>
          <a:p>
            <a:pPr lvl="1"/>
            <a:r>
              <a:rPr lang="en-US" b="1" dirty="0" smtClean="0"/>
              <a:t>Evolution:</a:t>
            </a:r>
            <a:r>
              <a:rPr lang="en-US" dirty="0" smtClean="0"/>
              <a:t> Similar to EDFA </a:t>
            </a:r>
            <a:r>
              <a:rPr lang="en-US" dirty="0" smtClean="0">
                <a:solidFill>
                  <a:srgbClr val="FF0000"/>
                </a:solidFill>
              </a:rPr>
              <a:t>but uses Bismuth-doped glass to provide a </a:t>
            </a:r>
            <a:r>
              <a:rPr lang="en-US" b="1" dirty="0" smtClean="0">
                <a:solidFill>
                  <a:srgbClr val="FF0000"/>
                </a:solidFill>
              </a:rPr>
              <a:t>wider </a:t>
            </a:r>
            <a:r>
              <a:rPr lang="en-US" b="1" dirty="0" smtClean="0"/>
              <a:t>bandwidth</a:t>
            </a:r>
            <a:r>
              <a:rPr lang="en-US" dirty="0" smtClean="0"/>
              <a:t>, allowing even </a:t>
            </a:r>
            <a:r>
              <a:rPr lang="en-US" dirty="0" smtClean="0">
                <a:solidFill>
                  <a:srgbClr val="FF0000"/>
                </a:solidFill>
              </a:rPr>
              <a:t>more WDM channels to be packed into the fiber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535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The Highway Analogy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Imagine a 40-lane highway (WDM Fiber).</a:t>
            </a:r>
          </a:p>
          <a:p>
            <a:pPr lvl="1"/>
            <a:r>
              <a:rPr lang="en-US" b="1" dirty="0" smtClean="0"/>
              <a:t>Transmitter:</a:t>
            </a:r>
            <a:r>
              <a:rPr lang="en-US" dirty="0" smtClean="0"/>
              <a:t> A specialized ramp that ensures </a:t>
            </a:r>
            <a:r>
              <a:rPr lang="en-US" dirty="0" smtClean="0">
                <a:solidFill>
                  <a:srgbClr val="FF0000"/>
                </a:solidFill>
              </a:rPr>
              <a:t>only Blue cars enter Lane 1 and only Red cars enter Lane 2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Receiver:</a:t>
            </a:r>
            <a:r>
              <a:rPr lang="en-US" dirty="0" smtClean="0"/>
              <a:t> A specialized exit that </a:t>
            </a:r>
            <a:r>
              <a:rPr lang="en-US" dirty="0" smtClean="0">
                <a:solidFill>
                  <a:srgbClr val="FF0000"/>
                </a:solidFill>
              </a:rPr>
              <a:t>only lets the Blue cars off at a specific destination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Amplifier (EDFA):</a:t>
            </a:r>
            <a:r>
              <a:rPr lang="en-US" dirty="0" smtClean="0"/>
              <a:t> A "speed boost" zone in the middle of the highway that </a:t>
            </a:r>
            <a:r>
              <a:rPr lang="en-US" dirty="0" smtClean="0">
                <a:solidFill>
                  <a:srgbClr val="FF0000"/>
                </a:solidFill>
              </a:rPr>
              <a:t>gives every car more fuel as they drive through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without them having to stop at a gas station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77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WDM Power Calculation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484" y="920017"/>
            <a:ext cx="10515600" cy="4351338"/>
          </a:xfrm>
        </p:spPr>
        <p:txBody>
          <a:bodyPr/>
          <a:lstStyle/>
          <a:p>
            <a:r>
              <a:rPr lang="en-US" dirty="0" smtClean="0"/>
              <a:t>A WDM system has 8 channels. Each channel enters an EDFA with a power of </a:t>
            </a:r>
            <a:r>
              <a:rPr lang="en-US" b="1" dirty="0" smtClean="0"/>
              <a:t>-20 </a:t>
            </a:r>
            <a:r>
              <a:rPr lang="en-US" b="1" dirty="0" err="1" smtClean="0"/>
              <a:t>dBm</a:t>
            </a:r>
            <a:r>
              <a:rPr lang="en-US" dirty="0" smtClean="0"/>
              <a:t>. The </a:t>
            </a:r>
            <a:r>
              <a:rPr lang="en-US" dirty="0" smtClean="0">
                <a:solidFill>
                  <a:srgbClr val="FF0000"/>
                </a:solidFill>
              </a:rPr>
              <a:t>EDFA (Erbium-Doped Fiber Amplifier) </a:t>
            </a:r>
            <a:r>
              <a:rPr lang="en-US" dirty="0" smtClean="0"/>
              <a:t>has a gain of </a:t>
            </a:r>
            <a:r>
              <a:rPr lang="en-US" b="1" dirty="0" smtClean="0"/>
              <a:t>25 </a:t>
            </a:r>
            <a:r>
              <a:rPr lang="en-US" b="1" dirty="0" err="1" smtClean="0"/>
              <a:t>dB</a:t>
            </a:r>
            <a:r>
              <a:rPr lang="en-US" dirty="0" err="1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Calculate the output power of a single channel in </a:t>
            </a:r>
            <a:r>
              <a:rPr lang="en-US" dirty="0" err="1" smtClean="0"/>
              <a:t>dBm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Calculate the total output power of the EDFA in </a:t>
            </a:r>
            <a:r>
              <a:rPr lang="en-US" dirty="0" err="1" smtClean="0"/>
              <a:t>milliwatts</a:t>
            </a:r>
            <a:r>
              <a:rPr lang="en-US" dirty="0" smtClean="0"/>
              <a:t> (</a:t>
            </a:r>
            <a:r>
              <a:rPr lang="en-US" dirty="0" err="1" smtClean="0"/>
              <a:t>mW</a:t>
            </a:r>
            <a:r>
              <a:rPr lang="en-US" dirty="0" smtClean="0"/>
              <a:t>).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875" y="2937404"/>
            <a:ext cx="8490643" cy="305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08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780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Vrinda</vt:lpstr>
      <vt:lpstr>Office Theme</vt:lpstr>
      <vt:lpstr>Requirements of transmitter and receiver in WDM networks, types of tunable lasers, optical amplifiers, SOA and FOA, EDFA and EBFA.</vt:lpstr>
      <vt:lpstr>WDM (Wavelength Division Multiplexing) </vt:lpstr>
      <vt:lpstr>1. Transmitter and Receiver Requirements</vt:lpstr>
      <vt:lpstr>wavelength lockers</vt:lpstr>
      <vt:lpstr>PowerPoint Presentation</vt:lpstr>
      <vt:lpstr>2. Types of Tunable Lasers </vt:lpstr>
      <vt:lpstr>MEMS technology</vt:lpstr>
      <vt:lpstr>3. Optical Amplifiers</vt:lpstr>
      <vt:lpstr>3. Optical Amplifiers</vt:lpstr>
      <vt:lpstr>Example: The Highway Analogy</vt:lpstr>
      <vt:lpstr>WDM Power Calculation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of transmitter and receiver in WDM networks, types of tunable lasers, optical amplifiers, SOA and FOA, EDFA and EBFA.</dc:title>
  <dc:creator>Lenovo</dc:creator>
  <cp:lastModifiedBy>Lenovo</cp:lastModifiedBy>
  <cp:revision>7</cp:revision>
  <dcterms:created xsi:type="dcterms:W3CDTF">2026-04-01T03:44:15Z</dcterms:created>
  <dcterms:modified xsi:type="dcterms:W3CDTF">2026-04-01T05:01:52Z</dcterms:modified>
</cp:coreProperties>
</file>