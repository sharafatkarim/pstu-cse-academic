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8903A-67EA-4BC3-BF11-17E622745F4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8011-3DF0-42D7-B080-1767534AA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2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8903A-67EA-4BC3-BF11-17E622745F4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8011-3DF0-42D7-B080-1767534AA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35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8903A-67EA-4BC3-BF11-17E622745F4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8011-3DF0-42D7-B080-1767534AA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061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8903A-67EA-4BC3-BF11-17E622745F4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8011-3DF0-42D7-B080-1767534AA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342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8903A-67EA-4BC3-BF11-17E622745F4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8011-3DF0-42D7-B080-1767534AA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19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8903A-67EA-4BC3-BF11-17E622745F4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8011-3DF0-42D7-B080-1767534AA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02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8903A-67EA-4BC3-BF11-17E622745F4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8011-3DF0-42D7-B080-1767534AA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177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8903A-67EA-4BC3-BF11-17E622745F4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8011-3DF0-42D7-B080-1767534AA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081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8903A-67EA-4BC3-BF11-17E622745F4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8011-3DF0-42D7-B080-1767534AA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23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8903A-67EA-4BC3-BF11-17E622745F4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8011-3DF0-42D7-B080-1767534AA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6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8903A-67EA-4BC3-BF11-17E622745F4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D8011-3DF0-42D7-B080-1767534AA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243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8903A-67EA-4BC3-BF11-17E622745F4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D8011-3DF0-42D7-B080-1767534AA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00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Optical Fiber Cable Design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Optical fiber cables are designed to </a:t>
            </a:r>
            <a:r>
              <a:rPr lang="en-US" b="1" dirty="0" smtClean="0"/>
              <a:t>protect fragile (</a:t>
            </a:r>
            <a:r>
              <a:rPr lang="en-US" b="1" dirty="0" err="1" smtClean="0"/>
              <a:t>vongur</a:t>
            </a:r>
            <a:r>
              <a:rPr lang="en-US" b="1" dirty="0" smtClean="0"/>
              <a:t>) fibers</a:t>
            </a:r>
            <a:r>
              <a:rPr lang="en-US" dirty="0" smtClean="0"/>
              <a:t>, maintain signal quality, and ensure mechanical strength.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777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Fiber Buffering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277" y="1062420"/>
            <a:ext cx="10984523" cy="4351338"/>
          </a:xfrm>
        </p:spPr>
        <p:txBody>
          <a:bodyPr>
            <a:normAutofit lnSpcReduction="10000"/>
          </a:bodyPr>
          <a:lstStyle/>
          <a:p>
            <a:r>
              <a:rPr lang="en-US" sz="3200" dirty="0" smtClean="0"/>
              <a:t>Buffering is the first layer of protection applied to the fiber to prevent </a:t>
            </a:r>
            <a:r>
              <a:rPr lang="en-US" sz="3200" dirty="0" err="1" smtClean="0"/>
              <a:t>microbending</a:t>
            </a:r>
            <a:r>
              <a:rPr lang="en-US" sz="3200" dirty="0" smtClean="0"/>
              <a:t> and physical damage.</a:t>
            </a:r>
          </a:p>
          <a:p>
            <a:pPr lvl="1"/>
            <a:r>
              <a:rPr lang="en-US" sz="2800" b="1" dirty="0" smtClean="0"/>
              <a:t>Tight Buffering:</a:t>
            </a:r>
            <a:r>
              <a:rPr lang="en-US" sz="2800" dirty="0" smtClean="0"/>
              <a:t> A thick layer of plastic (like PVC) is applied directly onto the fiber coating. </a:t>
            </a:r>
          </a:p>
          <a:p>
            <a:pPr lvl="2"/>
            <a:r>
              <a:rPr lang="en-US" sz="2400" dirty="0" smtClean="0"/>
              <a:t>It is used for indoor cables where flexibility and durability are needed. </a:t>
            </a:r>
          </a:p>
          <a:p>
            <a:pPr lvl="2"/>
            <a:r>
              <a:rPr lang="en-US" sz="2400" b="1" dirty="0" smtClean="0"/>
              <a:t>Example:</a:t>
            </a:r>
            <a:r>
              <a:rPr lang="en-US" sz="2400" dirty="0" smtClean="0"/>
              <a:t> A patch cord used to connect a computer to a wall outlet.</a:t>
            </a:r>
          </a:p>
          <a:p>
            <a:pPr lvl="1"/>
            <a:r>
              <a:rPr lang="en-US" sz="2800" b="1" dirty="0" smtClean="0"/>
              <a:t>Loose-Tube Buffering:</a:t>
            </a:r>
            <a:r>
              <a:rPr lang="en-US" sz="2800" dirty="0" smtClean="0"/>
              <a:t> The fiber sits loosely inside a larger, hard plastic tube which is often filled </a:t>
            </a:r>
            <a:r>
              <a:rPr lang="en-US" sz="2800" dirty="0" smtClean="0">
                <a:solidFill>
                  <a:srgbClr val="FF0000"/>
                </a:solidFill>
              </a:rPr>
              <a:t>with a water-resistant gel</a:t>
            </a:r>
            <a:r>
              <a:rPr lang="en-US" sz="2800" dirty="0" smtClean="0"/>
              <a:t>. </a:t>
            </a:r>
          </a:p>
          <a:p>
            <a:pPr lvl="1"/>
            <a:r>
              <a:rPr lang="en-US" sz="2800" dirty="0" smtClean="0"/>
              <a:t>This allows the fiber to move slightly when the cable expands or contracts due to temperature. </a:t>
            </a:r>
          </a:p>
          <a:p>
            <a:pPr lvl="1"/>
            <a:r>
              <a:rPr lang="en-US" sz="2800" b="1" dirty="0" smtClean="0"/>
              <a:t>Example:</a:t>
            </a:r>
            <a:r>
              <a:rPr lang="en-US" sz="2800" dirty="0" smtClean="0"/>
              <a:t> Outdoor trunk lines buried underground.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859216" y="541375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PVC</a:t>
            </a:r>
            <a:r>
              <a:rPr lang="en-US" dirty="0" smtClean="0"/>
              <a:t>-</a:t>
            </a:r>
            <a:r>
              <a:rPr lang="as-IN" dirty="0" smtClean="0"/>
              <a:t>এর পূর্ণরূপ হলো </a:t>
            </a:r>
            <a:r>
              <a:rPr lang="en-US" b="1" dirty="0" smtClean="0"/>
              <a:t>Polyvinyl Chloride</a:t>
            </a:r>
            <a:r>
              <a:rPr lang="en-US" dirty="0" smtClean="0"/>
              <a:t>। </a:t>
            </a:r>
            <a:r>
              <a:rPr lang="as-IN" dirty="0" smtClean="0"/>
              <a:t>অপটিক্যাল ফাইবার নেটওয়ার্কিং এবং ক্যাবল ডিজাইনের ক্ষেত্রে এটি একটি অত্যন্ত গুরুত্বপূর্ণ পলিমার বা প্লাস্টিক উপাদান, যা মূলত ফাইবারের সুরক্ষা নিশ্চিত করতে ব্যবহৃত হয়।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22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Cable Strength and Structural Members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80392"/>
            <a:ext cx="7112977" cy="5416062"/>
          </a:xfrm>
        </p:spPr>
        <p:txBody>
          <a:bodyPr>
            <a:normAutofit/>
          </a:bodyPr>
          <a:lstStyle/>
          <a:p>
            <a:r>
              <a:rPr lang="en-US" dirty="0" smtClean="0"/>
              <a:t>To prevent the fiber from being stretched or crushed during installation, strength members are added to the cable.</a:t>
            </a:r>
          </a:p>
          <a:p>
            <a:pPr lvl="1"/>
            <a:r>
              <a:rPr lang="en-US" b="1" dirty="0" smtClean="0"/>
              <a:t>Central Strength Member: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A rod made of steel or fiberglass (FRP) placed in the center of the cable to provide rigidity</a:t>
            </a:r>
            <a:r>
              <a:rPr lang="en-US" dirty="0" smtClean="0"/>
              <a:t>.</a:t>
            </a:r>
          </a:p>
          <a:p>
            <a:pPr lvl="1"/>
            <a:r>
              <a:rPr lang="en-US" b="1" dirty="0" smtClean="0"/>
              <a:t>Aramid Yarns (Kevlar):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Strong synthetic fibers wrapped around the buffer tubes to provide high tensile strength, allowing the cable to be pulled through conduits without breaking</a:t>
            </a:r>
            <a:r>
              <a:rPr lang="en-US" dirty="0" smtClean="0"/>
              <a:t>. </a:t>
            </a:r>
          </a:p>
          <a:p>
            <a:pPr lvl="1"/>
            <a:r>
              <a:rPr lang="en-US" b="1" dirty="0" smtClean="0"/>
              <a:t>Example:</a:t>
            </a:r>
            <a:r>
              <a:rPr lang="en-US" dirty="0" smtClean="0"/>
              <a:t> Long-haul undersea cables use multiple layers of steel wire armor to withstand extreme ocean pressure.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0" y="1380392"/>
            <a:ext cx="5238750" cy="43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812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DFB Laser vs. </a:t>
            </a:r>
            <a:r>
              <a:rPr lang="en-US" dirty="0" err="1" smtClean="0"/>
              <a:t>Fabry</a:t>
            </a:r>
            <a:r>
              <a:rPr lang="en-US" dirty="0" smtClean="0"/>
              <a:t>–</a:t>
            </a:r>
            <a:r>
              <a:rPr lang="en-US" dirty="0" err="1" smtClean="0"/>
              <a:t>Pérot</a:t>
            </a:r>
            <a:r>
              <a:rPr lang="en-US" dirty="0" smtClean="0"/>
              <a:t> Laser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The primary difference lies in how they achieve single-frequency (single-wavelength) operation.</a:t>
            </a:r>
          </a:p>
          <a:p>
            <a:r>
              <a:rPr lang="en-US" dirty="0" err="1" smtClean="0"/>
              <a:t>Fabry</a:t>
            </a:r>
            <a:r>
              <a:rPr lang="en-US" dirty="0" smtClean="0"/>
              <a:t>–</a:t>
            </a:r>
            <a:r>
              <a:rPr lang="en-US" dirty="0" err="1" smtClean="0"/>
              <a:t>Pérot</a:t>
            </a:r>
            <a:r>
              <a:rPr lang="en-US" dirty="0" smtClean="0"/>
              <a:t> (FP) Laser: This laser uses </a:t>
            </a:r>
            <a:r>
              <a:rPr lang="en-US" dirty="0" smtClean="0">
                <a:solidFill>
                  <a:srgbClr val="FF0000"/>
                </a:solidFill>
              </a:rPr>
              <a:t>two mirrors at the ends of the semiconductor material</a:t>
            </a:r>
            <a:r>
              <a:rPr lang="en-US" dirty="0" smtClean="0"/>
              <a:t>. </a:t>
            </a:r>
          </a:p>
          <a:p>
            <a:pPr lvl="1"/>
            <a:r>
              <a:rPr lang="en-US" dirty="0" smtClean="0"/>
              <a:t>Light bounces back and forth between them, but this often results in multiple "modes" or wavelengths being emitted. </a:t>
            </a:r>
          </a:p>
          <a:p>
            <a:pPr lvl="1"/>
            <a:r>
              <a:rPr lang="en-US" dirty="0" smtClean="0"/>
              <a:t>This causes more dispersion (spreading) over long distances.</a:t>
            </a:r>
          </a:p>
          <a:p>
            <a:r>
              <a:rPr lang="en-US" dirty="0" smtClean="0"/>
              <a:t>Distributed Feedback (DFB) Laser: Instead of simple mirrors, a DFB laser has a Bragg Grating etched directly into the semiconductor. </a:t>
            </a:r>
          </a:p>
          <a:p>
            <a:pPr lvl="1"/>
            <a:r>
              <a:rPr lang="en-US" dirty="0" smtClean="0"/>
              <a:t>This grating acts like a highly specific filter that only allows one precise wavelength to be amplified.</a:t>
            </a:r>
          </a:p>
          <a:p>
            <a:r>
              <a:rPr lang="en-US" dirty="0" smtClean="0"/>
              <a:t>Comparison: If an FP laser is like a flashlight emitting a broad beam, a DFB laser is like a high-precision pointer emitting a single, pure color. </a:t>
            </a:r>
          </a:p>
          <a:p>
            <a:pPr lvl="1"/>
            <a:r>
              <a:rPr lang="en-US" dirty="0" smtClean="0"/>
              <a:t>This makes DFB lasers essential for high-speed WDM systems.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42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186416" cy="851027"/>
          </a:xfrm>
        </p:spPr>
        <p:txBody>
          <a:bodyPr/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Fabrication of Fiber Couplers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" y="1315953"/>
            <a:ext cx="11996928" cy="537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Fiber couplers are passive components used to split or combine light signals.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1. Fused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Biconical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Taper (FBT) Method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Process: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Two or more fibers are stripped of their coatings, placed side-by-side, and twisted together.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They are then heated (usually with a flame) until they soften and are pulled or "tapered" until they fuse together.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Mechanism: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As the fiber cores get thinner, light "leaks" from one fiber into the other.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Example: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3 dB Coupler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created this way will take 10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mW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of input power and split it into two 5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mW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outputs.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2. Polished Fiber Method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Process: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Two fibers are partially embedded in separate glass blocks.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cladding of each fiber is polished away until it is very close to the core.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two polished surfaces are then pressed together with an index-matching oil between them.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Mechanism: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Light moves between the fibers through "evanescent wave coupling."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Example: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This method is often used to create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Wavelength Selective Couplers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that can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separate two different colors of light, such as 1310 nm and 1550 nm signals.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109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635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Google Sans Text</vt:lpstr>
      <vt:lpstr>Vrinda</vt:lpstr>
      <vt:lpstr>Office Theme</vt:lpstr>
      <vt:lpstr>Optical Fiber Cable Design</vt:lpstr>
      <vt:lpstr>Fiber Buffering</vt:lpstr>
      <vt:lpstr>Cable Strength and Structural Members</vt:lpstr>
      <vt:lpstr>DFB Laser vs. Fabry–Pérot Laser</vt:lpstr>
      <vt:lpstr>Fabrication of Fiber Couplers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Optical Fiber Cable Design</dc:title>
  <dc:creator>Lenovo</dc:creator>
  <cp:lastModifiedBy>Lenovo</cp:lastModifiedBy>
  <cp:revision>4</cp:revision>
  <dcterms:created xsi:type="dcterms:W3CDTF">2026-04-09T04:17:41Z</dcterms:created>
  <dcterms:modified xsi:type="dcterms:W3CDTF">2026-04-09T04:44:16Z</dcterms:modified>
</cp:coreProperties>
</file>