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C29D-8AD1-4A1A-B084-27A3BA4F237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A7428-BDF6-41A1-A129-14396D257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6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C29D-8AD1-4A1A-B084-27A3BA4F237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A7428-BDF6-41A1-A129-14396D257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42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C29D-8AD1-4A1A-B084-27A3BA4F237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A7428-BDF6-41A1-A129-14396D257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094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C29D-8AD1-4A1A-B084-27A3BA4F237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A7428-BDF6-41A1-A129-14396D257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42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C29D-8AD1-4A1A-B084-27A3BA4F237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A7428-BDF6-41A1-A129-14396D257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73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C29D-8AD1-4A1A-B084-27A3BA4F237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A7428-BDF6-41A1-A129-14396D257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033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C29D-8AD1-4A1A-B084-27A3BA4F237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A7428-BDF6-41A1-A129-14396D257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92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C29D-8AD1-4A1A-B084-27A3BA4F237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A7428-BDF6-41A1-A129-14396D257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636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C29D-8AD1-4A1A-B084-27A3BA4F237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A7428-BDF6-41A1-A129-14396D257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665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C29D-8AD1-4A1A-B084-27A3BA4F237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A7428-BDF6-41A1-A129-14396D257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585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C29D-8AD1-4A1A-B084-27A3BA4F237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A7428-BDF6-41A1-A129-14396D257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93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EC29D-8AD1-4A1A-B084-27A3BA4F237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A7428-BDF6-41A1-A129-14396D257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335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Passive Components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77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an optical network, </a:t>
            </a:r>
            <a:r>
              <a:rPr lang="en-US" b="1" dirty="0" smtClean="0"/>
              <a:t>Passive Components</a:t>
            </a:r>
            <a:r>
              <a:rPr lang="en-US" dirty="0" smtClean="0"/>
              <a:t> are devices that </a:t>
            </a:r>
            <a:r>
              <a:rPr lang="en-US" dirty="0" smtClean="0">
                <a:solidFill>
                  <a:srgbClr val="FF0000"/>
                </a:solidFill>
              </a:rPr>
              <a:t>do not require electrical power to operate on the optical signal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They function using the physical properties of light (</a:t>
            </a:r>
            <a:r>
              <a:rPr lang="en-US" dirty="0" smtClean="0">
                <a:solidFill>
                  <a:srgbClr val="FF0000"/>
                </a:solidFill>
              </a:rPr>
              <a:t>reflection, refraction, interference, and absorption) to direct, filter, or modify the signal.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713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Explanation of Passive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1. </a:t>
            </a:r>
            <a:r>
              <a:rPr lang="en-US" sz="3600" b="1" dirty="0" smtClean="0"/>
              <a:t>Mux and </a:t>
            </a:r>
            <a:r>
              <a:rPr lang="en-US" sz="3600" b="1" dirty="0" err="1" smtClean="0"/>
              <a:t>Demux</a:t>
            </a:r>
            <a:r>
              <a:rPr lang="en-US" sz="3600" b="1" dirty="0" smtClean="0"/>
              <a:t> (Multiplexer and </a:t>
            </a:r>
            <a:r>
              <a:rPr lang="en-US" sz="3600" b="1" dirty="0" err="1" smtClean="0"/>
              <a:t>Demultiplexer</a:t>
            </a:r>
            <a:r>
              <a:rPr lang="en-US" sz="3600" b="1" dirty="0" smtClean="0"/>
              <a:t>)</a:t>
            </a:r>
          </a:p>
          <a:p>
            <a:pPr lvl="1"/>
            <a:r>
              <a:rPr lang="en-US" sz="3200" b="1" dirty="0" smtClean="0"/>
              <a:t>Explanation:</a:t>
            </a:r>
            <a:r>
              <a:rPr lang="en-US" sz="3200" dirty="0" smtClean="0"/>
              <a:t> A </a:t>
            </a:r>
            <a:r>
              <a:rPr lang="en-US" sz="3200" b="1" dirty="0" smtClean="0"/>
              <a:t>Mux</a:t>
            </a:r>
            <a:r>
              <a:rPr lang="en-US" sz="3200" dirty="0" smtClean="0"/>
              <a:t> combines multiple light signals of different wavelengths into a single fiber. </a:t>
            </a:r>
          </a:p>
          <a:p>
            <a:pPr lvl="1"/>
            <a:r>
              <a:rPr lang="en-US" sz="3200" dirty="0" smtClean="0"/>
              <a:t>A </a:t>
            </a:r>
            <a:r>
              <a:rPr lang="en-US" sz="3200" b="1" dirty="0" err="1" smtClean="0"/>
              <a:t>Demux</a:t>
            </a:r>
            <a:r>
              <a:rPr lang="en-US" sz="3200" dirty="0" smtClean="0"/>
              <a:t> does the opposite, splitting the combined signal back into individual wavelengths at the receiving end.</a:t>
            </a:r>
          </a:p>
          <a:p>
            <a:pPr lvl="1"/>
            <a:r>
              <a:rPr lang="en-US" sz="3200" b="1" dirty="0" smtClean="0"/>
              <a:t>Example:</a:t>
            </a:r>
            <a:r>
              <a:rPr lang="en-US" sz="3200" dirty="0" smtClean="0"/>
              <a:t> Like a highway on-ramp where cars from different streets merge into one large highway, and an off-ramp where they split off to their specific destinations.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9163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Explanation of Passive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4000" b="1" dirty="0" smtClean="0"/>
              <a:t>2. Optical Switches</a:t>
            </a:r>
          </a:p>
          <a:p>
            <a:pPr lvl="1"/>
            <a:r>
              <a:rPr lang="en-US" sz="3400" b="1" dirty="0" smtClean="0"/>
              <a:t>Explanation:</a:t>
            </a:r>
            <a:r>
              <a:rPr lang="en-US" sz="3400" dirty="0" smtClean="0"/>
              <a:t> These route </a:t>
            </a:r>
            <a:r>
              <a:rPr lang="en-US" sz="3400" dirty="0" smtClean="0">
                <a:solidFill>
                  <a:srgbClr val="FF0000"/>
                </a:solidFill>
              </a:rPr>
              <a:t>an optical signal from one input fiber to one of several output fibers without converting the light to electricity</a:t>
            </a:r>
            <a:r>
              <a:rPr lang="en-US" sz="3400" dirty="0" smtClean="0"/>
              <a:t>.</a:t>
            </a:r>
          </a:p>
          <a:p>
            <a:pPr lvl="1"/>
            <a:r>
              <a:rPr lang="en-US" sz="3400" b="1" dirty="0" smtClean="0"/>
              <a:t>Example:</a:t>
            </a:r>
            <a:r>
              <a:rPr lang="en-US" sz="3400" dirty="0" smtClean="0"/>
              <a:t> A railroad switch that moves the tracks to guide a train onto a different path.</a:t>
            </a:r>
          </a:p>
          <a:p>
            <a:r>
              <a:rPr lang="en-US" sz="4000" b="1" dirty="0" smtClean="0"/>
              <a:t>3. Wavelength Converter</a:t>
            </a:r>
          </a:p>
          <a:p>
            <a:pPr lvl="1"/>
            <a:r>
              <a:rPr lang="en-US" sz="3400" b="1" dirty="0" smtClean="0"/>
              <a:t>Explanation:</a:t>
            </a:r>
            <a:r>
              <a:rPr lang="en-US" sz="3400" dirty="0" smtClean="0"/>
              <a:t> A device that </a:t>
            </a:r>
            <a:r>
              <a:rPr lang="en-US" sz="3400" dirty="0" smtClean="0">
                <a:solidFill>
                  <a:srgbClr val="FF0000"/>
                </a:solidFill>
              </a:rPr>
              <a:t>changes the wavelength of an incoming signal to a different wavelength for the outgoing signal to avoid "wavelength contention"</a:t>
            </a:r>
            <a:r>
              <a:rPr lang="en-US" sz="3400" dirty="0" smtClean="0"/>
              <a:t> (</a:t>
            </a:r>
            <a:r>
              <a:rPr lang="en-US" sz="3400" dirty="0" smtClean="0">
                <a:solidFill>
                  <a:schemeClr val="accent6"/>
                </a:solidFill>
              </a:rPr>
              <a:t>two signals trying to use the same "lane").</a:t>
            </a:r>
          </a:p>
          <a:p>
            <a:pPr lvl="1"/>
            <a:r>
              <a:rPr lang="en-US" sz="3400" b="1" dirty="0" smtClean="0"/>
              <a:t>Example:</a:t>
            </a:r>
            <a:r>
              <a:rPr lang="en-US" sz="3400" dirty="0" smtClean="0"/>
              <a:t> Painting a car a different color so it can enter a lane reserved for that specific color.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20828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Explanation of Passive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4. Couplers</a:t>
            </a:r>
          </a:p>
          <a:p>
            <a:pPr lvl="1"/>
            <a:r>
              <a:rPr lang="en-US" b="1" dirty="0" smtClean="0"/>
              <a:t>Explanation:</a:t>
            </a:r>
            <a:r>
              <a:rPr lang="en-US" dirty="0" smtClean="0"/>
              <a:t> These </a:t>
            </a:r>
            <a:r>
              <a:rPr lang="en-US" dirty="0" smtClean="0">
                <a:solidFill>
                  <a:srgbClr val="FF0000"/>
                </a:solidFill>
              </a:rPr>
              <a:t>split a single optical signal into two or more fibers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6"/>
                </a:solidFill>
              </a:rPr>
              <a:t>or combine multiple signals into one</a:t>
            </a:r>
            <a:r>
              <a:rPr lang="en-US" dirty="0" smtClean="0"/>
              <a:t>. </a:t>
            </a:r>
          </a:p>
          <a:p>
            <a:pPr lvl="1"/>
            <a:r>
              <a:rPr lang="en-US" dirty="0" smtClean="0"/>
              <a:t>A common type is a </a:t>
            </a:r>
            <a:r>
              <a:rPr lang="en-US" b="1" dirty="0" smtClean="0"/>
              <a:t>3dB coupler</a:t>
            </a:r>
            <a:r>
              <a:rPr lang="en-US" dirty="0" smtClean="0"/>
              <a:t>, which splits power exactly 50/50.</a:t>
            </a:r>
          </a:p>
          <a:p>
            <a:pPr lvl="1"/>
            <a:r>
              <a:rPr lang="en-US" b="1" dirty="0" smtClean="0"/>
              <a:t>Example:</a:t>
            </a:r>
            <a:r>
              <a:rPr lang="en-US" dirty="0" smtClean="0"/>
              <a:t> A Y-shaped water pipe that splits one stream into two.</a:t>
            </a:r>
          </a:p>
          <a:p>
            <a:r>
              <a:rPr lang="en-US" b="1" dirty="0" smtClean="0"/>
              <a:t>5. Circulators and Isolators</a:t>
            </a:r>
          </a:p>
          <a:p>
            <a:pPr lvl="1"/>
            <a:r>
              <a:rPr lang="en-US" b="1" dirty="0" smtClean="0"/>
              <a:t>Explanation:</a:t>
            </a:r>
            <a:r>
              <a:rPr lang="en-US" dirty="0" smtClean="0"/>
              <a:t> </a:t>
            </a:r>
          </a:p>
          <a:p>
            <a:pPr lvl="1"/>
            <a:r>
              <a:rPr lang="en-US" b="1" dirty="0" smtClean="0"/>
              <a:t>Isolator: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6"/>
                </a:solidFill>
              </a:rPr>
              <a:t>Allows light to travel in only </a:t>
            </a:r>
            <a:r>
              <a:rPr lang="en-US" b="1" dirty="0" smtClean="0">
                <a:solidFill>
                  <a:schemeClr val="accent6"/>
                </a:solidFill>
              </a:rPr>
              <a:t>one direction</a:t>
            </a:r>
            <a:r>
              <a:rPr lang="en-US" dirty="0" smtClean="0">
                <a:solidFill>
                  <a:schemeClr val="accent6"/>
                </a:solidFill>
              </a:rPr>
              <a:t>, preventing reflections from damaging the laser.</a:t>
            </a:r>
          </a:p>
          <a:p>
            <a:pPr lvl="1"/>
            <a:r>
              <a:rPr lang="en-US" b="1" dirty="0" smtClean="0"/>
              <a:t>Circulator:</a:t>
            </a:r>
            <a:r>
              <a:rPr lang="en-US" dirty="0" smtClean="0"/>
              <a:t> A multi-port device where light entering Port 1 exits Port 2, and light entering Port 2 exits Port 3.</a:t>
            </a:r>
          </a:p>
          <a:p>
            <a:pPr lvl="1"/>
            <a:r>
              <a:rPr lang="en-US" b="1" dirty="0" smtClean="0"/>
              <a:t>Example:</a:t>
            </a:r>
            <a:r>
              <a:rPr lang="en-US" dirty="0" smtClean="0"/>
              <a:t> An Isolator is like a one-way street. A Circulator is like a traffic roundabout.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1806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Explanation of Passive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6. Attenuator</a:t>
            </a:r>
          </a:p>
          <a:p>
            <a:pPr lvl="1"/>
            <a:r>
              <a:rPr lang="en-US" b="1" dirty="0" smtClean="0"/>
              <a:t>Explanation:</a:t>
            </a:r>
            <a:r>
              <a:rPr lang="en-US" dirty="0" smtClean="0"/>
              <a:t> A device used </a:t>
            </a:r>
            <a:r>
              <a:rPr lang="en-US" dirty="0" smtClean="0">
                <a:solidFill>
                  <a:schemeClr val="accent6"/>
                </a:solidFill>
              </a:rPr>
              <a:t>to </a:t>
            </a:r>
            <a:r>
              <a:rPr lang="en-US" b="1" dirty="0" smtClean="0">
                <a:solidFill>
                  <a:schemeClr val="accent6"/>
                </a:solidFill>
              </a:rPr>
              <a:t>reduce the power level</a:t>
            </a:r>
            <a:r>
              <a:rPr lang="en-US" dirty="0" smtClean="0">
                <a:solidFill>
                  <a:schemeClr val="accent6"/>
                </a:solidFill>
              </a:rPr>
              <a:t> of an optical signal if it is too strong for the receiver </a:t>
            </a:r>
            <a:r>
              <a:rPr lang="en-US" dirty="0" smtClean="0"/>
              <a:t>(which could cause distortion or damage).</a:t>
            </a:r>
          </a:p>
          <a:p>
            <a:pPr lvl="1"/>
            <a:r>
              <a:rPr lang="en-US" b="1" dirty="0" smtClean="0"/>
              <a:t>Example: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6"/>
                </a:solidFill>
              </a:rPr>
              <a:t>Wearing sunglasses to reduce the intensity of bright sunlight </a:t>
            </a:r>
            <a:r>
              <a:rPr lang="en-US" dirty="0" smtClean="0"/>
              <a:t>so you can see clearly.</a:t>
            </a:r>
          </a:p>
          <a:p>
            <a:r>
              <a:rPr lang="en-US" b="1" dirty="0" smtClean="0"/>
              <a:t>7. Optical Filters</a:t>
            </a:r>
          </a:p>
          <a:p>
            <a:pPr lvl="1"/>
            <a:r>
              <a:rPr lang="en-US" b="1" dirty="0" smtClean="0"/>
              <a:t>Explanation:</a:t>
            </a:r>
            <a:r>
              <a:rPr lang="en-US" dirty="0" smtClean="0"/>
              <a:t> These </a:t>
            </a:r>
            <a:r>
              <a:rPr lang="en-US" dirty="0" smtClean="0">
                <a:solidFill>
                  <a:schemeClr val="accent6"/>
                </a:solidFill>
              </a:rPr>
              <a:t>allow only a specific range of wavelengths to pass through while blocking or reflecting others</a:t>
            </a:r>
            <a:r>
              <a:rPr lang="en-US" dirty="0" smtClean="0"/>
              <a:t>.</a:t>
            </a:r>
          </a:p>
          <a:p>
            <a:pPr lvl="1"/>
            <a:r>
              <a:rPr lang="en-US" b="1" dirty="0" smtClean="0"/>
              <a:t>Example:</a:t>
            </a:r>
            <a:r>
              <a:rPr lang="en-US" dirty="0" smtClean="0"/>
              <a:t> A coffee filter that lets the liquid through but stops the grounds.</a:t>
            </a:r>
          </a:p>
          <a:p>
            <a:pPr marL="457200" lvl="1" indent="0">
              <a:buNone/>
            </a:pPr>
            <a:endParaRPr lang="en-US" dirty="0" smtClean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62253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731" y="295764"/>
            <a:ext cx="10515600" cy="4351338"/>
          </a:xfrm>
        </p:spPr>
        <p:txBody>
          <a:bodyPr/>
          <a:lstStyle/>
          <a:p>
            <a:r>
              <a:rPr lang="en-US" b="1" dirty="0" smtClean="0"/>
              <a:t>Exercise 1: The Attenuator Problem</a:t>
            </a:r>
          </a:p>
          <a:p>
            <a:pPr lvl="1"/>
            <a:r>
              <a:rPr lang="en-US" dirty="0" smtClean="0"/>
              <a:t>An optical transmitter sends a signal at </a:t>
            </a:r>
            <a:r>
              <a:rPr lang="en-US" b="1" dirty="0" smtClean="0"/>
              <a:t>+3 </a:t>
            </a:r>
            <a:r>
              <a:rPr lang="en-US" b="1" dirty="0" err="1" smtClean="0"/>
              <a:t>dBm</a:t>
            </a:r>
            <a:r>
              <a:rPr lang="en-US" dirty="0" smtClean="0"/>
              <a:t>. The receiver has a maximum input power limit (saturation point) of </a:t>
            </a:r>
            <a:r>
              <a:rPr lang="en-US" b="1" dirty="0" smtClean="0"/>
              <a:t>-5 </a:t>
            </a:r>
            <a:r>
              <a:rPr lang="en-US" b="1" dirty="0" err="1" smtClean="0"/>
              <a:t>dBm</a:t>
            </a:r>
            <a:r>
              <a:rPr lang="en-US" dirty="0" smtClean="0"/>
              <a:t>. What is the minimum value of an </a:t>
            </a:r>
            <a:r>
              <a:rPr lang="en-US" b="1" dirty="0" smtClean="0"/>
              <a:t>Optical Attenuator</a:t>
            </a:r>
            <a:r>
              <a:rPr lang="en-US" dirty="0" smtClean="0"/>
              <a:t> needed to protect the receiver if the fiber loss is negligible?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967" y="1857235"/>
            <a:ext cx="6954220" cy="2000529"/>
          </a:xfrm>
          <a:prstGeom prst="rect">
            <a:avLst/>
          </a:prstGeom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99552" y="4279550"/>
            <a:ext cx="10415031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dBm</a:t>
            </a:r>
            <a:r>
              <a:rPr kumimoji="0" lang="bn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cs typeface="Vrinda"/>
              </a:rPr>
              <a:t> ইউনিটে </a:t>
            </a:r>
            <a:r>
              <a:rPr kumimoji="0" lang="bn-I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cs typeface="Vrinda"/>
              </a:rPr>
              <a:t>প্লাস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cs typeface="Vrinda"/>
              </a:rPr>
              <a:t>(+)</a:t>
            </a:r>
            <a:r>
              <a:rPr kumimoji="0" lang="bn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cs typeface="Vrinda"/>
              </a:rPr>
              <a:t> বা </a:t>
            </a:r>
            <a:r>
              <a:rPr kumimoji="0" lang="bn-I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cs typeface="Vrinda"/>
              </a:rPr>
              <a:t>মাইনাস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cs typeface="Vrinda"/>
              </a:rPr>
              <a:t>(-)</a:t>
            </a:r>
            <a:r>
              <a:rPr kumimoji="0" lang="bn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cs typeface="Vrinda"/>
              </a:rPr>
              <a:t> চিহ্ন দিয়ে বোঝানো হয় যে সিগন্যালের শক্তি </a:t>
            </a:r>
            <a:r>
              <a:rPr kumimoji="0" lang="bn-I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cs typeface="Vrinda"/>
              </a:rPr>
              <a:t>১ মিলিওয়াট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cs typeface="Vrinda"/>
              </a:rPr>
              <a:t>(1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cs typeface="Vrinda"/>
              </a:rPr>
              <a:t>mW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cs typeface="Vrinda"/>
              </a:rPr>
              <a:t>)</a:t>
            </a:r>
            <a:r>
              <a:rPr kumimoji="0" lang="bn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cs typeface="Vrinda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cs typeface="Vrinda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cs typeface="Vrinda"/>
              </a:rPr>
            </a:br>
            <a:r>
              <a:rPr kumimoji="0" lang="bn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cs typeface="Vrinda"/>
              </a:rPr>
              <a:t>থেকে বেশি নাকি কম </a:t>
            </a:r>
            <a:r>
              <a:rPr kumimoji="0" lang="hi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cs typeface="Mangal"/>
              </a:rPr>
              <a:t>।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cs typeface="Mangal"/>
              </a:rPr>
              <a:t> </a:t>
            </a:r>
            <a:r>
              <a:rPr kumimoji="0" lang="bn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cs typeface="Vrinda"/>
              </a:rPr>
              <a:t>যেহেতু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0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dBm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= 1 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mW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bn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cs typeface="Vrinda"/>
              </a:rPr>
              <a:t>তাই এর ওপর ভিত্তি করে হিসাবটি করা হয়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882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85801"/>
            <a:ext cx="9122030" cy="43795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030" y="5506514"/>
            <a:ext cx="1714739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76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Exercise 2: Coupler Power Calculation</a:t>
            </a:r>
          </a:p>
          <a:p>
            <a:pPr lvl="1"/>
            <a:r>
              <a:rPr lang="en-US" sz="2000" dirty="0" smtClean="0"/>
              <a:t>A laser sends a signal with </a:t>
            </a:r>
            <a:r>
              <a:rPr lang="en-US" sz="2000" b="1" dirty="0" smtClean="0"/>
              <a:t>10 </a:t>
            </a:r>
            <a:r>
              <a:rPr lang="en-US" sz="2000" b="1" dirty="0" err="1" smtClean="0"/>
              <a:t>mW</a:t>
            </a:r>
            <a:r>
              <a:rPr lang="en-US" sz="2000" dirty="0" smtClean="0"/>
              <a:t> of power into a </a:t>
            </a:r>
            <a:r>
              <a:rPr lang="en-US" sz="2000" b="1" dirty="0" smtClean="0"/>
              <a:t>1:4 symmetric coupler</a:t>
            </a:r>
            <a:r>
              <a:rPr lang="en-US" sz="2000" dirty="0" smtClean="0"/>
              <a:t> (a coupler that splits the signal equally into 4 output fibers).</a:t>
            </a:r>
          </a:p>
          <a:p>
            <a:pPr lvl="1"/>
            <a:r>
              <a:rPr lang="en-US" sz="2000" dirty="0" smtClean="0"/>
              <a:t>Calculate the power in </a:t>
            </a:r>
            <a:r>
              <a:rPr lang="en-US" sz="2000" b="1" dirty="0" err="1" smtClean="0"/>
              <a:t>mW</a:t>
            </a:r>
            <a:r>
              <a:rPr lang="en-US" sz="2000" dirty="0" smtClean="0"/>
              <a:t> at each output port (assume no internal excess loss).</a:t>
            </a:r>
          </a:p>
          <a:p>
            <a:pPr lvl="1"/>
            <a:r>
              <a:rPr lang="en-US" sz="2000" dirty="0" smtClean="0"/>
              <a:t>Express the output power of one port in </a:t>
            </a:r>
            <a:r>
              <a:rPr lang="en-US" sz="2000" b="1" dirty="0" err="1" smtClean="0"/>
              <a:t>dBm</a:t>
            </a:r>
            <a:r>
              <a:rPr lang="en-US" sz="2000" dirty="0" smtClean="0"/>
              <a:t>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820" y="3843012"/>
            <a:ext cx="5191850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368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589</Words>
  <Application>Microsoft Office PowerPoint</Application>
  <PresentationFormat>Widescreen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Google Sans Text</vt:lpstr>
      <vt:lpstr>Mangal</vt:lpstr>
      <vt:lpstr>Vrinda</vt:lpstr>
      <vt:lpstr>Office Theme</vt:lpstr>
      <vt:lpstr>Passive Components</vt:lpstr>
      <vt:lpstr>PowerPoint Presentation</vt:lpstr>
      <vt:lpstr>Explanation of Passive Components</vt:lpstr>
      <vt:lpstr>Explanation of Passive Components</vt:lpstr>
      <vt:lpstr>Explanation of Passive Components</vt:lpstr>
      <vt:lpstr>Explanation of Passive Components</vt:lpstr>
      <vt:lpstr>dBm ইউনিটে প্লাস (+) বা মাইনাস (-) চিহ্ন দিয়ে বোঝানো হয় যে সিগন্যালের শক্তি ১ মিলিওয়াট (1 mW)  থেকে বেশি নাকি কম । যেহেতু 0 dBm = 1  mW, তাই এর ওপর ভিত্তি করে হিসাবটি করা হয়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Passive Components</dc:title>
  <dc:creator>Lenovo</dc:creator>
  <cp:lastModifiedBy>Lenovo</cp:lastModifiedBy>
  <cp:revision>6</cp:revision>
  <dcterms:created xsi:type="dcterms:W3CDTF">2026-04-02T04:24:04Z</dcterms:created>
  <dcterms:modified xsi:type="dcterms:W3CDTF">2026-04-02T05:11:08Z</dcterms:modified>
</cp:coreProperties>
</file>