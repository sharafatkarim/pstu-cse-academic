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CAC9-1C9F-9CD6-C909-DBEDBAA25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E7D17-5A1B-DFA2-264D-B8B4D05EC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73181-0F08-F389-EAB5-87718FFA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AC1B6-4EFD-20DE-1687-25395ECB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65EA6-F297-20D7-FBBD-BCAE0BC0E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36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6BE6-FC53-7A4D-CFFD-CA9D19CE5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F994B-0E9C-0779-8C19-791C236A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A02AA-5E10-08D0-F964-E49ACF63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35C6A-7EED-89EC-EFD5-042025D4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E16A0-ACCC-B1EE-06DB-028FB798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6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E390-8CB6-8256-E488-1346073F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0DC74-F050-5362-0A3B-893C365D3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4DAE-BEBC-8AAE-5679-8F9274B4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38413-9588-F0F0-D73E-0BB0B6930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6B916-F592-51C1-CAA3-344568BC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7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E4175-44A7-5A9B-2B06-EB4CD1EA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68FD0-5BD4-E0A8-8D81-83DC8E2A4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23A-EAD6-91B8-4C01-FD7971D7D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06E5C-8381-A85D-F67F-9F764E11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01EE0-B4D6-5A30-7851-1739D887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5434F-FDCE-CD8B-CE15-81633F54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2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F0F0-E47F-D800-2410-CF0F5C9C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7BEDD-5042-14CA-498B-3C1636061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97C34-4B53-B511-4110-C60FA490D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B690F6-7178-1695-C1F6-FF098904C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4D60-E523-DF48-A2D5-427855585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17C5E-6385-B64F-9D72-FF2C7455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331AE-B276-AA3B-3E7C-3CE297CF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05346-B014-0154-9CC9-81CD7D9B9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0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629F-E5F6-F6A4-D760-22B7EA3E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A65A4B-50F8-ADD4-844C-B6BE96AF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26997-DC2D-A25F-9462-648E1BC6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F0953-F690-A108-105C-E0EAAE30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D2DE0-7BEE-3527-97AE-175A0F18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C7928-D595-B822-C919-7F7D00F4D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21D1D-172A-442B-AB30-34D2C78D1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3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48C7-C6C8-10ED-013D-E09B5BBA3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07D9-DE45-2818-AAA3-D2E79F885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BCB16-FC5F-5025-6836-A9413CCE9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50E3B-59D1-18B0-025A-A80DD5C1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E84ED-D2FE-A4B7-2C95-909798C7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D3E1C-9B82-0AF5-FC3D-39CC19061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6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8E828-3F62-1B6B-82B5-A8BC4711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875719-69BE-ABC2-A774-B3D127A49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A9EE8-3B58-5BC4-21BC-E9294AF27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B4BE8-5395-551C-EB11-D78D850AF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166E0-A9DD-877E-FA39-39036BD4A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FCCBC-45C9-9092-49BD-D7590539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7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667E2-C5F2-5012-1ABE-071DCE51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1C9A6-F7FD-BA27-21AE-882DCD968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1DCA1-0052-0FB4-DB51-3BE6C5DFD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53D28-0D4B-1F4A-F36C-D0E8E87A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42B15-1254-0B8C-E40B-3E0D4BF6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2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88C1C4-24EA-16CF-0033-CE6CCF950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1BA5C-70F4-6D65-F339-2310D78C5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400BD-1F5E-D27B-531C-A93253C2C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A39C1-C6B5-9DD3-0914-8398AB0D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BBB66-42D6-82D6-E3B3-27CA2FD5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2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0E2F9-83B6-B342-B762-DCE95A91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72EFC-DFAA-0ECE-10A0-62B9DEDD4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0F269-6680-9011-F88C-480DD8843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E6D13-509D-40BA-BB75-4ADAFB681AC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4BCFC-71C1-D705-7D68-2823E6B09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889CF-5876-7AF7-A372-8B3131A82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30BF3-13E3-47CE-9C83-9D9CF97E2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9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436E-8467-528E-31CE-F35945B399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Introductory Class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162B9-6256-C3FF-FDDE-7A9A44EFB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3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36C0-6A87-41C8-9B7E-375F54BB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06BEB-5768-6D22-8CA1-FD1AD4341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4D7ABE-6423-084C-6A92-D78222316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58" y="552659"/>
            <a:ext cx="10782642" cy="482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3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A0A2-08F8-CB15-CAB7-2403BE0E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Synthesis &amp; HLS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BFD4E-65DB-C6E5-1BF4-4F9DAEE3E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High-Level Synthesis (HLS) for AI and Machine Learning Accelerators</a:t>
            </a:r>
          </a:p>
          <a:p>
            <a:r>
              <a:rPr lang="en-US" dirty="0"/>
              <a:t>Machine Learning-driven Behavioral Optimization in EDA Tools</a:t>
            </a:r>
          </a:p>
          <a:p>
            <a:r>
              <a:rPr lang="en-US" dirty="0"/>
              <a:t>Resource Allocation and Scheduling Algorithms for Sequencing Graphs</a:t>
            </a:r>
          </a:p>
          <a:p>
            <a:r>
              <a:rPr lang="en-US" dirty="0"/>
              <a:t>Automated Control Unit and Data-path Synthesis for Pipelined Circuits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683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CDAE-094E-DFDE-385A-57F13425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Low-Power Design &amp; Advanced CMOS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3EC0A-708A-7715-3FDE-8C0864EF6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Sub-threshold and Near-threshold CMOS Logic Design for IoT Devices</a:t>
            </a:r>
          </a:p>
          <a:p>
            <a:r>
              <a:rPr lang="en-US" dirty="0" err="1"/>
              <a:t>FinFET</a:t>
            </a:r>
            <a:r>
              <a:rPr lang="en-US" dirty="0"/>
              <a:t> and GAAFET (Gate-All-Around) Layout Design Rules and Performance Optimization</a:t>
            </a:r>
          </a:p>
          <a:p>
            <a:r>
              <a:rPr lang="en-US" dirty="0"/>
              <a:t>Leakage Power and Propagation Delay Optimization in Nanometer CMOS Buffers</a:t>
            </a:r>
          </a:p>
          <a:p>
            <a:r>
              <a:rPr lang="en-US" dirty="0"/>
              <a:t>Post-CMOS Technologies and Carbon Nanotube FET (CNTFET) Logic Gates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863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0EF04-90C8-9511-BB96-06CA2A1B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Building Blocks &amp; Memory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07B90-8C56-A073-264B-EA1233CE6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Approximate Adders and Multipliers for Error-Tolerant Applications (Image Processing/AI)</a:t>
            </a:r>
          </a:p>
          <a:p>
            <a:r>
              <a:rPr lang="en-US" dirty="0"/>
              <a:t>Processing-in-Memory (PIM) and Compute-in-Memory Architectures using SRAM</a:t>
            </a:r>
          </a:p>
          <a:p>
            <a:r>
              <a:rPr lang="en-US" dirty="0"/>
              <a:t>Hardware Accelerators for Energy-Efficient Datapath Design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52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12B-8E1A-8C8C-07B5-8C9662439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&amp; Hardware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414E5-77D3-9FEF-59CD-0776D5339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FPGA-based Hardware Accelerators for Edge Computing</a:t>
            </a:r>
          </a:p>
          <a:p>
            <a:r>
              <a:rPr lang="en-US" dirty="0"/>
              <a:t>Partial Reconfiguration Techniques in Modern FPGAs</a:t>
            </a:r>
          </a:p>
          <a:p>
            <a:r>
              <a:rPr lang="en-US" dirty="0"/>
              <a:t>High-Level Hardware Modeling Languages for Heterogeneous Computing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01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8519-FEF1-181C-1E59-473E6F13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search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671B2-E8A0-60E0-9C9E-A188EFB6F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IEEE Xplore Digital Library</a:t>
            </a:r>
          </a:p>
          <a:p>
            <a:r>
              <a:rPr lang="en-US" sz="4000" dirty="0"/>
              <a:t>ACM Digital Library</a:t>
            </a:r>
          </a:p>
          <a:p>
            <a:r>
              <a:rPr lang="en-US" sz="4000" dirty="0"/>
              <a:t>Google Scholar</a:t>
            </a:r>
          </a:p>
          <a:p>
            <a:r>
              <a:rPr lang="en-US" sz="4000" dirty="0"/>
              <a:t>ScienceDirect (Elsevier)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027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D7B5E-10A0-2BB6-B05A-E86FE287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D752A-BD1A-D782-BDBC-3D8864387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B51F5-A510-12F6-BB3F-6E3047116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518" y="365125"/>
            <a:ext cx="962253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38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10B8-5D42-ABD0-AE44-82DA5C9F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C0B8C-CAD3-CC3C-BA3E-A19EDB9E5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D4EF6-26A3-1D4B-689F-B22A5A8B8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41" y="0"/>
            <a:ext cx="11528583" cy="218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47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E617-AEDE-DEF9-454B-F4D06CD2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C55B-19BB-105C-5D1F-3F96204FC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BC855-718D-C9B2-C1F5-B26EFDF04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37442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FC391E-28D9-275E-7CB6-E81F660613B9}"/>
              </a:ext>
            </a:extLst>
          </p:cNvPr>
          <p:cNvCxnSpPr/>
          <p:nvPr/>
        </p:nvCxnSpPr>
        <p:spPr>
          <a:xfrm>
            <a:off x="3195376" y="4330840"/>
            <a:ext cx="1225899" cy="813916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418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162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Introductory Class</vt:lpstr>
      <vt:lpstr>PowerPoint Presentation</vt:lpstr>
      <vt:lpstr>Architectural Synthesis &amp; HLS</vt:lpstr>
      <vt:lpstr>Low-Power Design &amp; Advanced CMOS</vt:lpstr>
      <vt:lpstr>Digital Building Blocks &amp; Memory Structures</vt:lpstr>
      <vt:lpstr>FPGA &amp; Hardware Modeling</vt:lpstr>
      <vt:lpstr>Where to search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cce sen</dc:creator>
  <cp:lastModifiedBy>cce sen</cp:lastModifiedBy>
  <cp:revision>6</cp:revision>
  <dcterms:created xsi:type="dcterms:W3CDTF">2026-07-14T03:29:04Z</dcterms:created>
  <dcterms:modified xsi:type="dcterms:W3CDTF">2026-07-14T03:43:51Z</dcterms:modified>
</cp:coreProperties>
</file>