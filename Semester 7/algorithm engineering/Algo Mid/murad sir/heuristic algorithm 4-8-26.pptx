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68" r:id="rId10"/>
    <p:sldId id="259" r:id="rId11"/>
    <p:sldId id="289" r:id="rId12"/>
    <p:sldId id="290" r:id="rId13"/>
    <p:sldId id="291" r:id="rId14"/>
    <p:sldId id="292" r:id="rId15"/>
    <p:sldId id="263" r:id="rId16"/>
    <p:sldId id="273" r:id="rId17"/>
    <p:sldId id="274" r:id="rId18"/>
    <p:sldId id="264" r:id="rId19"/>
    <p:sldId id="265" r:id="rId20"/>
    <p:sldId id="275" r:id="rId21"/>
    <p:sldId id="276" r:id="rId22"/>
    <p:sldId id="286" r:id="rId23"/>
    <p:sldId id="287" r:id="rId24"/>
    <p:sldId id="288" r:id="rId25"/>
    <p:sldId id="285" r:id="rId26"/>
    <p:sldId id="277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A42qLb3/vQfTkaRMijrD8wJt8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8435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2330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1833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2626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Understanding Heuristic Algorithms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sz="3600" dirty="0"/>
              <a:t>Balancing Speed, Practicality, and Optimality in Computer Science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2597-A31B-F5C3-23BD-8E183CF9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41"/>
            <a:ext cx="10515600" cy="746760"/>
          </a:xfrm>
        </p:spPr>
        <p:txBody>
          <a:bodyPr/>
          <a:lstStyle/>
          <a:p>
            <a:r>
              <a:rPr lang="en-US" dirty="0"/>
              <a:t>The Hook – An Everyday Story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C9CD5-5E80-C8FB-BC16-3ECD1E83B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348DF-7B1E-97FA-1038-95AF28B6B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111252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59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A35E3-825C-30D7-8F5A-D9DB071C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17C8-DD8E-85BC-C7DF-F70306652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41"/>
            <a:ext cx="10515600" cy="746760"/>
          </a:xfrm>
        </p:spPr>
        <p:txBody>
          <a:bodyPr/>
          <a:lstStyle/>
          <a:p>
            <a:r>
              <a:rPr lang="en-US" dirty="0"/>
              <a:t>Formal Definition &amp; Core Concept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37FE6-A8AE-DC29-7675-3C3799880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F7B1E-1F58-472C-82C1-350E7D22D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923575"/>
            <a:ext cx="10121412" cy="547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7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2681-DC6D-8D42-6343-3E0A05051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040"/>
            <a:ext cx="11430000" cy="653998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Mathematical Example – The Knapsack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FA5AE-4D12-6956-4CB0-512548561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B809B-73A0-6A65-F726-82DE20082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6782747" cy="601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4E8502-2EB4-8D87-D149-B00DD475F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0938"/>
            <a:ext cx="5791200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6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1CE5-AC95-D23A-61B6-C2988FE1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F482-D9C7-A817-5594-2E046F1EF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040"/>
            <a:ext cx="11430000" cy="653998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Mathematical Example – The Knapsack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73991-CC3E-5DB0-10F9-4F581693E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A5F7B-3AAA-05AA-8FBB-F5CE3F91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39" y="1600200"/>
            <a:ext cx="8859486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2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58E1-4529-7AF1-A709-B060AA3C7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Heuristic vs. Exact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54601-E83F-3934-D84D-E6AF61B5E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D934A-37EB-59C0-E130-43BFA5525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23628"/>
            <a:ext cx="10972800" cy="497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2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10C8-24F6-D1BA-CBCC-04C99BB5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B1579-7CD4-C42B-1C42-D9BD2CF62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361FF-F578-2777-26C1-7F1AEE5E5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5940"/>
            <a:ext cx="9154803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74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6AB6-70A3-1356-B60B-04498A52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&amp;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8AFAE-221D-F61D-8C0E-3E8EBCE0F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3886199"/>
            <a:ext cx="11963400" cy="22907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"Fast and good enough is usually better than perfect and infinite."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4DB7C6-643C-0BB0-DE68-45541027B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63649"/>
            <a:ext cx="8773749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149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Algorithm With Real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600200"/>
            <a:ext cx="11318827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08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Heuristic function in artificial intelligence</a:t>
            </a:r>
            <a:br>
              <a:rPr lang="en-US"/>
            </a:br>
            <a:endParaRPr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106" y="1143000"/>
            <a:ext cx="4741506" cy="32198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76800" y="1219200"/>
            <a:ext cx="7467600" cy="250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This calculation measures how far the current board (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Start state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) is from the target board (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Goal state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) in an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8-Puzzle Game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using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Heuristic Function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(</a:t>
            </a:r>
            <a:r>
              <a:rPr kumimoji="0" lang="en-US" altLang="en-US" sz="32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h(n)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).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7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Heuristic function in artificial intelligence</a:t>
            </a:r>
            <a:br>
              <a:rPr lang="en-US" dirty="0"/>
            </a:br>
            <a:endParaRPr dirty="0"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106" y="1143000"/>
            <a:ext cx="5579706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513465"/>
            <a:ext cx="6096851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351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7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Heuristic function in artificial intelligence</a:t>
            </a:r>
            <a:br>
              <a:rPr lang="en-US" dirty="0"/>
            </a:br>
            <a:endParaRPr dirty="0"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106" y="1143000"/>
            <a:ext cx="5579706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354" y="1238658"/>
            <a:ext cx="5977026" cy="333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26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01CE3-FF1D-09F1-FA8F-7C54B1715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618DB-B4C0-BC1F-5045-1DDA2470A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5338D7-A9C6-2396-0E42-D0D2E82F7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0"/>
            <a:ext cx="11811000" cy="68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10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283F-7C38-1854-1F42-0430277E6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E2095-1C05-F96C-348E-1B2CBA504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04777-32E0-58F2-1F1E-356619CCF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144378"/>
            <a:ext cx="9996183" cy="648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37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What is the difference between algorithm and a heuristic?</a:t>
            </a:r>
            <a:br>
              <a:rPr lang="en-US" dirty="0"/>
            </a:br>
            <a:endParaRPr dirty="0"/>
          </a:p>
        </p:txBody>
      </p:sp>
      <p:sp>
        <p:nvSpPr>
          <p:cNvPr id="129" name="Google Shape;129;p8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107442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3900" dirty="0"/>
              <a:t>An algorithm is a </a:t>
            </a:r>
            <a:r>
              <a:rPr lang="en-US" sz="3900" dirty="0">
                <a:solidFill>
                  <a:srgbClr val="FF0000"/>
                </a:solidFill>
              </a:rPr>
              <a:t>step-wise procedure for solving a specific problem in a finite number of steps</a:t>
            </a:r>
            <a:r>
              <a:rPr lang="en-US" sz="3900" dirty="0"/>
              <a:t>. </a:t>
            </a:r>
            <a:endParaRPr sz="39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3900" dirty="0"/>
              <a:t>The result (output) of an algorithm is predictable and reproducible given the same parameters (input). </a:t>
            </a:r>
            <a:endParaRPr sz="39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3900" dirty="0"/>
              <a:t>A heuristic is an educated guess </a:t>
            </a:r>
            <a:r>
              <a:rPr lang="en-US" sz="3900" dirty="0">
                <a:solidFill>
                  <a:srgbClr val="FF0000"/>
                </a:solidFill>
              </a:rPr>
              <a:t>which serves as a guide for subsequent explorations</a:t>
            </a:r>
            <a:r>
              <a:rPr lang="en-US" sz="3900" dirty="0"/>
              <a:t>.</a:t>
            </a:r>
            <a:endParaRPr sz="39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15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 dirty="0">
                <a:latin typeface="+mj-lt"/>
              </a:rPr>
              <a:t>What is the difference between algorithm and a heuristic?</a:t>
            </a:r>
            <a:br>
              <a:rPr lang="en-US" dirty="0"/>
            </a:br>
            <a:endParaRPr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504851"/>
              </p:ext>
            </p:extLst>
          </p:nvPr>
        </p:nvGraphicFramePr>
        <p:xfrm>
          <a:off x="152400" y="1295400"/>
          <a:ext cx="12039600" cy="6024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56042" imgH="3651302" progId="Word.Document.12">
                  <p:embed/>
                </p:oleObj>
              </mc:Choice>
              <mc:Fallback>
                <p:oleObj name="Document" r:id="rId3" imgW="5956042" imgH="3651302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95400"/>
                        <a:ext cx="12039600" cy="60242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3134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15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 dirty="0">
                <a:latin typeface="+mj-lt"/>
              </a:rPr>
              <a:t>What is the difference between algorithm and a heuristic?</a:t>
            </a:r>
            <a:br>
              <a:rPr lang="en-US" dirty="0"/>
            </a:b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05955"/>
            <a:ext cx="1090038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55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Are algorithms better than heuristics?</a:t>
            </a:r>
            <a:br>
              <a:rPr lang="en-US"/>
            </a:br>
            <a:endParaRPr/>
          </a:p>
        </p:txBody>
      </p:sp>
      <p:sp>
        <p:nvSpPr>
          <p:cNvPr id="135" name="Google Shape;13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/>
              <a:t>While algorithms provide step-by-step procedures that can guarantee solutions, </a:t>
            </a:r>
            <a:r>
              <a:rPr lang="en-US" sz="3600" b="1" dirty="0"/>
              <a:t>heuristics are faster and provide shortcuts for getting to solutions</a:t>
            </a:r>
            <a:r>
              <a:rPr lang="en-US" sz="3600" dirty="0"/>
              <a:t>, </a:t>
            </a:r>
            <a:r>
              <a:rPr lang="en-US" sz="3600" dirty="0">
                <a:solidFill>
                  <a:srgbClr val="FF0000"/>
                </a:solidFill>
              </a:rPr>
              <a:t>though this has the potential to cause errors.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>
                <a:latin typeface="+mj-lt"/>
              </a:rPr>
              <a:t>Is an algorithm a type of heuristic?</a:t>
            </a:r>
            <a:br>
              <a:rPr lang="en-US" b="1" dirty="0">
                <a:latin typeface="+mj-lt"/>
              </a:rPr>
            </a:br>
            <a:endParaRPr b="1" dirty="0"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1976438"/>
            <a:ext cx="11887200" cy="32051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28600"/>
            <a:ext cx="10515600" cy="1325563"/>
          </a:xfrm>
        </p:spPr>
        <p:txBody>
          <a:bodyPr/>
          <a:lstStyle/>
          <a:p>
            <a:r>
              <a:rPr lang="en-US" b="1" dirty="0">
                <a:latin typeface="+mj-lt"/>
              </a:rPr>
              <a:t>Well-known Heuristic Algorithms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3962400" cy="59957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585545"/>
            <a:ext cx="6873008" cy="336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41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1325563"/>
          </a:xfrm>
        </p:spPr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1415A1-A3BE-B4AD-7C77-791AA18A1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2448"/>
            <a:ext cx="9916909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02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539A-340C-398E-AACF-45C7513A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2B29-F5E7-5118-0E7C-D5A7232F9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1325563"/>
          </a:xfrm>
        </p:spPr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5EAE6-4F30-FD9E-FD2C-81877BCC5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E6EC8-ADC0-9021-A722-B7E7F4277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5625"/>
            <a:ext cx="9050013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96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73D8-37E2-0415-6481-C7675226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42450-A9BC-AB1D-CC12-255A383A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763805"/>
          </a:xfrm>
        </p:spPr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9A906-99FF-1E3F-F5F6-265A40B15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2679ED-9F3F-0B22-659C-E3E258F1D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09600"/>
            <a:ext cx="5611008" cy="6019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AA7232-67A5-65E4-9C26-E36FD461B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62000"/>
            <a:ext cx="5277587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20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139B9-7B2A-FDAE-47C1-316DCA2D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971E-55C8-9BB3-F0B3-F3879161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763805"/>
          </a:xfrm>
        </p:spPr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FBB80-14FD-0F63-4C6F-556A3F92D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8D5CF-5E0C-52C9-7AD1-2B6C91EB8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9297698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DE606-0051-EC17-843E-C6800F13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4CC0-ACF7-6D39-2216-BE2BB374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D5978-520F-DC27-A72B-7607D8E35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36D2F-6606-2613-6567-59F3CEC9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651"/>
            <a:ext cx="5791200" cy="4786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0658B9-834B-0F7B-13D6-CA7FC2EA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499" y="1392206"/>
            <a:ext cx="6378493" cy="4122777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C15DF77-16B4-D0A2-850B-AE43E2B98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2590800"/>
            <a:ext cx="4214669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86528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 with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6152081"/>
            <a:ext cx="11658600" cy="477319"/>
          </a:xfrm>
        </p:spPr>
        <p:txBody>
          <a:bodyPr>
            <a:normAutofit fontScale="92500"/>
          </a:bodyPr>
          <a:lstStyle/>
          <a:p>
            <a:r>
              <a:rPr lang="en-US" sz="1600" b="1" dirty="0">
                <a:latin typeface="+mj-lt"/>
              </a:rPr>
              <a:t>Shortest path found in 4 moves, and we didn’t check every single cell blindly — the heuristic guided us toward the goal.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87230"/>
            <a:ext cx="6172200" cy="486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71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304</Words>
  <Application>Microsoft Office PowerPoint</Application>
  <PresentationFormat>Widescreen</PresentationFormat>
  <Paragraphs>32</Paragraphs>
  <Slides>26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Google Sans Text</vt:lpstr>
      <vt:lpstr>Office Theme</vt:lpstr>
      <vt:lpstr>Document</vt:lpstr>
      <vt:lpstr>Understanding Heuristic Algorithms</vt:lpstr>
      <vt:lpstr>The Hook – An Everyday Story</vt:lpstr>
      <vt:lpstr>Formal Definition &amp; Core Concept</vt:lpstr>
      <vt:lpstr>Mathematical Example – The Knapsack Problem</vt:lpstr>
      <vt:lpstr>Mathematical Example – The Knapsack Problem</vt:lpstr>
      <vt:lpstr>Heuristic vs. Exact Algorithms</vt:lpstr>
      <vt:lpstr>Real-World Applications</vt:lpstr>
      <vt:lpstr>Summary &amp; Takeaways</vt:lpstr>
      <vt:lpstr>Heuristic Algorithm With Real Example</vt:lpstr>
      <vt:lpstr>Heuristic function in artificial intelligence </vt:lpstr>
      <vt:lpstr>Heuristic function in artificial intelligence </vt:lpstr>
      <vt:lpstr>Heuristic function in artificial intelligence </vt:lpstr>
      <vt:lpstr>PowerPoint Presentation</vt:lpstr>
      <vt:lpstr>PowerPoint Presentation</vt:lpstr>
      <vt:lpstr>What is the difference between algorithm and a heuristic? </vt:lpstr>
      <vt:lpstr>What is the difference between algorithm and a heuristic? </vt:lpstr>
      <vt:lpstr>What is the difference between algorithm and a heuristic? </vt:lpstr>
      <vt:lpstr>Are algorithms better than heuristics? </vt:lpstr>
      <vt:lpstr>Is an algorithm a type of heuristic? </vt:lpstr>
      <vt:lpstr>Well-known Heuristic Algorithms</vt:lpstr>
      <vt:lpstr>A* Search with example</vt:lpstr>
      <vt:lpstr>A* Search with example</vt:lpstr>
      <vt:lpstr>A* Search with example</vt:lpstr>
      <vt:lpstr>A* Search with example</vt:lpstr>
      <vt:lpstr>A* Search with example</vt:lpstr>
      <vt:lpstr>A* Search with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HEURISTIC ALGORITHM</dc:title>
  <dc:creator>Dean CSE</dc:creator>
  <cp:lastModifiedBy>cce sen</cp:lastModifiedBy>
  <cp:revision>19</cp:revision>
  <dcterms:created xsi:type="dcterms:W3CDTF">2022-08-15T09:28:35Z</dcterms:created>
  <dcterms:modified xsi:type="dcterms:W3CDTF">2026-08-04T03:23:26Z</dcterms:modified>
</cp:coreProperties>
</file>