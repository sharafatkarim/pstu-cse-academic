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6" r:id="rId3"/>
    <p:sldId id="269" r:id="rId4"/>
    <p:sldId id="271" r:id="rId5"/>
    <p:sldId id="268" r:id="rId6"/>
    <p:sldId id="270" r:id="rId7"/>
    <p:sldId id="272" r:id="rId8"/>
    <p:sldId id="273" r:id="rId9"/>
    <p:sldId id="274" r:id="rId10"/>
    <p:sldId id="259" r:id="rId11"/>
    <p:sldId id="275" r:id="rId12"/>
    <p:sldId id="276" r:id="rId13"/>
    <p:sldId id="277" r:id="rId14"/>
    <p:sldId id="278" r:id="rId15"/>
    <p:sldId id="282" r:id="rId16"/>
    <p:sldId id="279" r:id="rId17"/>
    <p:sldId id="280" r:id="rId18"/>
    <p:sldId id="281" r:id="rId19"/>
    <p:sldId id="283" r:id="rId20"/>
    <p:sldId id="28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9/18/2021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ipedia.org/wiki/Millennium_Prize_Problems"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smtClean="0"/>
              <a:t>Complexity Classes</a:t>
            </a:r>
            <a:endParaRPr lang="en-US" sz="4000" dirty="0"/>
          </a:p>
        </p:txBody>
      </p:sp>
      <p:sp>
        <p:nvSpPr>
          <p:cNvPr id="3" name="Subtitle 2"/>
          <p:cNvSpPr>
            <a:spLocks noGrp="1"/>
          </p:cNvSpPr>
          <p:nvPr>
            <p:ph type="subTitle" idx="1"/>
          </p:nvPr>
        </p:nvSpPr>
        <p:spPr>
          <a:xfrm>
            <a:off x="2458585" y="1931436"/>
            <a:ext cx="8915399" cy="2927197"/>
          </a:xfrm>
        </p:spPr>
        <p:txBody>
          <a:bodyPr/>
          <a:lstStyle/>
          <a:p>
            <a:pPr marL="342900" indent="-342900" algn="just">
              <a:buFont typeface="Wingdings" panose="05000000000000000000" pitchFamily="2" charset="2"/>
              <a:buChar char="v"/>
            </a:pPr>
            <a:r>
              <a:rPr lang="en-US" sz="2400" dirty="0" smtClean="0"/>
              <a:t>In computational complexity theory, a</a:t>
            </a:r>
            <a:r>
              <a:rPr lang="en-US" sz="2400" dirty="0"/>
              <a:t> </a:t>
            </a:r>
            <a:r>
              <a:rPr lang="en-US" sz="2400" b="1" dirty="0"/>
              <a:t>complexity class</a:t>
            </a:r>
            <a:r>
              <a:rPr lang="en-US" sz="2400" dirty="0"/>
              <a:t> is </a:t>
            </a:r>
            <a:r>
              <a:rPr lang="en-US" sz="2400" dirty="0" smtClean="0"/>
              <a:t>a set</a:t>
            </a:r>
            <a:r>
              <a:rPr lang="en-US" sz="2400" dirty="0"/>
              <a:t> </a:t>
            </a:r>
            <a:r>
              <a:rPr lang="en-US" sz="2400" dirty="0" smtClean="0"/>
              <a:t>of computational problems of </a:t>
            </a:r>
            <a:r>
              <a:rPr lang="en-US" sz="2400" dirty="0"/>
              <a:t>related </a:t>
            </a:r>
            <a:r>
              <a:rPr lang="en-US" sz="2400" dirty="0" smtClean="0"/>
              <a:t>resource-based complexity. </a:t>
            </a:r>
            <a:r>
              <a:rPr lang="en-US" sz="2400" dirty="0"/>
              <a:t>The two most commonly analyzed resources </a:t>
            </a:r>
            <a:r>
              <a:rPr lang="en-US" sz="2400" dirty="0" smtClean="0"/>
              <a:t>are time</a:t>
            </a:r>
            <a:r>
              <a:rPr lang="en-US" sz="2400" dirty="0"/>
              <a:t> </a:t>
            </a:r>
            <a:r>
              <a:rPr lang="en-US" sz="2400" dirty="0" smtClean="0"/>
              <a:t>and</a:t>
            </a:r>
            <a:r>
              <a:rPr lang="en-US" sz="2400" dirty="0"/>
              <a:t> </a:t>
            </a:r>
            <a:r>
              <a:rPr lang="en-US" sz="2400" dirty="0" smtClean="0"/>
              <a:t>memory.</a:t>
            </a:r>
          </a:p>
          <a:p>
            <a:pPr algn="just"/>
            <a:endParaRPr lang="en-US" sz="2400" dirty="0" smtClean="0"/>
          </a:p>
          <a:p>
            <a:pPr marL="342900" indent="-342900" algn="just">
              <a:buFont typeface="Wingdings" panose="05000000000000000000" pitchFamily="2" charset="2"/>
              <a:buChar char="v"/>
            </a:pPr>
            <a:r>
              <a:rPr lang="en-US" sz="2400" dirty="0" smtClean="0"/>
              <a:t>Complexity </a:t>
            </a:r>
            <a:r>
              <a:rPr lang="en-US" sz="2400" dirty="0"/>
              <a:t>classes </a:t>
            </a:r>
            <a:r>
              <a:rPr lang="en-US" sz="2400" dirty="0" smtClean="0"/>
              <a:t>are sets of related computational problems.</a:t>
            </a:r>
            <a:r>
              <a:rPr lang="en-US" sz="2400" dirty="0"/>
              <a:t> </a:t>
            </a:r>
            <a:endParaRPr lang="en-US" sz="2400" dirty="0" smtClean="0"/>
          </a:p>
          <a:p>
            <a:pPr algn="just"/>
            <a:endParaRPr lang="en-US" sz="2400" dirty="0" smtClean="0">
              <a:solidFill>
                <a:schemeClr val="tx1"/>
              </a:solidFill>
              <a:latin typeface="+mj-lt"/>
              <a:cs typeface="Courier New" panose="02070309020205020404" pitchFamily="49" charset="0"/>
            </a:endParaRPr>
          </a:p>
          <a:p>
            <a:pPr algn="just"/>
            <a:endParaRPr lang="en-US" sz="2400" dirty="0" smtClean="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892670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smtClean="0"/>
              <a:t>Complexity Classes</a:t>
            </a:r>
            <a:endParaRPr lang="en-US" sz="4000" dirty="0"/>
          </a:p>
        </p:txBody>
      </p:sp>
      <p:sp>
        <p:nvSpPr>
          <p:cNvPr id="3" name="Subtitle 2"/>
          <p:cNvSpPr>
            <a:spLocks noGrp="1"/>
          </p:cNvSpPr>
          <p:nvPr>
            <p:ph type="subTitle" idx="1"/>
          </p:nvPr>
        </p:nvSpPr>
        <p:spPr>
          <a:xfrm>
            <a:off x="2230017" y="1119674"/>
            <a:ext cx="9143966" cy="5075853"/>
          </a:xfrm>
        </p:spPr>
        <p:txBody>
          <a:bodyPr>
            <a:normAutofit/>
          </a:bodyPr>
          <a:lstStyle/>
          <a:p>
            <a:pPr marL="342900" indent="-342900" algn="just">
              <a:buFont typeface="Wingdings" panose="05000000000000000000" pitchFamily="2" charset="2"/>
              <a:buChar char="v"/>
            </a:pPr>
            <a:r>
              <a:rPr lang="en-US" sz="2000" dirty="0" smtClean="0">
                <a:solidFill>
                  <a:schemeClr val="tx1"/>
                </a:solidFill>
              </a:rPr>
              <a:t>Let’s </a:t>
            </a:r>
            <a:r>
              <a:rPr lang="en-US" sz="2000" dirty="0">
                <a:solidFill>
                  <a:schemeClr val="tx1"/>
                </a:solidFill>
              </a:rPr>
              <a:t>start by reminding ourselves of some common functions, ordered by how fast they </a:t>
            </a:r>
            <a:r>
              <a:rPr lang="en-US" sz="2000" dirty="0" smtClean="0">
                <a:solidFill>
                  <a:schemeClr val="tx1"/>
                </a:solidFill>
              </a:rPr>
              <a:t>grow.</a:t>
            </a:r>
          </a:p>
          <a:p>
            <a:r>
              <a:rPr lang="en-US" sz="2000" dirty="0" smtClean="0">
                <a:solidFill>
                  <a:schemeClr val="tx1"/>
                </a:solidFill>
                <a:latin typeface="+mj-lt"/>
                <a:cs typeface="Courier New" panose="02070309020205020404" pitchFamily="49" charset="0"/>
              </a:rPr>
              <a:t> </a:t>
            </a:r>
          </a:p>
          <a:p>
            <a:endParaRPr lang="en-US" sz="2000" dirty="0" smtClean="0">
              <a:solidFill>
                <a:schemeClr val="tx1"/>
              </a:solidFill>
              <a:latin typeface="+mj-lt"/>
              <a:cs typeface="Courier New" panose="02070309020205020404" pitchFamily="49" charset="0"/>
            </a:endParaRPr>
          </a:p>
          <a:p>
            <a:pPr marL="342900" indent="-342900">
              <a:buFont typeface="Wingdings" panose="05000000000000000000" pitchFamily="2" charset="2"/>
              <a:buChar char="v"/>
            </a:pPr>
            <a:r>
              <a:rPr lang="en-US" sz="2000" dirty="0" smtClean="0">
                <a:solidFill>
                  <a:schemeClr val="tx1"/>
                </a:solidFill>
              </a:rPr>
              <a:t>Computer </a:t>
            </a:r>
            <a:r>
              <a:rPr lang="en-US" sz="2000" dirty="0">
                <a:solidFill>
                  <a:schemeClr val="tx1"/>
                </a:solidFill>
              </a:rPr>
              <a:t>Scientists divide these </a:t>
            </a:r>
            <a:r>
              <a:rPr lang="en-US" sz="2000" dirty="0" smtClean="0">
                <a:solidFill>
                  <a:schemeClr val="tx1"/>
                </a:solidFill>
              </a:rPr>
              <a:t/>
            </a:r>
            <a:br>
              <a:rPr lang="en-US" sz="2000" dirty="0" smtClean="0">
                <a:solidFill>
                  <a:schemeClr val="tx1"/>
                </a:solidFill>
              </a:rPr>
            </a:br>
            <a:r>
              <a:rPr lang="en-US" sz="2000" dirty="0" smtClean="0">
                <a:solidFill>
                  <a:schemeClr val="tx1"/>
                </a:solidFill>
              </a:rPr>
              <a:t>functions </a:t>
            </a:r>
            <a:r>
              <a:rPr lang="en-US" sz="2000" dirty="0">
                <a:solidFill>
                  <a:schemeClr val="tx1"/>
                </a:solidFill>
              </a:rPr>
              <a:t>into two classes</a:t>
            </a:r>
            <a:r>
              <a:rPr lang="en-US" sz="2000" dirty="0" smtClean="0">
                <a:solidFill>
                  <a:schemeClr val="tx1"/>
                </a:solidFill>
              </a:rPr>
              <a:t>:</a:t>
            </a:r>
          </a:p>
          <a:p>
            <a:pPr marL="342900" indent="-342900">
              <a:buFont typeface="Wingdings" panose="05000000000000000000" pitchFamily="2" charset="2"/>
              <a:buChar char="v"/>
            </a:pPr>
            <a:endParaRPr lang="en-US" sz="2000" dirty="0">
              <a:solidFill>
                <a:schemeClr val="tx1"/>
              </a:solidFill>
            </a:endParaRPr>
          </a:p>
          <a:p>
            <a:endParaRPr lang="en-US" sz="2000" dirty="0" smtClean="0">
              <a:solidFill>
                <a:schemeClr val="tx1"/>
              </a:solidFill>
            </a:endParaRPr>
          </a:p>
          <a:p>
            <a:pPr marL="342900" indent="-342900">
              <a:buFont typeface="Wingdings" panose="05000000000000000000" pitchFamily="2" charset="2"/>
              <a:buChar char="Ø"/>
            </a:pPr>
            <a:r>
              <a:rPr lang="en-US" sz="2000" dirty="0" smtClean="0">
                <a:solidFill>
                  <a:schemeClr val="tx1"/>
                </a:solidFill>
                <a:latin typeface="+mj-lt"/>
                <a:cs typeface="Courier New" panose="02070309020205020404" pitchFamily="49" charset="0"/>
              </a:rPr>
              <a:t>Polynomial function:</a:t>
            </a:r>
          </a:p>
          <a:p>
            <a:pPr marL="342900" indent="-342900">
              <a:buFont typeface="Wingdings" panose="05000000000000000000" pitchFamily="2" charset="2"/>
              <a:buChar char="Ø"/>
            </a:pPr>
            <a:r>
              <a:rPr lang="en-US" sz="2000" dirty="0" smtClean="0">
                <a:solidFill>
                  <a:schemeClr val="tx1"/>
                </a:solidFill>
                <a:latin typeface="+mj-lt"/>
                <a:cs typeface="Courier New" panose="02070309020205020404" pitchFamily="49" charset="0"/>
              </a:rPr>
              <a:t>Exponential function: (</a:t>
            </a:r>
            <a:r>
              <a:rPr lang="en-US" sz="2000" dirty="0">
                <a:solidFill>
                  <a:schemeClr val="tx1"/>
                </a:solidFill>
                <a:cs typeface="Courier New" panose="02070309020205020404" pitchFamily="49" charset="0"/>
              </a:rPr>
              <a:t>Super-Polynomial</a:t>
            </a:r>
            <a:r>
              <a:rPr lang="en-US" sz="2000" dirty="0" smtClean="0">
                <a:solidFill>
                  <a:schemeClr val="tx1"/>
                </a:solidFill>
                <a:latin typeface="+mj-lt"/>
                <a:cs typeface="Courier New" panose="02070309020205020404" pitchFamily="49" charset="0"/>
              </a:rPr>
              <a:t>)</a:t>
            </a:r>
          </a:p>
          <a:p>
            <a:endParaRPr lang="en-US" sz="2000" dirty="0" smtClean="0">
              <a:solidFill>
                <a:schemeClr val="tx1"/>
              </a:solidFill>
              <a:latin typeface="+mj-lt"/>
              <a:cs typeface="Courier New" panose="02070309020205020404" pitchFamily="49" charset="0"/>
            </a:endParaRPr>
          </a:p>
          <a:p>
            <a:endParaRPr lang="en-US" sz="2000" dirty="0">
              <a:solidFill>
                <a:schemeClr val="tx1"/>
              </a:solidFill>
              <a:latin typeface="+mj-lt"/>
              <a:cs typeface="Courier New" panose="02070309020205020404" pitchFamily="49" charset="0"/>
            </a:endParaRPr>
          </a:p>
          <a:p>
            <a:endParaRPr lang="en-US" dirty="0" smtClean="0">
              <a:solidFill>
                <a:schemeClr val="tx1"/>
              </a:solidFill>
              <a:latin typeface="+mj-lt"/>
              <a:cs typeface="Courier New" panose="02070309020205020404" pitchFamily="49" charset="0"/>
            </a:endParaRPr>
          </a:p>
          <a:p>
            <a:endParaRPr lang="pt-BR" dirty="0" smtClean="0">
              <a:solidFill>
                <a:schemeClr val="tx1"/>
              </a:solidFill>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6867331" y="1726163"/>
            <a:ext cx="4609321" cy="2855167"/>
          </a:xfrm>
          <a:prstGeom prst="rect">
            <a:avLst/>
          </a:prstGeom>
        </p:spPr>
      </p:pic>
    </p:spTree>
    <p:extLst>
      <p:ext uri="{BB962C8B-B14F-4D97-AF65-F5344CB8AC3E}">
        <p14:creationId xmlns:p14="http://schemas.microsoft.com/office/powerpoint/2010/main" val="13793970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Polynomial Function</a:t>
            </a:r>
            <a:endParaRPr lang="en-US" sz="4000" dirty="0"/>
          </a:p>
        </p:txBody>
      </p:sp>
      <p:sp>
        <p:nvSpPr>
          <p:cNvPr id="3" name="Subtitle 2"/>
          <p:cNvSpPr>
            <a:spLocks noGrp="1"/>
          </p:cNvSpPr>
          <p:nvPr>
            <p:ph type="subTitle" idx="1"/>
          </p:nvPr>
        </p:nvSpPr>
        <p:spPr>
          <a:xfrm>
            <a:off x="1996750" y="1343606"/>
            <a:ext cx="10011747" cy="5019871"/>
          </a:xfrm>
        </p:spPr>
        <p:txBody>
          <a:bodyPr>
            <a:noAutofit/>
          </a:bodyPr>
          <a:lstStyle/>
          <a:p>
            <a:pPr marL="342900" indent="-342900" algn="just">
              <a:buFont typeface="Wingdings" panose="05000000000000000000" pitchFamily="2" charset="2"/>
              <a:buChar char="v"/>
            </a:pPr>
            <a:r>
              <a:rPr lang="en-US" sz="2000" i="1" dirty="0" smtClean="0">
                <a:solidFill>
                  <a:schemeClr val="tx1"/>
                </a:solidFill>
              </a:rPr>
              <a:t>A polynomial is a mathematical expression constructed with constants and variables using the following operations: </a:t>
            </a:r>
          </a:p>
          <a:p>
            <a:pPr algn="just"/>
            <a:r>
              <a:rPr lang="en-US" sz="2000" i="1" dirty="0" smtClean="0">
                <a:solidFill>
                  <a:schemeClr val="tx1"/>
                </a:solidFill>
              </a:rPr>
              <a:t>   </a:t>
            </a:r>
            <a:r>
              <a:rPr lang="en-US" sz="2400" b="1" i="1" dirty="0" smtClean="0">
                <a:solidFill>
                  <a:schemeClr val="tx1"/>
                </a:solidFill>
              </a:rPr>
              <a:t>   Polynomial             Example                                   Degree</a:t>
            </a:r>
          </a:p>
          <a:p>
            <a:pPr algn="just"/>
            <a:r>
              <a:rPr lang="en-US" sz="2000" i="1" dirty="0">
                <a:solidFill>
                  <a:schemeClr val="tx1"/>
                </a:solidFill>
              </a:rPr>
              <a:t> </a:t>
            </a:r>
            <a:r>
              <a:rPr lang="en-US" sz="2000" i="1" dirty="0" smtClean="0">
                <a:solidFill>
                  <a:schemeClr val="tx1"/>
                </a:solidFill>
              </a:rPr>
              <a:t>  Constant:                           1                                                           0     </a:t>
            </a:r>
          </a:p>
          <a:p>
            <a:pPr algn="just"/>
            <a:r>
              <a:rPr lang="en-US" sz="2000" i="1" dirty="0">
                <a:solidFill>
                  <a:schemeClr val="tx1"/>
                </a:solidFill>
              </a:rPr>
              <a:t> </a:t>
            </a:r>
            <a:r>
              <a:rPr lang="en-US" sz="2000" i="1" dirty="0" smtClean="0">
                <a:solidFill>
                  <a:schemeClr val="tx1"/>
                </a:solidFill>
              </a:rPr>
              <a:t>  Linear:                                2x+1                                                      1</a:t>
            </a:r>
          </a:p>
          <a:p>
            <a:pPr algn="just"/>
            <a:r>
              <a:rPr lang="en-US" sz="2000" i="1" dirty="0">
                <a:solidFill>
                  <a:schemeClr val="tx1"/>
                </a:solidFill>
              </a:rPr>
              <a:t> </a:t>
            </a:r>
            <a:r>
              <a:rPr lang="en-US" sz="2000" i="1" dirty="0" smtClean="0">
                <a:solidFill>
                  <a:schemeClr val="tx1"/>
                </a:solidFill>
              </a:rPr>
              <a:t>  Quadratic                         3x</a:t>
            </a:r>
            <a:r>
              <a:rPr lang="en-US" sz="2000" i="1" baseline="30000" dirty="0" smtClean="0">
                <a:solidFill>
                  <a:schemeClr val="tx1"/>
                </a:solidFill>
              </a:rPr>
              <a:t>2</a:t>
            </a:r>
            <a:r>
              <a:rPr lang="en-US" sz="2000" i="1" dirty="0" smtClean="0">
                <a:solidFill>
                  <a:schemeClr val="tx1"/>
                </a:solidFill>
              </a:rPr>
              <a:t>+2x+1                                               2</a:t>
            </a:r>
          </a:p>
          <a:p>
            <a:pPr algn="just"/>
            <a:r>
              <a:rPr lang="en-US" sz="2000" i="1" dirty="0">
                <a:solidFill>
                  <a:schemeClr val="tx1"/>
                </a:solidFill>
              </a:rPr>
              <a:t> </a:t>
            </a:r>
            <a:r>
              <a:rPr lang="en-US" sz="2000" i="1" dirty="0" smtClean="0">
                <a:solidFill>
                  <a:schemeClr val="tx1"/>
                </a:solidFill>
              </a:rPr>
              <a:t>  Cubic                                4x</a:t>
            </a:r>
            <a:r>
              <a:rPr lang="en-US" sz="2000" i="1" baseline="30000" dirty="0" smtClean="0">
                <a:solidFill>
                  <a:schemeClr val="tx1"/>
                </a:solidFill>
              </a:rPr>
              <a:t>3</a:t>
            </a:r>
            <a:r>
              <a:rPr lang="en-US" sz="2000" i="1" dirty="0" smtClean="0">
                <a:solidFill>
                  <a:schemeClr val="tx1"/>
                </a:solidFill>
              </a:rPr>
              <a:t>+3x</a:t>
            </a:r>
            <a:r>
              <a:rPr lang="en-US" sz="2000" i="1" baseline="30000" dirty="0" smtClean="0">
                <a:solidFill>
                  <a:schemeClr val="tx1"/>
                </a:solidFill>
              </a:rPr>
              <a:t>2</a:t>
            </a:r>
            <a:r>
              <a:rPr lang="en-US" sz="2000" i="1" dirty="0" smtClean="0">
                <a:solidFill>
                  <a:schemeClr val="tx1"/>
                </a:solidFill>
              </a:rPr>
              <a:t>+2x+1                                         3</a:t>
            </a:r>
            <a:endParaRPr lang="en-US" sz="2000" i="1" dirty="0">
              <a:solidFill>
                <a:schemeClr val="tx1"/>
              </a:solidFill>
            </a:endParaRPr>
          </a:p>
          <a:p>
            <a:pPr algn="just"/>
            <a:r>
              <a:rPr lang="en-US" sz="2000" dirty="0" smtClean="0">
                <a:solidFill>
                  <a:schemeClr val="tx1"/>
                </a:solidFill>
              </a:rPr>
              <a:t>   Quartic                             5x</a:t>
            </a:r>
            <a:r>
              <a:rPr lang="en-US" sz="2000" baseline="30000" dirty="0" smtClean="0">
                <a:solidFill>
                  <a:schemeClr val="tx1"/>
                </a:solidFill>
              </a:rPr>
              <a:t>4</a:t>
            </a:r>
            <a:r>
              <a:rPr lang="en-US" sz="2000" dirty="0" smtClean="0">
                <a:solidFill>
                  <a:schemeClr val="tx1"/>
                </a:solidFill>
              </a:rPr>
              <a:t>+4x</a:t>
            </a:r>
            <a:r>
              <a:rPr lang="en-US" sz="2000" baseline="30000" dirty="0" smtClean="0">
                <a:solidFill>
                  <a:schemeClr val="tx1"/>
                </a:solidFill>
              </a:rPr>
              <a:t>3</a:t>
            </a:r>
            <a:r>
              <a:rPr lang="en-US" sz="2000" dirty="0" smtClean="0">
                <a:solidFill>
                  <a:schemeClr val="tx1"/>
                </a:solidFill>
              </a:rPr>
              <a:t>+3x</a:t>
            </a:r>
            <a:r>
              <a:rPr lang="en-US" sz="2000" baseline="30000" dirty="0" smtClean="0">
                <a:solidFill>
                  <a:schemeClr val="tx1"/>
                </a:solidFill>
              </a:rPr>
              <a:t>2</a:t>
            </a:r>
            <a:r>
              <a:rPr lang="en-US" sz="2000" dirty="0" smtClean="0">
                <a:solidFill>
                  <a:schemeClr val="tx1"/>
                </a:solidFill>
              </a:rPr>
              <a:t>+2x+1                                  4</a:t>
            </a:r>
          </a:p>
          <a:p>
            <a:endParaRPr lang="en-US" sz="2000" dirty="0" smtClean="0">
              <a:solidFill>
                <a:schemeClr val="tx1"/>
              </a:solidFill>
            </a:endParaRPr>
          </a:p>
          <a:p>
            <a:pPr marL="342900" indent="-342900">
              <a:buFont typeface="Wingdings" panose="05000000000000000000" pitchFamily="2" charset="2"/>
              <a:buChar char="v"/>
            </a:pPr>
            <a:r>
              <a:rPr lang="en-US" sz="2000" i="1" dirty="0" smtClean="0">
                <a:solidFill>
                  <a:schemeClr val="tx1"/>
                </a:solidFill>
              </a:rPr>
              <a:t>We can define </a:t>
            </a:r>
            <a:r>
              <a:rPr lang="en-US" sz="2000" i="1" dirty="0">
                <a:solidFill>
                  <a:schemeClr val="tx1"/>
                </a:solidFill>
              </a:rPr>
              <a:t>‘polynomial’ to be any function </a:t>
            </a:r>
            <a:r>
              <a:rPr lang="en-US" sz="2000" i="1" dirty="0" smtClean="0">
                <a:solidFill>
                  <a:schemeClr val="tx1"/>
                </a:solidFill>
              </a:rPr>
              <a:t>of the form:</a:t>
            </a:r>
          </a:p>
          <a:p>
            <a:r>
              <a:rPr lang="en-US" sz="2000" dirty="0">
                <a:solidFill>
                  <a:schemeClr val="tx1"/>
                </a:solidFill>
              </a:rPr>
              <a:t> </a:t>
            </a:r>
            <a:r>
              <a:rPr lang="en-US" sz="2000" dirty="0" smtClean="0">
                <a:solidFill>
                  <a:schemeClr val="tx1"/>
                </a:solidFill>
              </a:rPr>
              <a:t>    </a:t>
            </a:r>
            <a:r>
              <a:rPr lang="en-US" sz="2000" i="1" dirty="0" smtClean="0">
                <a:solidFill>
                  <a:schemeClr val="tx1"/>
                </a:solidFill>
              </a:rPr>
              <a:t>a </a:t>
            </a:r>
            <a:r>
              <a:rPr lang="en-US" sz="2000" i="1" baseline="-25000" dirty="0" smtClean="0">
                <a:solidFill>
                  <a:schemeClr val="tx1"/>
                </a:solidFill>
              </a:rPr>
              <a:t>k </a:t>
            </a:r>
            <a:r>
              <a:rPr lang="en-US" sz="2000" i="1" dirty="0" smtClean="0">
                <a:solidFill>
                  <a:schemeClr val="tx1"/>
                </a:solidFill>
              </a:rPr>
              <a:t>n </a:t>
            </a:r>
            <a:r>
              <a:rPr lang="en-US" sz="2000" i="1" baseline="30000" dirty="0" smtClean="0">
                <a:solidFill>
                  <a:schemeClr val="tx1"/>
                </a:solidFill>
              </a:rPr>
              <a:t>k</a:t>
            </a:r>
            <a:r>
              <a:rPr lang="en-US" sz="2000" i="1" dirty="0" smtClean="0">
                <a:solidFill>
                  <a:schemeClr val="tx1"/>
                </a:solidFill>
              </a:rPr>
              <a:t> </a:t>
            </a:r>
            <a:r>
              <a:rPr lang="en-US" sz="2000" i="1" dirty="0">
                <a:solidFill>
                  <a:schemeClr val="tx1"/>
                </a:solidFill>
              </a:rPr>
              <a:t>+ </a:t>
            </a:r>
            <a:r>
              <a:rPr lang="en-US" sz="2000" i="1" dirty="0" smtClean="0">
                <a:solidFill>
                  <a:schemeClr val="tx1"/>
                </a:solidFill>
              </a:rPr>
              <a:t>a </a:t>
            </a:r>
            <a:r>
              <a:rPr lang="en-US" sz="2000" i="1" baseline="-25000" dirty="0" smtClean="0">
                <a:solidFill>
                  <a:schemeClr val="tx1"/>
                </a:solidFill>
              </a:rPr>
              <a:t>k</a:t>
            </a:r>
            <a:r>
              <a:rPr lang="en-US" sz="2000" i="1" baseline="-25000" dirty="0">
                <a:solidFill>
                  <a:schemeClr val="tx1"/>
                </a:solidFill>
              </a:rPr>
              <a:t>−</a:t>
            </a:r>
            <a:r>
              <a:rPr lang="en-US" sz="2000" i="1" baseline="-25000" dirty="0" smtClean="0">
                <a:solidFill>
                  <a:schemeClr val="tx1"/>
                </a:solidFill>
              </a:rPr>
              <a:t>1 </a:t>
            </a:r>
            <a:r>
              <a:rPr lang="en-US" sz="2000" i="1" dirty="0" smtClean="0">
                <a:solidFill>
                  <a:schemeClr val="tx1"/>
                </a:solidFill>
              </a:rPr>
              <a:t>n </a:t>
            </a:r>
            <a:r>
              <a:rPr lang="en-US" sz="2000" i="1" baseline="30000" dirty="0" smtClean="0">
                <a:solidFill>
                  <a:schemeClr val="tx1"/>
                </a:solidFill>
              </a:rPr>
              <a:t>k</a:t>
            </a:r>
            <a:r>
              <a:rPr lang="en-US" sz="2000" i="1" baseline="30000" dirty="0">
                <a:solidFill>
                  <a:schemeClr val="tx1"/>
                </a:solidFill>
              </a:rPr>
              <a:t>−1</a:t>
            </a:r>
            <a:r>
              <a:rPr lang="en-US" sz="2000" i="1" dirty="0">
                <a:solidFill>
                  <a:schemeClr val="tx1"/>
                </a:solidFill>
              </a:rPr>
              <a:t> + . . . + </a:t>
            </a:r>
            <a:r>
              <a:rPr lang="en-US" sz="2000" i="1" dirty="0" smtClean="0">
                <a:solidFill>
                  <a:schemeClr val="tx1"/>
                </a:solidFill>
              </a:rPr>
              <a:t>a </a:t>
            </a:r>
            <a:r>
              <a:rPr lang="en-US" sz="2000" i="1" baseline="-25000" dirty="0" smtClean="0">
                <a:solidFill>
                  <a:schemeClr val="tx1"/>
                </a:solidFill>
              </a:rPr>
              <a:t>1</a:t>
            </a:r>
            <a:r>
              <a:rPr lang="en-US" sz="2000" i="1" dirty="0" smtClean="0">
                <a:solidFill>
                  <a:schemeClr val="tx1"/>
                </a:solidFill>
              </a:rPr>
              <a:t> n </a:t>
            </a:r>
            <a:r>
              <a:rPr lang="en-US" sz="2000" i="1" dirty="0">
                <a:solidFill>
                  <a:schemeClr val="tx1"/>
                </a:solidFill>
              </a:rPr>
              <a:t>+ </a:t>
            </a:r>
            <a:r>
              <a:rPr lang="en-US" sz="2000" i="1" dirty="0" smtClean="0">
                <a:solidFill>
                  <a:schemeClr val="tx1"/>
                </a:solidFill>
              </a:rPr>
              <a:t>a </a:t>
            </a:r>
            <a:r>
              <a:rPr lang="en-US" sz="2000" i="1" baseline="-25000" dirty="0" smtClean="0">
                <a:solidFill>
                  <a:schemeClr val="tx1"/>
                </a:solidFill>
              </a:rPr>
              <a:t>0</a:t>
            </a:r>
            <a:r>
              <a:rPr lang="en-US" sz="2000" i="1" dirty="0">
                <a:solidFill>
                  <a:schemeClr val="tx1"/>
                </a:solidFill>
              </a:rPr>
              <a:t>.</a:t>
            </a:r>
          </a:p>
          <a:p>
            <a:endParaRPr lang="en-US" sz="2000" dirty="0" smtClean="0">
              <a:solidFill>
                <a:schemeClr val="tx1"/>
              </a:solidFill>
            </a:endParaRPr>
          </a:p>
        </p:txBody>
      </p:sp>
    </p:spTree>
    <p:extLst>
      <p:ext uri="{BB962C8B-B14F-4D97-AF65-F5344CB8AC3E}">
        <p14:creationId xmlns:p14="http://schemas.microsoft.com/office/powerpoint/2010/main" val="24094901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Polynomial Function</a:t>
            </a:r>
            <a:endParaRPr lang="en-US" sz="4000" dirty="0"/>
          </a:p>
        </p:txBody>
      </p:sp>
      <p:sp>
        <p:nvSpPr>
          <p:cNvPr id="3" name="Subtitle 2"/>
          <p:cNvSpPr>
            <a:spLocks noGrp="1"/>
          </p:cNvSpPr>
          <p:nvPr>
            <p:ph type="subTitle" idx="1"/>
          </p:nvPr>
        </p:nvSpPr>
        <p:spPr>
          <a:xfrm>
            <a:off x="1996750" y="1035698"/>
            <a:ext cx="10011747" cy="5327779"/>
          </a:xfrm>
        </p:spPr>
        <p:txBody>
          <a:bodyPr>
            <a:noAutofit/>
          </a:bodyPr>
          <a:lstStyle/>
          <a:p>
            <a:pPr algn="ctr"/>
            <a:r>
              <a:rPr lang="pt-BR" sz="2000" b="1" dirty="0" smtClean="0">
                <a:solidFill>
                  <a:schemeClr val="tx1"/>
                </a:solidFill>
              </a:rPr>
              <a:t>In algorithmic point of view, the polynomial function is defined as:</a:t>
            </a:r>
          </a:p>
          <a:p>
            <a:pPr algn="just"/>
            <a:r>
              <a:rPr lang="pt-BR" sz="2000" dirty="0" smtClean="0">
                <a:solidFill>
                  <a:schemeClr val="tx1"/>
                </a:solidFill>
              </a:rPr>
              <a:t> </a:t>
            </a:r>
          </a:p>
          <a:p>
            <a:pPr marL="342900" indent="-342900" algn="just">
              <a:buFont typeface="Wingdings" panose="05000000000000000000" pitchFamily="2" charset="2"/>
              <a:buChar char="v"/>
            </a:pPr>
            <a:r>
              <a:rPr lang="pt-BR" sz="2000" dirty="0" smtClean="0">
                <a:solidFill>
                  <a:schemeClr val="tx1"/>
                </a:solidFill>
              </a:rPr>
              <a:t>Any </a:t>
            </a:r>
            <a:r>
              <a:rPr lang="pt-BR" sz="2000" dirty="0">
                <a:solidFill>
                  <a:schemeClr val="tx1"/>
                </a:solidFill>
              </a:rPr>
              <a:t>function that is </a:t>
            </a:r>
            <a:r>
              <a:rPr lang="pt-BR" sz="2000" dirty="0" smtClean="0">
                <a:solidFill>
                  <a:schemeClr val="tx1"/>
                </a:solidFill>
              </a:rPr>
              <a:t>O(n</a:t>
            </a:r>
            <a:r>
              <a:rPr lang="pt-BR" sz="2000" baseline="30000" dirty="0" smtClean="0">
                <a:solidFill>
                  <a:schemeClr val="tx1"/>
                </a:solidFill>
              </a:rPr>
              <a:t>k </a:t>
            </a:r>
            <a:r>
              <a:rPr lang="pt-BR" sz="2000" dirty="0">
                <a:solidFill>
                  <a:schemeClr val="tx1"/>
                </a:solidFill>
              </a:rPr>
              <a:t>), i.e. bounded from above by </a:t>
            </a:r>
            <a:r>
              <a:rPr lang="pt-BR" sz="2000" dirty="0" smtClean="0">
                <a:solidFill>
                  <a:schemeClr val="tx1"/>
                </a:solidFill>
              </a:rPr>
              <a:t>n</a:t>
            </a:r>
            <a:r>
              <a:rPr lang="pt-BR" sz="2000" baseline="30000" dirty="0" smtClean="0">
                <a:solidFill>
                  <a:schemeClr val="tx1"/>
                </a:solidFill>
              </a:rPr>
              <a:t>k</a:t>
            </a:r>
            <a:r>
              <a:rPr lang="pt-BR" sz="2000" dirty="0" smtClean="0">
                <a:solidFill>
                  <a:schemeClr val="tx1"/>
                </a:solidFill>
              </a:rPr>
              <a:t> </a:t>
            </a:r>
            <a:r>
              <a:rPr lang="pt-BR" sz="2000" dirty="0">
                <a:solidFill>
                  <a:schemeClr val="tx1"/>
                </a:solidFill>
              </a:rPr>
              <a:t>for some constant k</a:t>
            </a:r>
            <a:r>
              <a:rPr lang="pt-BR" sz="2000" dirty="0" smtClean="0">
                <a:solidFill>
                  <a:schemeClr val="tx1"/>
                </a:solidFill>
              </a:rPr>
              <a:t>.</a:t>
            </a:r>
          </a:p>
          <a:p>
            <a:pPr marL="342900" indent="-342900" algn="just">
              <a:buFont typeface="Wingdings" panose="05000000000000000000" pitchFamily="2" charset="2"/>
              <a:buChar char="v"/>
            </a:pPr>
            <a:r>
              <a:rPr lang="en-US" sz="2000" dirty="0" smtClean="0">
                <a:solidFill>
                  <a:schemeClr val="tx1"/>
                </a:solidFill>
              </a:rPr>
              <a:t>Alternatively, on </a:t>
            </a:r>
            <a:r>
              <a:rPr lang="en-US" sz="2000" dirty="0">
                <a:solidFill>
                  <a:schemeClr val="tx1"/>
                </a:solidFill>
              </a:rPr>
              <a:t>an input of size </a:t>
            </a:r>
            <a:r>
              <a:rPr lang="en-US" sz="2000" i="1" dirty="0">
                <a:solidFill>
                  <a:schemeClr val="tx1"/>
                </a:solidFill>
              </a:rPr>
              <a:t>n </a:t>
            </a:r>
            <a:r>
              <a:rPr lang="en-US" sz="2000" dirty="0">
                <a:solidFill>
                  <a:schemeClr val="tx1"/>
                </a:solidFill>
              </a:rPr>
              <a:t>the worst-case running time is O(</a:t>
            </a:r>
            <a:r>
              <a:rPr lang="en-US" sz="2000" i="1" dirty="0" err="1">
                <a:solidFill>
                  <a:schemeClr val="tx1"/>
                </a:solidFill>
              </a:rPr>
              <a:t>n</a:t>
            </a:r>
            <a:r>
              <a:rPr lang="en-US" sz="2000" i="1" baseline="30000" dirty="0" err="1">
                <a:solidFill>
                  <a:schemeClr val="tx1"/>
                </a:solidFill>
              </a:rPr>
              <a:t>k</a:t>
            </a:r>
            <a:r>
              <a:rPr lang="en-US" sz="2000" dirty="0">
                <a:solidFill>
                  <a:schemeClr val="tx1"/>
                </a:solidFill>
              </a:rPr>
              <a:t>) for some constant </a:t>
            </a:r>
            <a:r>
              <a:rPr lang="en-US" sz="2000" i="1" dirty="0" smtClean="0">
                <a:solidFill>
                  <a:schemeClr val="tx1"/>
                </a:solidFill>
              </a:rPr>
              <a:t>k.</a:t>
            </a:r>
          </a:p>
          <a:p>
            <a:pPr algn="just"/>
            <a:r>
              <a:rPr lang="pt-BR" sz="2000" dirty="0" smtClean="0">
                <a:solidFill>
                  <a:schemeClr val="tx1"/>
                </a:solidFill>
              </a:rPr>
              <a:t>                        e.g</a:t>
            </a:r>
            <a:r>
              <a:rPr lang="pt-BR" sz="2000" dirty="0">
                <a:solidFill>
                  <a:schemeClr val="tx1"/>
                </a:solidFill>
              </a:rPr>
              <a:t>. O(1), O(log n), O(n), O(n × log n), O(n </a:t>
            </a:r>
            <a:r>
              <a:rPr lang="pt-BR" sz="2000" baseline="30000" dirty="0">
                <a:solidFill>
                  <a:schemeClr val="tx1"/>
                </a:solidFill>
              </a:rPr>
              <a:t>2</a:t>
            </a:r>
            <a:r>
              <a:rPr lang="pt-BR" sz="2000" dirty="0">
                <a:solidFill>
                  <a:schemeClr val="tx1"/>
                </a:solidFill>
              </a:rPr>
              <a:t> ), O(n </a:t>
            </a:r>
            <a:r>
              <a:rPr lang="pt-BR" sz="2000" baseline="30000" dirty="0">
                <a:solidFill>
                  <a:schemeClr val="tx1"/>
                </a:solidFill>
              </a:rPr>
              <a:t>3</a:t>
            </a:r>
            <a:r>
              <a:rPr lang="pt-BR" sz="2000" dirty="0">
                <a:solidFill>
                  <a:schemeClr val="tx1"/>
                </a:solidFill>
              </a:rPr>
              <a:t> ) </a:t>
            </a:r>
          </a:p>
          <a:p>
            <a:pPr algn="just"/>
            <a:endParaRPr lang="en-US" sz="2000" i="1" dirty="0">
              <a:solidFill>
                <a:schemeClr val="tx1"/>
              </a:solidFill>
            </a:endParaRPr>
          </a:p>
          <a:p>
            <a:pPr marL="342900" indent="-342900" algn="just">
              <a:buFont typeface="Wingdings" panose="05000000000000000000" pitchFamily="2" charset="2"/>
              <a:buChar char="ü"/>
            </a:pPr>
            <a:r>
              <a:rPr lang="en-US" sz="2000" dirty="0">
                <a:solidFill>
                  <a:schemeClr val="tx1"/>
                </a:solidFill>
              </a:rPr>
              <a:t>This is really a different definition of the word ‘polynomial’ from the </a:t>
            </a:r>
            <a:r>
              <a:rPr lang="en-US" sz="2000" dirty="0" smtClean="0">
                <a:solidFill>
                  <a:schemeClr val="tx1"/>
                </a:solidFill>
              </a:rPr>
              <a:t>original sense. </a:t>
            </a:r>
          </a:p>
          <a:p>
            <a:pPr marL="342900" indent="-342900" algn="just">
              <a:buFont typeface="Wingdings" panose="05000000000000000000" pitchFamily="2" charset="2"/>
              <a:buChar char="ü"/>
            </a:pPr>
            <a:r>
              <a:rPr lang="en-US" sz="2000" dirty="0">
                <a:solidFill>
                  <a:schemeClr val="tx1"/>
                </a:solidFill>
              </a:rPr>
              <a:t>So, log n and n × log n, which are </a:t>
            </a:r>
            <a:r>
              <a:rPr lang="en-US" sz="2000" dirty="0" smtClean="0">
                <a:solidFill>
                  <a:schemeClr val="tx1"/>
                </a:solidFill>
              </a:rPr>
              <a:t>not polynomials </a:t>
            </a:r>
            <a:r>
              <a:rPr lang="en-US" sz="2000" dirty="0">
                <a:solidFill>
                  <a:schemeClr val="tx1"/>
                </a:solidFill>
              </a:rPr>
              <a:t>in our original sense, are polynomials by our alternative definition</a:t>
            </a:r>
            <a:r>
              <a:rPr lang="en-US" sz="2000" dirty="0" smtClean="0">
                <a:solidFill>
                  <a:schemeClr val="tx1"/>
                </a:solidFill>
              </a:rPr>
              <a:t>, because </a:t>
            </a:r>
            <a:r>
              <a:rPr lang="en-US" sz="2000" dirty="0">
                <a:solidFill>
                  <a:schemeClr val="tx1"/>
                </a:solidFill>
              </a:rPr>
              <a:t>they are bounded from above by, e.g., n and n</a:t>
            </a:r>
            <a:r>
              <a:rPr lang="en-US" sz="2000" baseline="30000" dirty="0">
                <a:solidFill>
                  <a:schemeClr val="tx1"/>
                </a:solidFill>
              </a:rPr>
              <a:t>2</a:t>
            </a:r>
            <a:r>
              <a:rPr lang="en-US" sz="2000" dirty="0">
                <a:solidFill>
                  <a:schemeClr val="tx1"/>
                </a:solidFill>
              </a:rPr>
              <a:t> respectively.</a:t>
            </a:r>
            <a:endParaRPr lang="en-US" sz="2000" dirty="0" smtClean="0">
              <a:solidFill>
                <a:schemeClr val="tx1"/>
              </a:solidFill>
            </a:endParaRPr>
          </a:p>
        </p:txBody>
      </p:sp>
    </p:spTree>
    <p:extLst>
      <p:ext uri="{BB962C8B-B14F-4D97-AF65-F5344CB8AC3E}">
        <p14:creationId xmlns:p14="http://schemas.microsoft.com/office/powerpoint/2010/main" val="1848313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smtClean="0"/>
              <a:t>Exponential Function</a:t>
            </a:r>
            <a:endParaRPr lang="en-US" sz="4000" dirty="0"/>
          </a:p>
        </p:txBody>
      </p:sp>
      <p:sp>
        <p:nvSpPr>
          <p:cNvPr id="3" name="Subtitle 2"/>
          <p:cNvSpPr>
            <a:spLocks noGrp="1"/>
          </p:cNvSpPr>
          <p:nvPr>
            <p:ph type="subTitle" idx="1"/>
          </p:nvPr>
        </p:nvSpPr>
        <p:spPr>
          <a:xfrm>
            <a:off x="2043404" y="1119674"/>
            <a:ext cx="9498529" cy="5514392"/>
          </a:xfrm>
        </p:spPr>
        <p:txBody>
          <a:bodyPr>
            <a:normAutofit/>
          </a:bodyPr>
          <a:lstStyle/>
          <a:p>
            <a:pPr marL="342900" indent="-342900">
              <a:buFont typeface="Wingdings" panose="05000000000000000000" pitchFamily="2" charset="2"/>
              <a:buChar char="Ø"/>
            </a:pPr>
            <a:r>
              <a:rPr lang="en-US" sz="2000" dirty="0" smtClean="0">
                <a:solidFill>
                  <a:schemeClr val="tx1"/>
                </a:solidFill>
                <a:latin typeface="+mj-lt"/>
                <a:cs typeface="Courier New" panose="02070309020205020404" pitchFamily="49" charset="0"/>
              </a:rPr>
              <a:t>Exponential function (</a:t>
            </a:r>
            <a:r>
              <a:rPr lang="en-US" sz="2000" dirty="0">
                <a:solidFill>
                  <a:schemeClr val="tx1"/>
                </a:solidFill>
                <a:cs typeface="Courier New" panose="02070309020205020404" pitchFamily="49" charset="0"/>
              </a:rPr>
              <a:t>Super-Polynomial</a:t>
            </a:r>
            <a:r>
              <a:rPr lang="en-US" sz="2000" dirty="0" smtClean="0">
                <a:solidFill>
                  <a:schemeClr val="tx1"/>
                </a:solidFill>
                <a:latin typeface="+mj-lt"/>
                <a:cs typeface="Courier New" panose="02070309020205020404" pitchFamily="49" charset="0"/>
              </a:rPr>
              <a:t>)</a:t>
            </a:r>
          </a:p>
          <a:p>
            <a:endParaRPr lang="en-US" sz="2000" dirty="0" smtClean="0">
              <a:solidFill>
                <a:schemeClr val="tx1"/>
              </a:solidFill>
              <a:latin typeface="+mj-lt"/>
              <a:cs typeface="Courier New" panose="02070309020205020404" pitchFamily="49" charset="0"/>
            </a:endParaRPr>
          </a:p>
          <a:p>
            <a:r>
              <a:rPr lang="en-US" sz="2000" dirty="0">
                <a:solidFill>
                  <a:schemeClr val="tx1"/>
                </a:solidFill>
              </a:rPr>
              <a:t>The </a:t>
            </a:r>
            <a:r>
              <a:rPr lang="en-US" sz="2000" dirty="0" smtClean="0">
                <a:solidFill>
                  <a:schemeClr val="tx1"/>
                </a:solidFill>
              </a:rPr>
              <a:t>lower section in considered as </a:t>
            </a:r>
            <a:br>
              <a:rPr lang="en-US" sz="2000" dirty="0" smtClean="0">
                <a:solidFill>
                  <a:schemeClr val="tx1"/>
                </a:solidFill>
              </a:rPr>
            </a:br>
            <a:r>
              <a:rPr lang="en-US" sz="2000" dirty="0" smtClean="0">
                <a:solidFill>
                  <a:schemeClr val="tx1"/>
                </a:solidFill>
              </a:rPr>
              <a:t>exponential functions</a:t>
            </a:r>
            <a:r>
              <a:rPr lang="en-US" sz="2000" dirty="0">
                <a:solidFill>
                  <a:schemeClr val="tx1"/>
                </a:solidFill>
              </a:rPr>
              <a:t>.</a:t>
            </a:r>
          </a:p>
          <a:p>
            <a:r>
              <a:rPr lang="en-US" sz="2000" dirty="0" smtClean="0">
                <a:solidFill>
                  <a:schemeClr val="tx1"/>
                </a:solidFill>
              </a:rPr>
              <a:t>e.g</a:t>
            </a:r>
            <a:r>
              <a:rPr lang="en-US" sz="2000" dirty="0">
                <a:solidFill>
                  <a:schemeClr val="tx1"/>
                </a:solidFill>
              </a:rPr>
              <a:t>. </a:t>
            </a:r>
            <a:r>
              <a:rPr lang="en-US" sz="2000" dirty="0" smtClean="0">
                <a:solidFill>
                  <a:schemeClr val="tx1"/>
                </a:solidFill>
              </a:rPr>
              <a:t>O(2 </a:t>
            </a:r>
            <a:r>
              <a:rPr lang="en-US" sz="2000" baseline="30000" dirty="0" smtClean="0">
                <a:solidFill>
                  <a:schemeClr val="tx1"/>
                </a:solidFill>
              </a:rPr>
              <a:t>n</a:t>
            </a:r>
            <a:r>
              <a:rPr lang="en-US" sz="2000" dirty="0">
                <a:solidFill>
                  <a:schemeClr val="tx1"/>
                </a:solidFill>
              </a:rPr>
              <a:t>), O(n!), </a:t>
            </a:r>
            <a:r>
              <a:rPr lang="en-US" sz="2000" dirty="0" smtClean="0">
                <a:solidFill>
                  <a:schemeClr val="tx1"/>
                </a:solidFill>
              </a:rPr>
              <a:t>O(n </a:t>
            </a:r>
            <a:r>
              <a:rPr lang="en-US" sz="2000" baseline="30000" dirty="0" smtClean="0">
                <a:solidFill>
                  <a:schemeClr val="tx1"/>
                </a:solidFill>
              </a:rPr>
              <a:t>n</a:t>
            </a:r>
            <a:r>
              <a:rPr lang="en-US" sz="2000" dirty="0">
                <a:solidFill>
                  <a:schemeClr val="tx1"/>
                </a:solidFill>
              </a:rPr>
              <a:t>)</a:t>
            </a:r>
            <a:endParaRPr lang="en-US" sz="2000" dirty="0">
              <a:solidFill>
                <a:schemeClr val="tx1"/>
              </a:solidFill>
              <a:latin typeface="+mj-lt"/>
              <a:cs typeface="Courier New" panose="02070309020205020404" pitchFamily="49" charset="0"/>
            </a:endParaRPr>
          </a:p>
          <a:p>
            <a:endParaRPr lang="en-US" sz="2000" dirty="0" smtClean="0">
              <a:solidFill>
                <a:schemeClr val="tx1"/>
              </a:solidFill>
              <a:latin typeface="+mj-lt"/>
              <a:cs typeface="Courier New" panose="02070309020205020404" pitchFamily="49" charset="0"/>
            </a:endParaRPr>
          </a:p>
          <a:p>
            <a:r>
              <a:rPr lang="en-US" sz="2000" dirty="0" smtClean="0">
                <a:solidFill>
                  <a:schemeClr val="tx1"/>
                </a:solidFill>
                <a:latin typeface="+mj-lt"/>
                <a:cs typeface="Courier New" panose="02070309020205020404" pitchFamily="49" charset="0"/>
              </a:rPr>
              <a:t>Super-Polynomial function are: </a:t>
            </a:r>
            <a:br>
              <a:rPr lang="en-US" sz="2000" dirty="0" smtClean="0">
                <a:solidFill>
                  <a:schemeClr val="tx1"/>
                </a:solidFill>
                <a:latin typeface="+mj-lt"/>
                <a:cs typeface="Courier New" panose="02070309020205020404" pitchFamily="49" charset="0"/>
              </a:rPr>
            </a:br>
            <a:r>
              <a:rPr lang="en-US" sz="2000" dirty="0" smtClean="0">
                <a:solidFill>
                  <a:schemeClr val="tx1"/>
                </a:solidFill>
                <a:latin typeface="+mj-lt"/>
                <a:cs typeface="Courier New" panose="02070309020205020404" pitchFamily="49" charset="0"/>
              </a:rPr>
              <a:t>   </a:t>
            </a:r>
          </a:p>
          <a:p>
            <a:pPr marL="342900" indent="-342900">
              <a:buFont typeface="Wingdings" panose="05000000000000000000" pitchFamily="2" charset="2"/>
              <a:buChar char="Ø"/>
            </a:pPr>
            <a:r>
              <a:rPr lang="en-US" dirty="0" smtClean="0">
                <a:solidFill>
                  <a:schemeClr val="tx1"/>
                </a:solidFill>
                <a:latin typeface="+mj-lt"/>
                <a:cs typeface="Courier New" panose="02070309020205020404" pitchFamily="49" charset="0"/>
              </a:rPr>
              <a:t>Exponential: </a:t>
            </a:r>
            <a:r>
              <a:rPr lang="en-US" dirty="0">
                <a:solidFill>
                  <a:schemeClr val="tx1"/>
                </a:solidFill>
              </a:rPr>
              <a:t>A function of the form </a:t>
            </a:r>
            <a:r>
              <a:rPr lang="en-US" i="1" dirty="0" err="1" smtClean="0">
                <a:solidFill>
                  <a:schemeClr val="tx1"/>
                </a:solidFill>
              </a:rPr>
              <a:t>k</a:t>
            </a:r>
            <a:r>
              <a:rPr lang="en-US" i="1" baseline="30000" dirty="0" err="1" smtClean="0">
                <a:solidFill>
                  <a:schemeClr val="tx1"/>
                </a:solidFill>
              </a:rPr>
              <a:t>n</a:t>
            </a:r>
            <a:r>
              <a:rPr lang="en-US" i="1" dirty="0" smtClean="0">
                <a:solidFill>
                  <a:schemeClr val="tx1"/>
                </a:solidFill>
              </a:rPr>
              <a:t> </a:t>
            </a:r>
            <a:r>
              <a:rPr lang="en-US" dirty="0">
                <a:solidFill>
                  <a:schemeClr val="tx1"/>
                </a:solidFill>
              </a:rPr>
              <a:t>is </a:t>
            </a:r>
            <a:r>
              <a:rPr lang="en-US" dirty="0" smtClean="0">
                <a:solidFill>
                  <a:schemeClr val="tx1"/>
                </a:solidFill>
              </a:rPr>
              <a:t>genuinely exponential</a:t>
            </a:r>
            <a:r>
              <a:rPr lang="en-US" dirty="0">
                <a:solidFill>
                  <a:schemeClr val="tx1"/>
                </a:solidFill>
              </a:rPr>
              <a:t>.</a:t>
            </a:r>
            <a:r>
              <a:rPr lang="en-US" dirty="0" smtClean="0">
                <a:solidFill>
                  <a:schemeClr val="tx1"/>
                </a:solidFill>
                <a:latin typeface="+mj-lt"/>
                <a:cs typeface="Courier New" panose="02070309020205020404" pitchFamily="49" charset="0"/>
              </a:rPr>
              <a:t/>
            </a:r>
            <a:br>
              <a:rPr lang="en-US" dirty="0" smtClean="0">
                <a:solidFill>
                  <a:schemeClr val="tx1"/>
                </a:solidFill>
                <a:latin typeface="+mj-lt"/>
                <a:cs typeface="Courier New" panose="02070309020205020404" pitchFamily="49" charset="0"/>
              </a:rPr>
            </a:br>
            <a:r>
              <a:rPr lang="en-US" dirty="0" smtClean="0">
                <a:solidFill>
                  <a:schemeClr val="tx1"/>
                </a:solidFill>
                <a:latin typeface="+mj-lt"/>
                <a:cs typeface="Courier New" panose="02070309020205020404" pitchFamily="49" charset="0"/>
              </a:rPr>
              <a:t>   </a:t>
            </a:r>
          </a:p>
          <a:p>
            <a:pPr marL="285750" indent="-285750">
              <a:buFont typeface="Wingdings" panose="05000000000000000000" pitchFamily="2" charset="2"/>
              <a:buChar char="Ø"/>
            </a:pPr>
            <a:r>
              <a:rPr lang="en-US" dirty="0" smtClean="0">
                <a:solidFill>
                  <a:schemeClr val="tx1"/>
                </a:solidFill>
                <a:latin typeface="+mj-lt"/>
                <a:cs typeface="Courier New" panose="02070309020205020404" pitchFamily="49" charset="0"/>
              </a:rPr>
              <a:t> S</a:t>
            </a:r>
            <a:r>
              <a:rPr lang="en-US" dirty="0" smtClean="0">
                <a:solidFill>
                  <a:schemeClr val="tx1"/>
                </a:solidFill>
              </a:rPr>
              <a:t>ome </a:t>
            </a:r>
            <a:r>
              <a:rPr lang="en-US" dirty="0">
                <a:solidFill>
                  <a:schemeClr val="tx1"/>
                </a:solidFill>
              </a:rPr>
              <a:t>functions which are </a:t>
            </a:r>
            <a:r>
              <a:rPr lang="en-US" dirty="0" smtClean="0">
                <a:solidFill>
                  <a:schemeClr val="tx1"/>
                </a:solidFill>
              </a:rPr>
              <a:t>worse </a:t>
            </a:r>
            <a:r>
              <a:rPr lang="en-US" dirty="0">
                <a:solidFill>
                  <a:schemeClr val="tx1"/>
                </a:solidFill>
              </a:rPr>
              <a:t>than </a:t>
            </a:r>
            <a:r>
              <a:rPr lang="en-US" dirty="0" smtClean="0">
                <a:solidFill>
                  <a:schemeClr val="tx1"/>
                </a:solidFill>
              </a:rPr>
              <a:t>polynomial but not </a:t>
            </a:r>
            <a:r>
              <a:rPr lang="en-US" dirty="0">
                <a:solidFill>
                  <a:schemeClr val="tx1"/>
                </a:solidFill>
              </a:rPr>
              <a:t>quite exponential, </a:t>
            </a:r>
            <a:r>
              <a:rPr lang="en-US" dirty="0" smtClean="0">
                <a:solidFill>
                  <a:schemeClr val="tx1"/>
                </a:solidFill>
              </a:rPr>
              <a:t/>
            </a:r>
            <a:br>
              <a:rPr lang="en-US" dirty="0" smtClean="0">
                <a:solidFill>
                  <a:schemeClr val="tx1"/>
                </a:solidFill>
              </a:rPr>
            </a:br>
            <a:r>
              <a:rPr lang="en-US" dirty="0" smtClean="0">
                <a:solidFill>
                  <a:schemeClr val="tx1"/>
                </a:solidFill>
              </a:rPr>
              <a:t>   such </a:t>
            </a:r>
            <a:r>
              <a:rPr lang="en-US" dirty="0">
                <a:solidFill>
                  <a:schemeClr val="tx1"/>
                </a:solidFill>
              </a:rPr>
              <a:t>as </a:t>
            </a:r>
            <a:r>
              <a:rPr lang="en-US" dirty="0" smtClean="0">
                <a:solidFill>
                  <a:schemeClr val="tx1"/>
                </a:solidFill>
              </a:rPr>
              <a:t>O(n </a:t>
            </a:r>
            <a:r>
              <a:rPr lang="en-US" baseline="30000" dirty="0" smtClean="0">
                <a:solidFill>
                  <a:schemeClr val="tx1"/>
                </a:solidFill>
              </a:rPr>
              <a:t>log </a:t>
            </a:r>
            <a:r>
              <a:rPr lang="en-US" baseline="30000" dirty="0">
                <a:solidFill>
                  <a:schemeClr val="tx1"/>
                </a:solidFill>
              </a:rPr>
              <a:t>n</a:t>
            </a:r>
            <a:r>
              <a:rPr lang="en-US" dirty="0" smtClean="0">
                <a:solidFill>
                  <a:schemeClr val="tx1"/>
                </a:solidFill>
              </a:rPr>
              <a:t>)</a:t>
            </a:r>
          </a:p>
          <a:p>
            <a:pPr marL="285750" indent="-285750">
              <a:buFont typeface="Wingdings" panose="05000000000000000000" pitchFamily="2" charset="2"/>
              <a:buChar char="Ø"/>
            </a:pPr>
            <a:r>
              <a:rPr lang="en-US" dirty="0" smtClean="0">
                <a:solidFill>
                  <a:schemeClr val="tx1"/>
                </a:solidFill>
              </a:rPr>
              <a:t>Some </a:t>
            </a:r>
            <a:r>
              <a:rPr lang="en-US" dirty="0">
                <a:solidFill>
                  <a:schemeClr val="tx1"/>
                </a:solidFill>
              </a:rPr>
              <a:t>functions which are worse than </a:t>
            </a:r>
            <a:r>
              <a:rPr lang="en-US" dirty="0" smtClean="0">
                <a:solidFill>
                  <a:schemeClr val="tx1"/>
                </a:solidFill>
              </a:rPr>
              <a:t>exponential</a:t>
            </a:r>
            <a:r>
              <a:rPr lang="en-US" dirty="0">
                <a:solidFill>
                  <a:schemeClr val="tx1"/>
                </a:solidFill>
              </a:rPr>
              <a:t>, such as the </a:t>
            </a:r>
            <a:r>
              <a:rPr lang="en-US" dirty="0" smtClean="0">
                <a:solidFill>
                  <a:schemeClr val="tx1"/>
                </a:solidFill>
              </a:rPr>
              <a:t>super-exponentials,    e.g</a:t>
            </a:r>
            <a:r>
              <a:rPr lang="en-US" dirty="0">
                <a:solidFill>
                  <a:schemeClr val="tx1"/>
                </a:solidFill>
              </a:rPr>
              <a:t>. </a:t>
            </a:r>
            <a:r>
              <a:rPr lang="en-US" i="1" dirty="0" smtClean="0">
                <a:solidFill>
                  <a:schemeClr val="tx1"/>
                </a:solidFill>
              </a:rPr>
              <a:t>O(n </a:t>
            </a:r>
            <a:r>
              <a:rPr lang="en-US" i="1" baseline="30000" dirty="0" smtClean="0">
                <a:solidFill>
                  <a:schemeClr val="tx1"/>
                </a:solidFill>
              </a:rPr>
              <a:t>n</a:t>
            </a:r>
            <a:r>
              <a:rPr lang="en-US" i="1" dirty="0">
                <a:solidFill>
                  <a:schemeClr val="tx1"/>
                </a:solidFill>
              </a:rPr>
              <a:t>),</a:t>
            </a:r>
            <a:r>
              <a:rPr lang="en-US" i="1" dirty="0" smtClean="0">
                <a:solidFill>
                  <a:schemeClr val="tx1"/>
                </a:solidFill>
              </a:rPr>
              <a:t> </a:t>
            </a:r>
            <a:endParaRPr lang="en-US" i="1" dirty="0" smtClean="0">
              <a:solidFill>
                <a:schemeClr val="tx1"/>
              </a:solidFill>
              <a:latin typeface="+mj-lt"/>
              <a:cs typeface="Courier New" panose="02070309020205020404" pitchFamily="49" charset="0"/>
            </a:endParaRPr>
          </a:p>
          <a:p>
            <a:endParaRPr lang="en-US" dirty="0" smtClean="0">
              <a:solidFill>
                <a:schemeClr val="tx1"/>
              </a:solidFill>
              <a:latin typeface="+mj-lt"/>
              <a:cs typeface="Courier New" panose="02070309020205020404" pitchFamily="49" charset="0"/>
            </a:endParaRPr>
          </a:p>
          <a:p>
            <a:endParaRPr lang="pt-BR" dirty="0" smtClean="0">
              <a:solidFill>
                <a:schemeClr val="tx1"/>
              </a:solidFill>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7627159" y="1119674"/>
            <a:ext cx="3914775" cy="2381250"/>
          </a:xfrm>
          <a:prstGeom prst="rect">
            <a:avLst/>
          </a:prstGeom>
        </p:spPr>
      </p:pic>
    </p:spTree>
    <p:extLst>
      <p:ext uri="{BB962C8B-B14F-4D97-AF65-F5344CB8AC3E}">
        <p14:creationId xmlns:p14="http://schemas.microsoft.com/office/powerpoint/2010/main" val="188609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Computational Complexity</a:t>
            </a:r>
            <a:endParaRPr lang="en-US" sz="4000" dirty="0"/>
          </a:p>
        </p:txBody>
      </p:sp>
      <p:sp>
        <p:nvSpPr>
          <p:cNvPr id="3" name="Subtitle 2"/>
          <p:cNvSpPr>
            <a:spLocks noGrp="1"/>
          </p:cNvSpPr>
          <p:nvPr>
            <p:ph type="subTitle" idx="1"/>
          </p:nvPr>
        </p:nvSpPr>
        <p:spPr>
          <a:xfrm>
            <a:off x="1996750" y="1343606"/>
            <a:ext cx="10011747" cy="5019871"/>
          </a:xfrm>
        </p:spPr>
        <p:txBody>
          <a:bodyPr>
            <a:noAutofit/>
          </a:bodyPr>
          <a:lstStyle/>
          <a:p>
            <a:pPr algn="just"/>
            <a:endParaRPr lang="en-US" sz="2000" i="1" dirty="0">
              <a:solidFill>
                <a:schemeClr val="tx1"/>
              </a:solidFill>
            </a:endParaRPr>
          </a:p>
          <a:p>
            <a:endParaRPr lang="en-US" sz="2000" dirty="0" smtClean="0">
              <a:solidFill>
                <a:schemeClr val="tx1"/>
              </a:solidFill>
            </a:endParaRPr>
          </a:p>
        </p:txBody>
      </p:sp>
      <p:pic>
        <p:nvPicPr>
          <p:cNvPr id="4" name="Picture 3"/>
          <p:cNvPicPr>
            <a:picLocks noChangeAspect="1"/>
          </p:cNvPicPr>
          <p:nvPr/>
        </p:nvPicPr>
        <p:blipFill>
          <a:blip r:embed="rId2"/>
          <a:stretch>
            <a:fillRect/>
          </a:stretch>
        </p:blipFill>
        <p:spPr>
          <a:xfrm>
            <a:off x="2243817" y="1548881"/>
            <a:ext cx="6116412" cy="4446426"/>
          </a:xfrm>
          <a:prstGeom prst="rect">
            <a:avLst/>
          </a:prstGeom>
        </p:spPr>
      </p:pic>
      <p:pic>
        <p:nvPicPr>
          <p:cNvPr id="5" name="Picture 4"/>
          <p:cNvPicPr>
            <a:picLocks noChangeAspect="1"/>
          </p:cNvPicPr>
          <p:nvPr/>
        </p:nvPicPr>
        <p:blipFill>
          <a:blip r:embed="rId3"/>
          <a:stretch>
            <a:fillRect/>
          </a:stretch>
        </p:blipFill>
        <p:spPr>
          <a:xfrm>
            <a:off x="8509517" y="1548881"/>
            <a:ext cx="3424335" cy="3032449"/>
          </a:xfrm>
          <a:prstGeom prst="rect">
            <a:avLst/>
          </a:prstGeom>
        </p:spPr>
      </p:pic>
    </p:spTree>
    <p:extLst>
      <p:ext uri="{BB962C8B-B14F-4D97-AF65-F5344CB8AC3E}">
        <p14:creationId xmlns:p14="http://schemas.microsoft.com/office/powerpoint/2010/main" val="27965936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Complexity Classes</a:t>
            </a:r>
          </a:p>
        </p:txBody>
      </p:sp>
      <p:sp>
        <p:nvSpPr>
          <p:cNvPr id="3" name="Subtitle 2"/>
          <p:cNvSpPr>
            <a:spLocks noGrp="1"/>
          </p:cNvSpPr>
          <p:nvPr>
            <p:ph type="subTitle" idx="1"/>
          </p:nvPr>
        </p:nvSpPr>
        <p:spPr>
          <a:xfrm>
            <a:off x="1861426" y="961051"/>
            <a:ext cx="9899779" cy="5617031"/>
          </a:xfrm>
        </p:spPr>
        <p:txBody>
          <a:bodyPr>
            <a:noAutofit/>
          </a:bodyPr>
          <a:lstStyle/>
          <a:p>
            <a:r>
              <a:rPr lang="en-US" sz="2000" dirty="0" smtClean="0">
                <a:solidFill>
                  <a:schemeClr val="tx1"/>
                </a:solidFill>
              </a:rPr>
              <a:t>On </a:t>
            </a:r>
            <a:r>
              <a:rPr lang="en-US" sz="2000" dirty="0">
                <a:solidFill>
                  <a:schemeClr val="tx1"/>
                </a:solidFill>
              </a:rPr>
              <a:t>the basis of this classification of functions into polynomial and </a:t>
            </a:r>
            <a:r>
              <a:rPr lang="en-US" sz="2000" dirty="0" smtClean="0">
                <a:solidFill>
                  <a:schemeClr val="tx1"/>
                </a:solidFill>
              </a:rPr>
              <a:t>exponential</a:t>
            </a:r>
            <a:r>
              <a:rPr lang="en-US" sz="2000" dirty="0">
                <a:solidFill>
                  <a:schemeClr val="tx1"/>
                </a:solidFill>
              </a:rPr>
              <a:t>, </a:t>
            </a:r>
            <a:r>
              <a:rPr lang="en-US" sz="2000" dirty="0" smtClean="0">
                <a:solidFill>
                  <a:schemeClr val="tx1"/>
                </a:solidFill>
              </a:rPr>
              <a:t>we can </a:t>
            </a:r>
            <a:r>
              <a:rPr lang="en-US" sz="2000" dirty="0">
                <a:solidFill>
                  <a:schemeClr val="tx1"/>
                </a:solidFill>
              </a:rPr>
              <a:t>classify algorithms</a:t>
            </a:r>
            <a:r>
              <a:rPr lang="en-US" sz="2000" dirty="0" smtClean="0">
                <a:solidFill>
                  <a:schemeClr val="tx1"/>
                </a:solidFill>
              </a:rPr>
              <a:t>:</a:t>
            </a:r>
          </a:p>
          <a:p>
            <a:pPr marL="342900" indent="-342900" algn="just">
              <a:buFont typeface="Wingdings" panose="05000000000000000000" pitchFamily="2" charset="2"/>
              <a:buChar char="v"/>
            </a:pPr>
            <a:r>
              <a:rPr lang="en-US" sz="2000" dirty="0">
                <a:solidFill>
                  <a:schemeClr val="tx1"/>
                </a:solidFill>
              </a:rPr>
              <a:t>Polynomial-Time Algorithm: </a:t>
            </a:r>
            <a:r>
              <a:rPr lang="en-US" sz="2000" dirty="0" smtClean="0">
                <a:solidFill>
                  <a:schemeClr val="tx1"/>
                </a:solidFill>
              </a:rPr>
              <a:t>A</a:t>
            </a:r>
            <a:r>
              <a:rPr lang="en-US" sz="2000" dirty="0">
                <a:solidFill>
                  <a:schemeClr val="tx1"/>
                </a:solidFill>
              </a:rPr>
              <a:t> </a:t>
            </a:r>
            <a:r>
              <a:rPr lang="en-US" sz="2000" i="1" dirty="0">
                <a:solidFill>
                  <a:schemeClr val="tx1"/>
                </a:solidFill>
              </a:rPr>
              <a:t>polynomial-time algorithm</a:t>
            </a:r>
            <a:r>
              <a:rPr lang="en-US" sz="2000" dirty="0">
                <a:solidFill>
                  <a:schemeClr val="tx1"/>
                </a:solidFill>
              </a:rPr>
              <a:t> is an algorithm </a:t>
            </a:r>
            <a:r>
              <a:rPr lang="en-US" sz="2000" b="1" i="1" dirty="0">
                <a:solidFill>
                  <a:schemeClr val="tx1"/>
                </a:solidFill>
              </a:rPr>
              <a:t>whose execution time is either given by a polynomial on the size of the input,</a:t>
            </a:r>
            <a:r>
              <a:rPr lang="en-US" sz="2000" dirty="0">
                <a:solidFill>
                  <a:schemeClr val="tx1"/>
                </a:solidFill>
              </a:rPr>
              <a:t> or </a:t>
            </a:r>
            <a:r>
              <a:rPr lang="en-US" sz="2000" dirty="0" smtClean="0">
                <a:solidFill>
                  <a:schemeClr val="tx1"/>
                </a:solidFill>
              </a:rPr>
              <a:t>an </a:t>
            </a:r>
            <a:r>
              <a:rPr lang="en-US" sz="2000" dirty="0">
                <a:solidFill>
                  <a:schemeClr val="tx1"/>
                </a:solidFill>
              </a:rPr>
              <a:t>algorithm whose order-of-magnitude time </a:t>
            </a:r>
            <a:r>
              <a:rPr lang="en-US" sz="2000" dirty="0" smtClean="0">
                <a:solidFill>
                  <a:schemeClr val="tx1"/>
                </a:solidFill>
              </a:rPr>
              <a:t>performance is </a:t>
            </a:r>
            <a:r>
              <a:rPr lang="en-US" sz="2000" b="1" i="1" dirty="0">
                <a:solidFill>
                  <a:schemeClr val="tx1"/>
                </a:solidFill>
              </a:rPr>
              <a:t>bounded from above by a polynomial </a:t>
            </a:r>
            <a:r>
              <a:rPr lang="en-US" sz="2000" b="1" i="1" dirty="0" smtClean="0">
                <a:solidFill>
                  <a:schemeClr val="tx1"/>
                </a:solidFill>
              </a:rPr>
              <a:t>function</a:t>
            </a:r>
            <a:r>
              <a:rPr lang="en-US" sz="2000" i="1" dirty="0" smtClean="0">
                <a:solidFill>
                  <a:schemeClr val="tx1"/>
                </a:solidFill>
              </a:rPr>
              <a:t>. </a:t>
            </a:r>
            <a:r>
              <a:rPr lang="en-US" sz="2000" dirty="0" smtClean="0">
                <a:solidFill>
                  <a:schemeClr val="tx1"/>
                </a:solidFill>
              </a:rPr>
              <a:t> </a:t>
            </a:r>
          </a:p>
          <a:p>
            <a:r>
              <a:rPr lang="en-US" sz="2000" dirty="0" smtClean="0">
                <a:solidFill>
                  <a:schemeClr val="tx1"/>
                </a:solidFill>
              </a:rPr>
              <a:t>What </a:t>
            </a:r>
            <a:r>
              <a:rPr lang="en-US" sz="2000" dirty="0">
                <a:solidFill>
                  <a:schemeClr val="tx1"/>
                </a:solidFill>
              </a:rPr>
              <a:t>constitutes reasonable time?</a:t>
            </a:r>
          </a:p>
          <a:p>
            <a:r>
              <a:rPr lang="en-US" sz="2000" dirty="0">
                <a:solidFill>
                  <a:schemeClr val="tx1"/>
                </a:solidFill>
              </a:rPr>
              <a:t>– Standard working definition: </a:t>
            </a:r>
            <a:r>
              <a:rPr lang="en-US" sz="2000" i="1" dirty="0">
                <a:solidFill>
                  <a:schemeClr val="tx1"/>
                </a:solidFill>
              </a:rPr>
              <a:t>polynomial time</a:t>
            </a:r>
            <a:endParaRPr lang="en-US" sz="2000" dirty="0" smtClean="0">
              <a:solidFill>
                <a:schemeClr val="tx1"/>
              </a:solidFill>
            </a:endParaRPr>
          </a:p>
          <a:p>
            <a:pPr algn="just"/>
            <a:endParaRPr lang="en-US" sz="2000" dirty="0" smtClean="0">
              <a:solidFill>
                <a:schemeClr val="tx1"/>
              </a:solidFill>
            </a:endParaRPr>
          </a:p>
          <a:p>
            <a:pPr marL="342900" indent="-342900" algn="just">
              <a:buFont typeface="Wingdings" panose="05000000000000000000" pitchFamily="2" charset="2"/>
              <a:buChar char="v"/>
            </a:pPr>
            <a:r>
              <a:rPr lang="en-US" sz="2000" dirty="0" smtClean="0">
                <a:solidFill>
                  <a:schemeClr val="tx1"/>
                </a:solidFill>
              </a:rPr>
              <a:t>Exponential-Time Algorithm</a:t>
            </a:r>
            <a:r>
              <a:rPr lang="en-US" sz="2000" dirty="0">
                <a:solidFill>
                  <a:schemeClr val="tx1"/>
                </a:solidFill>
              </a:rPr>
              <a:t>: an algorithm whose order-of-magnitude time </a:t>
            </a:r>
            <a:r>
              <a:rPr lang="en-US" sz="2000" dirty="0" smtClean="0">
                <a:solidFill>
                  <a:schemeClr val="tx1"/>
                </a:solidFill>
              </a:rPr>
              <a:t>performance is </a:t>
            </a:r>
            <a:r>
              <a:rPr lang="en-US" sz="2000" b="1" i="1" dirty="0">
                <a:solidFill>
                  <a:schemeClr val="tx1"/>
                </a:solidFill>
              </a:rPr>
              <a:t>not bounded from above by a polynomial function of </a:t>
            </a:r>
            <a:r>
              <a:rPr lang="en-US" sz="2000" b="1" i="1" dirty="0" smtClean="0">
                <a:solidFill>
                  <a:schemeClr val="tx1"/>
                </a:solidFill>
              </a:rPr>
              <a:t>input n.</a:t>
            </a:r>
          </a:p>
          <a:p>
            <a:r>
              <a:rPr lang="en-US" sz="2000" dirty="0">
                <a:solidFill>
                  <a:schemeClr val="tx1"/>
                </a:solidFill>
              </a:rPr>
              <a:t>Are all problems solvable in </a:t>
            </a:r>
            <a:r>
              <a:rPr lang="en-US" sz="2000" dirty="0" smtClean="0">
                <a:solidFill>
                  <a:schemeClr val="tx1"/>
                </a:solidFill>
              </a:rPr>
              <a:t>polynomial time</a:t>
            </a:r>
            <a:r>
              <a:rPr lang="en-US" sz="2000" dirty="0">
                <a:solidFill>
                  <a:schemeClr val="tx1"/>
                </a:solidFill>
              </a:rPr>
              <a:t>?</a:t>
            </a:r>
          </a:p>
          <a:p>
            <a:r>
              <a:rPr lang="en-US" sz="2000" dirty="0">
                <a:solidFill>
                  <a:schemeClr val="tx1"/>
                </a:solidFill>
              </a:rPr>
              <a:t>– No: Turing’s “Halting Problem” is not </a:t>
            </a:r>
            <a:r>
              <a:rPr lang="en-US" sz="2000" dirty="0" smtClean="0">
                <a:solidFill>
                  <a:schemeClr val="tx1"/>
                </a:solidFill>
              </a:rPr>
              <a:t>solvable by </a:t>
            </a:r>
            <a:r>
              <a:rPr lang="en-US" sz="2000" dirty="0">
                <a:solidFill>
                  <a:schemeClr val="tx1"/>
                </a:solidFill>
              </a:rPr>
              <a:t>any computer, no matter how much time </a:t>
            </a:r>
            <a:r>
              <a:rPr lang="en-US" sz="2000" dirty="0" smtClean="0">
                <a:solidFill>
                  <a:schemeClr val="tx1"/>
                </a:solidFill>
              </a:rPr>
              <a:t>is given</a:t>
            </a:r>
            <a:r>
              <a:rPr lang="en-US" sz="2000" dirty="0">
                <a:solidFill>
                  <a:schemeClr val="tx1"/>
                </a:solidFill>
              </a:rPr>
              <a:t>.</a:t>
            </a:r>
          </a:p>
          <a:p>
            <a:pPr algn="just"/>
            <a:endParaRPr lang="en-US" sz="2000" dirty="0" smtClean="0">
              <a:solidFill>
                <a:schemeClr val="tx1"/>
              </a:solidFill>
            </a:endParaRPr>
          </a:p>
        </p:txBody>
      </p:sp>
    </p:spTree>
    <p:extLst>
      <p:ext uri="{BB962C8B-B14F-4D97-AF65-F5344CB8AC3E}">
        <p14:creationId xmlns:p14="http://schemas.microsoft.com/office/powerpoint/2010/main" val="18870692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Complexity Classes</a:t>
            </a:r>
          </a:p>
        </p:txBody>
      </p:sp>
      <p:sp>
        <p:nvSpPr>
          <p:cNvPr id="3" name="Subtitle 2"/>
          <p:cNvSpPr>
            <a:spLocks noGrp="1"/>
          </p:cNvSpPr>
          <p:nvPr>
            <p:ph type="subTitle" idx="1"/>
          </p:nvPr>
        </p:nvSpPr>
        <p:spPr>
          <a:xfrm>
            <a:off x="2043403" y="1343606"/>
            <a:ext cx="9647854" cy="5178491"/>
          </a:xfrm>
        </p:spPr>
        <p:txBody>
          <a:bodyPr>
            <a:noAutofit/>
          </a:bodyPr>
          <a:lstStyle/>
          <a:p>
            <a:r>
              <a:rPr lang="en-US" sz="2400" dirty="0">
                <a:solidFill>
                  <a:schemeClr val="tx1"/>
                </a:solidFill>
              </a:rPr>
              <a:t>Types of Problems</a:t>
            </a:r>
          </a:p>
          <a:p>
            <a:r>
              <a:rPr lang="en-US" sz="2400" dirty="0">
                <a:solidFill>
                  <a:schemeClr val="tx1"/>
                </a:solidFill>
              </a:rPr>
              <a:t>• </a:t>
            </a:r>
            <a:r>
              <a:rPr lang="en-US" sz="2400" dirty="0" smtClean="0">
                <a:solidFill>
                  <a:schemeClr val="tx1"/>
                </a:solidFill>
              </a:rPr>
              <a:t>Tractable</a:t>
            </a:r>
            <a:endParaRPr lang="en-US" sz="2400" dirty="0">
              <a:solidFill>
                <a:schemeClr val="tx1"/>
              </a:solidFill>
            </a:endParaRPr>
          </a:p>
          <a:p>
            <a:r>
              <a:rPr lang="en-US" sz="2400" dirty="0">
                <a:solidFill>
                  <a:schemeClr val="tx1"/>
                </a:solidFill>
              </a:rPr>
              <a:t>• </a:t>
            </a:r>
            <a:r>
              <a:rPr lang="en-US" sz="2400" dirty="0" smtClean="0">
                <a:solidFill>
                  <a:schemeClr val="tx1"/>
                </a:solidFill>
              </a:rPr>
              <a:t>Intractable</a:t>
            </a:r>
            <a:endParaRPr lang="en-US" sz="2400" dirty="0">
              <a:solidFill>
                <a:schemeClr val="tx1"/>
              </a:solidFill>
            </a:endParaRPr>
          </a:p>
          <a:p>
            <a:r>
              <a:rPr lang="en-US" sz="2400" dirty="0">
                <a:solidFill>
                  <a:schemeClr val="tx1"/>
                </a:solidFill>
              </a:rPr>
              <a:t>• Decision</a:t>
            </a:r>
          </a:p>
          <a:p>
            <a:r>
              <a:rPr lang="en-US" sz="2400" dirty="0">
                <a:solidFill>
                  <a:schemeClr val="tx1"/>
                </a:solidFill>
              </a:rPr>
              <a:t>• Optimization</a:t>
            </a:r>
          </a:p>
          <a:p>
            <a:endParaRPr lang="en-US" sz="2400" dirty="0" smtClean="0"/>
          </a:p>
          <a:p>
            <a:pPr marL="342900" indent="-342900" algn="just">
              <a:buFont typeface="Wingdings" panose="05000000000000000000" pitchFamily="2" charset="2"/>
              <a:buChar char="v"/>
            </a:pPr>
            <a:r>
              <a:rPr lang="en-US" sz="2000" dirty="0" smtClean="0">
                <a:solidFill>
                  <a:schemeClr val="tx1"/>
                </a:solidFill>
              </a:rPr>
              <a:t>Tractable </a:t>
            </a:r>
            <a:r>
              <a:rPr lang="en-US" sz="2000" dirty="0">
                <a:solidFill>
                  <a:schemeClr val="tx1"/>
                </a:solidFill>
              </a:rPr>
              <a:t>Problem: a problem that is solvable by a polynomial-time algorithm</a:t>
            </a:r>
            <a:r>
              <a:rPr lang="en-US" sz="2000" dirty="0" smtClean="0">
                <a:solidFill>
                  <a:schemeClr val="tx1"/>
                </a:solidFill>
              </a:rPr>
              <a:t>. The </a:t>
            </a:r>
            <a:r>
              <a:rPr lang="en-US" sz="2000" dirty="0">
                <a:solidFill>
                  <a:schemeClr val="tx1"/>
                </a:solidFill>
              </a:rPr>
              <a:t>upper bound is polynomial.</a:t>
            </a:r>
          </a:p>
          <a:p>
            <a:pPr marL="342900" indent="-342900" algn="just">
              <a:buFont typeface="Wingdings" panose="05000000000000000000" pitchFamily="2" charset="2"/>
              <a:buChar char="v"/>
            </a:pPr>
            <a:endParaRPr lang="en-US" sz="2000" dirty="0" smtClean="0">
              <a:solidFill>
                <a:schemeClr val="tx1"/>
              </a:solidFill>
            </a:endParaRPr>
          </a:p>
          <a:p>
            <a:pPr marL="342900" indent="-342900" algn="just">
              <a:buFont typeface="Wingdings" panose="05000000000000000000" pitchFamily="2" charset="2"/>
              <a:buChar char="v"/>
            </a:pPr>
            <a:r>
              <a:rPr lang="en-US" sz="2000" dirty="0" smtClean="0">
                <a:solidFill>
                  <a:schemeClr val="tx1"/>
                </a:solidFill>
              </a:rPr>
              <a:t>Intractable </a:t>
            </a:r>
            <a:r>
              <a:rPr lang="en-US" sz="2000" dirty="0">
                <a:solidFill>
                  <a:schemeClr val="tx1"/>
                </a:solidFill>
              </a:rPr>
              <a:t>Problem: a problem that cannot be solved by a polynomial-time algorithm</a:t>
            </a:r>
            <a:r>
              <a:rPr lang="en-US" sz="2000" dirty="0" smtClean="0">
                <a:solidFill>
                  <a:schemeClr val="tx1"/>
                </a:solidFill>
              </a:rPr>
              <a:t>. The </a:t>
            </a:r>
            <a:r>
              <a:rPr lang="en-US" sz="2000" dirty="0">
                <a:solidFill>
                  <a:schemeClr val="tx1"/>
                </a:solidFill>
              </a:rPr>
              <a:t>lower bound is exponential.</a:t>
            </a:r>
          </a:p>
        </p:txBody>
      </p:sp>
    </p:spTree>
    <p:extLst>
      <p:ext uri="{BB962C8B-B14F-4D97-AF65-F5344CB8AC3E}">
        <p14:creationId xmlns:p14="http://schemas.microsoft.com/office/powerpoint/2010/main" val="4106271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Complexity Classes</a:t>
            </a:r>
          </a:p>
        </p:txBody>
      </p:sp>
      <p:sp>
        <p:nvSpPr>
          <p:cNvPr id="3" name="Subtitle 2"/>
          <p:cNvSpPr>
            <a:spLocks noGrp="1"/>
          </p:cNvSpPr>
          <p:nvPr>
            <p:ph type="subTitle" idx="1"/>
          </p:nvPr>
        </p:nvSpPr>
        <p:spPr>
          <a:xfrm>
            <a:off x="2034072" y="1035696"/>
            <a:ext cx="9825136" cy="5374435"/>
          </a:xfrm>
        </p:spPr>
        <p:txBody>
          <a:bodyPr>
            <a:noAutofit/>
          </a:bodyPr>
          <a:lstStyle/>
          <a:p>
            <a:r>
              <a:rPr lang="en-US" sz="2000" dirty="0">
                <a:solidFill>
                  <a:schemeClr val="tx1"/>
                </a:solidFill>
              </a:rPr>
              <a:t>Here are examples of tractable problems </a:t>
            </a:r>
            <a:r>
              <a:rPr lang="en-US" sz="2000" dirty="0" smtClean="0">
                <a:solidFill>
                  <a:schemeClr val="tx1"/>
                </a:solidFill>
              </a:rPr>
              <a:t>(known </a:t>
            </a:r>
            <a:r>
              <a:rPr lang="en-US" sz="2000" dirty="0">
                <a:solidFill>
                  <a:schemeClr val="tx1"/>
                </a:solidFill>
              </a:rPr>
              <a:t>polynomial-time algorithms):</a:t>
            </a:r>
          </a:p>
          <a:p>
            <a:pPr marL="285750" indent="-285750">
              <a:buFont typeface="Wingdings" panose="05000000000000000000" pitchFamily="2" charset="2"/>
              <a:buChar char="ü"/>
            </a:pPr>
            <a:r>
              <a:rPr lang="en-US" i="1" dirty="0" smtClean="0">
                <a:solidFill>
                  <a:schemeClr val="tx1"/>
                </a:solidFill>
              </a:rPr>
              <a:t>Searching </a:t>
            </a:r>
            <a:r>
              <a:rPr lang="en-US" i="1" dirty="0">
                <a:solidFill>
                  <a:schemeClr val="tx1"/>
                </a:solidFill>
              </a:rPr>
              <a:t>an unordered </a:t>
            </a:r>
            <a:r>
              <a:rPr lang="en-US" i="1" dirty="0" smtClean="0">
                <a:solidFill>
                  <a:schemeClr val="tx1"/>
                </a:solidFill>
              </a:rPr>
              <a:t>list, and an </a:t>
            </a:r>
            <a:r>
              <a:rPr lang="en-US" i="1" dirty="0">
                <a:solidFill>
                  <a:schemeClr val="tx1"/>
                </a:solidFill>
              </a:rPr>
              <a:t>ordered list</a:t>
            </a:r>
          </a:p>
          <a:p>
            <a:pPr marL="285750" indent="-285750">
              <a:buFont typeface="Wingdings" panose="05000000000000000000" pitchFamily="2" charset="2"/>
              <a:buChar char="ü"/>
            </a:pPr>
            <a:r>
              <a:rPr lang="en-US" i="1" dirty="0" smtClean="0">
                <a:solidFill>
                  <a:schemeClr val="tx1"/>
                </a:solidFill>
              </a:rPr>
              <a:t>Sorting </a:t>
            </a:r>
            <a:r>
              <a:rPr lang="en-US" i="1" dirty="0">
                <a:solidFill>
                  <a:schemeClr val="tx1"/>
                </a:solidFill>
              </a:rPr>
              <a:t>a list</a:t>
            </a:r>
          </a:p>
          <a:p>
            <a:pPr marL="285750" indent="-285750">
              <a:buFont typeface="Wingdings" panose="05000000000000000000" pitchFamily="2" charset="2"/>
              <a:buChar char="ü"/>
            </a:pPr>
            <a:r>
              <a:rPr lang="en-US" i="1" dirty="0" smtClean="0">
                <a:solidFill>
                  <a:schemeClr val="tx1"/>
                </a:solidFill>
              </a:rPr>
              <a:t>Multiplication </a:t>
            </a:r>
            <a:r>
              <a:rPr lang="en-US" i="1" dirty="0">
                <a:solidFill>
                  <a:schemeClr val="tx1"/>
                </a:solidFill>
              </a:rPr>
              <a:t>of integers (even though there’s a gap)</a:t>
            </a:r>
          </a:p>
          <a:p>
            <a:pPr marL="285750" indent="-285750">
              <a:buFont typeface="Wingdings" panose="05000000000000000000" pitchFamily="2" charset="2"/>
              <a:buChar char="ü"/>
            </a:pPr>
            <a:r>
              <a:rPr lang="en-US" i="1" dirty="0" smtClean="0">
                <a:solidFill>
                  <a:schemeClr val="tx1"/>
                </a:solidFill>
              </a:rPr>
              <a:t>Finding </a:t>
            </a:r>
            <a:r>
              <a:rPr lang="en-US" i="1" dirty="0">
                <a:solidFill>
                  <a:schemeClr val="tx1"/>
                </a:solidFill>
              </a:rPr>
              <a:t>a minimum spanning tree in a graph (even though there’s a gap</a:t>
            </a:r>
            <a:r>
              <a:rPr lang="en-US" i="1" dirty="0" smtClean="0">
                <a:solidFill>
                  <a:schemeClr val="tx1"/>
                </a:solidFill>
              </a:rPr>
              <a:t>)</a:t>
            </a:r>
          </a:p>
          <a:p>
            <a:pPr algn="just"/>
            <a:endParaRPr lang="en-US" dirty="0" smtClean="0">
              <a:solidFill>
                <a:schemeClr val="tx1"/>
              </a:solidFill>
            </a:endParaRPr>
          </a:p>
          <a:p>
            <a:pPr algn="just"/>
            <a:r>
              <a:rPr lang="en-US" dirty="0" smtClean="0">
                <a:solidFill>
                  <a:schemeClr val="tx1"/>
                </a:solidFill>
              </a:rPr>
              <a:t>Here </a:t>
            </a:r>
            <a:r>
              <a:rPr lang="en-US" dirty="0">
                <a:solidFill>
                  <a:schemeClr val="tx1"/>
                </a:solidFill>
              </a:rPr>
              <a:t>are examples of intractable problems </a:t>
            </a:r>
            <a:r>
              <a:rPr lang="en-US" dirty="0" smtClean="0">
                <a:solidFill>
                  <a:schemeClr val="tx1"/>
                </a:solidFill>
              </a:rPr>
              <a:t>(no polynomial-time </a:t>
            </a:r>
            <a:r>
              <a:rPr lang="en-US" dirty="0">
                <a:solidFill>
                  <a:schemeClr val="tx1"/>
                </a:solidFill>
              </a:rPr>
              <a:t>algorithm</a:t>
            </a:r>
            <a:r>
              <a:rPr lang="en-US" dirty="0" smtClean="0">
                <a:solidFill>
                  <a:schemeClr val="tx1"/>
                </a:solidFill>
              </a:rPr>
              <a:t>).</a:t>
            </a:r>
          </a:p>
          <a:p>
            <a:pPr marL="285750" indent="-285750" algn="just">
              <a:buFont typeface="Wingdings" panose="05000000000000000000" pitchFamily="2" charset="2"/>
              <a:buChar char="ü"/>
            </a:pPr>
            <a:r>
              <a:rPr lang="en-US" i="1" dirty="0" smtClean="0">
                <a:solidFill>
                  <a:schemeClr val="tx1"/>
                </a:solidFill>
              </a:rPr>
              <a:t>Towers </a:t>
            </a:r>
            <a:r>
              <a:rPr lang="en-US" i="1" dirty="0">
                <a:solidFill>
                  <a:schemeClr val="tx1"/>
                </a:solidFill>
              </a:rPr>
              <a:t>of Hanoi: we can prove that any algorithm that solves this </a:t>
            </a:r>
            <a:r>
              <a:rPr lang="en-US" i="1" dirty="0" smtClean="0">
                <a:solidFill>
                  <a:schemeClr val="tx1"/>
                </a:solidFill>
              </a:rPr>
              <a:t>problem must </a:t>
            </a:r>
            <a:r>
              <a:rPr lang="en-US" i="1" dirty="0">
                <a:solidFill>
                  <a:schemeClr val="tx1"/>
                </a:solidFill>
              </a:rPr>
              <a:t>have a worst-case running time that is at least 2</a:t>
            </a:r>
            <a:r>
              <a:rPr lang="en-US" i="1" baseline="30000" dirty="0">
                <a:solidFill>
                  <a:schemeClr val="tx1"/>
                </a:solidFill>
              </a:rPr>
              <a:t>n</a:t>
            </a:r>
            <a:r>
              <a:rPr lang="en-US" i="1" dirty="0">
                <a:solidFill>
                  <a:schemeClr val="tx1"/>
                </a:solidFill>
              </a:rPr>
              <a:t> − 1.</a:t>
            </a:r>
          </a:p>
          <a:p>
            <a:pPr marL="285750" indent="-285750" algn="just">
              <a:buFont typeface="Wingdings" panose="05000000000000000000" pitchFamily="2" charset="2"/>
              <a:buChar char="ü"/>
            </a:pPr>
            <a:r>
              <a:rPr lang="en-US" i="1" dirty="0">
                <a:solidFill>
                  <a:schemeClr val="tx1"/>
                </a:solidFill>
              </a:rPr>
              <a:t> </a:t>
            </a:r>
            <a:r>
              <a:rPr lang="en-US" i="1" dirty="0" smtClean="0">
                <a:solidFill>
                  <a:schemeClr val="tx1"/>
                </a:solidFill>
              </a:rPr>
              <a:t>List </a:t>
            </a:r>
            <a:r>
              <a:rPr lang="en-US" i="1" dirty="0">
                <a:solidFill>
                  <a:schemeClr val="tx1"/>
                </a:solidFill>
              </a:rPr>
              <a:t>all permutations (all possible orderings) of n numbers</a:t>
            </a:r>
            <a:r>
              <a:rPr lang="en-US" i="1" dirty="0" smtClean="0">
                <a:solidFill>
                  <a:schemeClr val="tx1"/>
                </a:solidFill>
              </a:rPr>
              <a:t>.</a:t>
            </a:r>
          </a:p>
          <a:p>
            <a:pPr marL="285750" indent="-285750" algn="just">
              <a:buFont typeface="Wingdings" panose="05000000000000000000" pitchFamily="2" charset="2"/>
              <a:buChar char="ü"/>
            </a:pPr>
            <a:r>
              <a:rPr lang="en-US" i="1" dirty="0">
                <a:solidFill>
                  <a:schemeClr val="tx1"/>
                </a:solidFill>
              </a:rPr>
              <a:t> </a:t>
            </a:r>
            <a:r>
              <a:rPr lang="en-US" i="1" dirty="0" smtClean="0">
                <a:solidFill>
                  <a:schemeClr val="tx1"/>
                </a:solidFill>
              </a:rPr>
              <a:t>For </a:t>
            </a:r>
            <a:r>
              <a:rPr lang="en-US" i="1" dirty="0">
                <a:solidFill>
                  <a:schemeClr val="tx1"/>
                </a:solidFill>
              </a:rPr>
              <a:t>an n × n draughts board with an arrangement of pieces, </a:t>
            </a:r>
            <a:r>
              <a:rPr lang="en-US" i="1" dirty="0" smtClean="0">
                <a:solidFill>
                  <a:schemeClr val="tx1"/>
                </a:solidFill>
              </a:rPr>
              <a:t>determine whether </a:t>
            </a:r>
            <a:r>
              <a:rPr lang="en-US" i="1" dirty="0">
                <a:solidFill>
                  <a:schemeClr val="tx1"/>
                </a:solidFill>
              </a:rPr>
              <a:t>there is a winning strategy for White (i.e. a sequence of </a:t>
            </a:r>
            <a:r>
              <a:rPr lang="en-US" i="1" dirty="0" smtClean="0">
                <a:solidFill>
                  <a:schemeClr val="tx1"/>
                </a:solidFill>
              </a:rPr>
              <a:t>moves, White </a:t>
            </a:r>
            <a:r>
              <a:rPr lang="en-US" i="1" dirty="0">
                <a:solidFill>
                  <a:schemeClr val="tx1"/>
                </a:solidFill>
              </a:rPr>
              <a:t>is guaranteed to win). </a:t>
            </a:r>
            <a:r>
              <a:rPr lang="en-US" i="1" dirty="0" smtClean="0">
                <a:solidFill>
                  <a:schemeClr val="tx1"/>
                </a:solidFill>
              </a:rPr>
              <a:t>A worst-case running </a:t>
            </a:r>
            <a:r>
              <a:rPr lang="en-US" i="1" dirty="0">
                <a:solidFill>
                  <a:schemeClr val="tx1"/>
                </a:solidFill>
              </a:rPr>
              <a:t>time that is at least 2</a:t>
            </a:r>
            <a:r>
              <a:rPr lang="en-US" i="1" baseline="30000" dirty="0">
                <a:solidFill>
                  <a:schemeClr val="tx1"/>
                </a:solidFill>
              </a:rPr>
              <a:t>n</a:t>
            </a:r>
            <a:r>
              <a:rPr lang="en-US" i="1" dirty="0">
                <a:solidFill>
                  <a:schemeClr val="tx1"/>
                </a:solidFill>
              </a:rPr>
              <a:t>.</a:t>
            </a:r>
            <a:endParaRPr lang="en-US" i="1" dirty="0" smtClean="0">
              <a:solidFill>
                <a:schemeClr val="tx1"/>
              </a:solidFill>
            </a:endParaRPr>
          </a:p>
          <a:p>
            <a:endParaRPr lang="en-US" i="1" dirty="0">
              <a:solidFill>
                <a:schemeClr val="tx1"/>
              </a:solidFill>
            </a:endParaRPr>
          </a:p>
        </p:txBody>
      </p:sp>
    </p:spTree>
    <p:extLst>
      <p:ext uri="{BB962C8B-B14F-4D97-AF65-F5344CB8AC3E}">
        <p14:creationId xmlns:p14="http://schemas.microsoft.com/office/powerpoint/2010/main" val="7131720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Optimization/Decision Problems</a:t>
            </a:r>
          </a:p>
        </p:txBody>
      </p:sp>
      <p:sp>
        <p:nvSpPr>
          <p:cNvPr id="3" name="Subtitle 2"/>
          <p:cNvSpPr>
            <a:spLocks noGrp="1"/>
          </p:cNvSpPr>
          <p:nvPr>
            <p:ph type="subTitle" idx="1"/>
          </p:nvPr>
        </p:nvSpPr>
        <p:spPr>
          <a:xfrm>
            <a:off x="1996750" y="1343606"/>
            <a:ext cx="10011747" cy="5019871"/>
          </a:xfrm>
        </p:spPr>
        <p:txBody>
          <a:bodyPr>
            <a:noAutofit/>
          </a:bodyPr>
          <a:lstStyle/>
          <a:p>
            <a:r>
              <a:rPr lang="en-US" sz="2000" dirty="0" smtClean="0">
                <a:solidFill>
                  <a:schemeClr val="tx1"/>
                </a:solidFill>
              </a:rPr>
              <a:t>Optimization </a:t>
            </a:r>
            <a:r>
              <a:rPr lang="en-US" sz="2000" dirty="0">
                <a:solidFill>
                  <a:schemeClr val="tx1"/>
                </a:solidFill>
              </a:rPr>
              <a:t>Problems</a:t>
            </a:r>
          </a:p>
          <a:p>
            <a:r>
              <a:rPr lang="en-US" sz="2000" dirty="0">
                <a:solidFill>
                  <a:schemeClr val="tx1"/>
                </a:solidFill>
              </a:rPr>
              <a:t>– An optimization problem is one which asks</a:t>
            </a:r>
            <a:r>
              <a:rPr lang="en-US" sz="2000" dirty="0" smtClean="0">
                <a:solidFill>
                  <a:schemeClr val="tx1"/>
                </a:solidFill>
              </a:rPr>
              <a:t>, “</a:t>
            </a:r>
            <a:r>
              <a:rPr lang="en-US" sz="2000" dirty="0">
                <a:solidFill>
                  <a:schemeClr val="tx1"/>
                </a:solidFill>
              </a:rPr>
              <a:t>What is the optimal solution to </a:t>
            </a:r>
            <a:r>
              <a:rPr lang="en-US" sz="2000" dirty="0" smtClean="0">
                <a:solidFill>
                  <a:schemeClr val="tx1"/>
                </a:solidFill>
              </a:rPr>
              <a:t> problem </a:t>
            </a:r>
            <a:r>
              <a:rPr lang="en-US" sz="2000" dirty="0">
                <a:solidFill>
                  <a:schemeClr val="tx1"/>
                </a:solidFill>
              </a:rPr>
              <a:t>X?”</a:t>
            </a:r>
          </a:p>
          <a:p>
            <a:r>
              <a:rPr lang="en-US" sz="2000" dirty="0">
                <a:solidFill>
                  <a:schemeClr val="tx1"/>
                </a:solidFill>
              </a:rPr>
              <a:t>– Examples:</a:t>
            </a:r>
          </a:p>
          <a:p>
            <a:r>
              <a:rPr lang="en-US" sz="2000" dirty="0">
                <a:solidFill>
                  <a:schemeClr val="tx1"/>
                </a:solidFill>
              </a:rPr>
              <a:t>• 0-1 Knapsack</a:t>
            </a:r>
          </a:p>
          <a:p>
            <a:r>
              <a:rPr lang="en-US" sz="2000" dirty="0">
                <a:solidFill>
                  <a:schemeClr val="tx1"/>
                </a:solidFill>
              </a:rPr>
              <a:t>• Fractional Knapsack</a:t>
            </a:r>
          </a:p>
          <a:p>
            <a:r>
              <a:rPr lang="en-US" sz="2000" dirty="0">
                <a:solidFill>
                  <a:schemeClr val="tx1"/>
                </a:solidFill>
              </a:rPr>
              <a:t>• Minimum Spanning Tree</a:t>
            </a:r>
          </a:p>
          <a:p>
            <a:endParaRPr lang="en-US" sz="2000" dirty="0" smtClean="0">
              <a:solidFill>
                <a:schemeClr val="tx1"/>
              </a:solidFill>
            </a:endParaRPr>
          </a:p>
          <a:p>
            <a:r>
              <a:rPr lang="en-US" sz="2000" dirty="0" smtClean="0">
                <a:solidFill>
                  <a:schemeClr val="tx1"/>
                </a:solidFill>
              </a:rPr>
              <a:t>Decision Problems </a:t>
            </a:r>
            <a:endParaRPr lang="en-US" sz="2000" dirty="0">
              <a:solidFill>
                <a:schemeClr val="tx1"/>
              </a:solidFill>
            </a:endParaRPr>
          </a:p>
          <a:p>
            <a:r>
              <a:rPr lang="en-US" sz="2000" dirty="0">
                <a:solidFill>
                  <a:schemeClr val="tx1"/>
                </a:solidFill>
              </a:rPr>
              <a:t>– An decision problem is one with yes/no answer</a:t>
            </a:r>
          </a:p>
          <a:p>
            <a:r>
              <a:rPr lang="en-US" sz="2000" dirty="0">
                <a:solidFill>
                  <a:schemeClr val="tx1"/>
                </a:solidFill>
              </a:rPr>
              <a:t>– Examples:</a:t>
            </a:r>
          </a:p>
          <a:p>
            <a:r>
              <a:rPr lang="en-US" sz="2000" dirty="0">
                <a:solidFill>
                  <a:schemeClr val="tx1"/>
                </a:solidFill>
              </a:rPr>
              <a:t>• Does a graph G have a MST of weight </a:t>
            </a:r>
            <a:r>
              <a:rPr lang="en-US" sz="2000" dirty="0" smtClean="0">
                <a:solidFill>
                  <a:schemeClr val="tx1"/>
                </a:solidFill>
              </a:rPr>
              <a:t>≤ W?</a:t>
            </a:r>
            <a:endParaRPr lang="en-US" sz="2000" dirty="0">
              <a:solidFill>
                <a:schemeClr val="tx1"/>
              </a:solidFill>
            </a:endParaRPr>
          </a:p>
          <a:p>
            <a:endParaRPr lang="en-US" sz="2000" dirty="0" smtClean="0">
              <a:solidFill>
                <a:schemeClr val="tx1"/>
              </a:solidFill>
            </a:endParaRPr>
          </a:p>
        </p:txBody>
      </p:sp>
    </p:spTree>
    <p:extLst>
      <p:ext uri="{BB962C8B-B14F-4D97-AF65-F5344CB8AC3E}">
        <p14:creationId xmlns:p14="http://schemas.microsoft.com/office/powerpoint/2010/main" val="34571669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Optimization/Decision Problems</a:t>
            </a:r>
          </a:p>
        </p:txBody>
      </p:sp>
      <p:sp>
        <p:nvSpPr>
          <p:cNvPr id="3" name="Subtitle 2"/>
          <p:cNvSpPr>
            <a:spLocks noGrp="1"/>
          </p:cNvSpPr>
          <p:nvPr>
            <p:ph type="subTitle" idx="1"/>
          </p:nvPr>
        </p:nvSpPr>
        <p:spPr>
          <a:xfrm>
            <a:off x="1996750" y="1343606"/>
            <a:ext cx="10011747" cy="5019871"/>
          </a:xfrm>
        </p:spPr>
        <p:txBody>
          <a:bodyPr>
            <a:noAutofit/>
          </a:bodyPr>
          <a:lstStyle/>
          <a:p>
            <a:pPr marL="342900" indent="-342900">
              <a:buFont typeface="Wingdings" panose="05000000000000000000" pitchFamily="2" charset="2"/>
              <a:buChar char="v"/>
            </a:pPr>
            <a:endParaRPr lang="en-US" sz="2000" dirty="0" smtClean="0">
              <a:solidFill>
                <a:schemeClr val="tx1"/>
              </a:solidFill>
            </a:endParaRPr>
          </a:p>
          <a:p>
            <a:pPr marL="342900" indent="-342900">
              <a:buFont typeface="Wingdings" panose="05000000000000000000" pitchFamily="2" charset="2"/>
              <a:buChar char="v"/>
            </a:pPr>
            <a:r>
              <a:rPr lang="en-US" sz="2000" dirty="0" smtClean="0">
                <a:solidFill>
                  <a:schemeClr val="tx1"/>
                </a:solidFill>
              </a:rPr>
              <a:t>An </a:t>
            </a:r>
            <a:r>
              <a:rPr lang="en-US" sz="2000" dirty="0">
                <a:solidFill>
                  <a:schemeClr val="tx1"/>
                </a:solidFill>
              </a:rPr>
              <a:t>optimization problem tries to find an optimal solution</a:t>
            </a:r>
          </a:p>
          <a:p>
            <a:pPr marL="342900" indent="-342900">
              <a:buFont typeface="Wingdings" panose="05000000000000000000" pitchFamily="2" charset="2"/>
              <a:buChar char="v"/>
            </a:pPr>
            <a:r>
              <a:rPr lang="en-US" sz="2000" dirty="0">
                <a:solidFill>
                  <a:schemeClr val="tx1"/>
                </a:solidFill>
              </a:rPr>
              <a:t>• A decision problem tries to answer a yes/no question</a:t>
            </a:r>
          </a:p>
          <a:p>
            <a:pPr marL="342900" indent="-342900">
              <a:buFont typeface="Wingdings" panose="05000000000000000000" pitchFamily="2" charset="2"/>
              <a:buChar char="v"/>
            </a:pPr>
            <a:r>
              <a:rPr lang="en-US" sz="2000" dirty="0">
                <a:solidFill>
                  <a:schemeClr val="tx1"/>
                </a:solidFill>
              </a:rPr>
              <a:t>• Many problems will have decision and optimization </a:t>
            </a:r>
            <a:r>
              <a:rPr lang="en-US" sz="2000" dirty="0" smtClean="0">
                <a:solidFill>
                  <a:schemeClr val="tx1"/>
                </a:solidFill>
              </a:rPr>
              <a:t>versions</a:t>
            </a:r>
          </a:p>
          <a:p>
            <a:endParaRPr lang="en-US" sz="2000" dirty="0">
              <a:solidFill>
                <a:schemeClr val="tx1"/>
              </a:solidFill>
            </a:endParaRPr>
          </a:p>
          <a:p>
            <a:r>
              <a:rPr lang="en-US" sz="2000" dirty="0">
                <a:solidFill>
                  <a:schemeClr val="tx1"/>
                </a:solidFill>
              </a:rPr>
              <a:t>– </a:t>
            </a:r>
            <a:r>
              <a:rPr lang="en-US" sz="2000" dirty="0" smtClean="0">
                <a:solidFill>
                  <a:schemeClr val="tx1"/>
                </a:solidFill>
              </a:rPr>
              <a:t>E. g.: </a:t>
            </a:r>
            <a:r>
              <a:rPr lang="en-US" sz="2000" dirty="0">
                <a:solidFill>
                  <a:schemeClr val="tx1"/>
                </a:solidFill>
              </a:rPr>
              <a:t>Traveling salesman problem</a:t>
            </a:r>
          </a:p>
          <a:p>
            <a:r>
              <a:rPr lang="en-US" sz="2000" dirty="0">
                <a:solidFill>
                  <a:schemeClr val="tx1"/>
                </a:solidFill>
              </a:rPr>
              <a:t> </a:t>
            </a:r>
            <a:r>
              <a:rPr lang="en-US" sz="2000" dirty="0" smtClean="0">
                <a:solidFill>
                  <a:schemeClr val="tx1"/>
                </a:solidFill>
              </a:rPr>
              <a:t>                  Optimization</a:t>
            </a:r>
            <a:r>
              <a:rPr lang="en-US" sz="2000" dirty="0">
                <a:solidFill>
                  <a:schemeClr val="tx1"/>
                </a:solidFill>
              </a:rPr>
              <a:t>: find </a:t>
            </a:r>
            <a:r>
              <a:rPr lang="en-US" sz="2000" dirty="0" err="1">
                <a:solidFill>
                  <a:schemeClr val="tx1"/>
                </a:solidFill>
              </a:rPr>
              <a:t>hamiltonian</a:t>
            </a:r>
            <a:r>
              <a:rPr lang="en-US" sz="2000" dirty="0">
                <a:solidFill>
                  <a:schemeClr val="tx1"/>
                </a:solidFill>
              </a:rPr>
              <a:t> cycle of </a:t>
            </a:r>
            <a:r>
              <a:rPr lang="en-US" sz="2000" dirty="0" smtClean="0">
                <a:solidFill>
                  <a:schemeClr val="tx1"/>
                </a:solidFill>
              </a:rPr>
              <a:t>minimum weight</a:t>
            </a:r>
            <a:endParaRPr lang="en-US" sz="2000" dirty="0">
              <a:solidFill>
                <a:schemeClr val="tx1"/>
              </a:solidFill>
            </a:endParaRPr>
          </a:p>
          <a:p>
            <a:r>
              <a:rPr lang="en-US" sz="2000" dirty="0">
                <a:solidFill>
                  <a:schemeClr val="tx1"/>
                </a:solidFill>
              </a:rPr>
              <a:t> </a:t>
            </a:r>
            <a:r>
              <a:rPr lang="en-US" sz="2000" dirty="0" smtClean="0">
                <a:solidFill>
                  <a:schemeClr val="tx1"/>
                </a:solidFill>
              </a:rPr>
              <a:t>                   Decision</a:t>
            </a:r>
            <a:r>
              <a:rPr lang="en-US" sz="2000" dirty="0">
                <a:solidFill>
                  <a:schemeClr val="tx1"/>
                </a:solidFill>
              </a:rPr>
              <a:t>: is there a </a:t>
            </a:r>
            <a:r>
              <a:rPr lang="en-US" sz="2000" dirty="0" err="1">
                <a:solidFill>
                  <a:schemeClr val="tx1"/>
                </a:solidFill>
              </a:rPr>
              <a:t>hamiltonian</a:t>
            </a:r>
            <a:r>
              <a:rPr lang="en-US" sz="2000" dirty="0">
                <a:solidFill>
                  <a:schemeClr val="tx1"/>
                </a:solidFill>
              </a:rPr>
              <a:t> cycle of weight </a:t>
            </a:r>
            <a:r>
              <a:rPr lang="en-US" sz="2000" dirty="0" smtClean="0">
                <a:solidFill>
                  <a:schemeClr val="tx1"/>
                </a:solidFill>
              </a:rPr>
              <a:t>≤ </a:t>
            </a:r>
            <a:r>
              <a:rPr lang="en-US" sz="2000" dirty="0">
                <a:solidFill>
                  <a:schemeClr val="tx1"/>
                </a:solidFill>
              </a:rPr>
              <a:t>k</a:t>
            </a:r>
            <a:endParaRPr lang="en-US" sz="2000" dirty="0" smtClean="0">
              <a:solidFill>
                <a:schemeClr val="tx1"/>
              </a:solidFill>
            </a:endParaRPr>
          </a:p>
        </p:txBody>
      </p:sp>
    </p:spTree>
    <p:extLst>
      <p:ext uri="{BB962C8B-B14F-4D97-AF65-F5344CB8AC3E}">
        <p14:creationId xmlns:p14="http://schemas.microsoft.com/office/powerpoint/2010/main" val="10223476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a:t>Complexity Classes</a:t>
            </a:r>
          </a:p>
        </p:txBody>
      </p:sp>
      <p:pic>
        <p:nvPicPr>
          <p:cNvPr id="4" name="Picture 3"/>
          <p:cNvPicPr>
            <a:picLocks noChangeAspect="1"/>
          </p:cNvPicPr>
          <p:nvPr/>
        </p:nvPicPr>
        <p:blipFill>
          <a:blip r:embed="rId2"/>
          <a:stretch>
            <a:fillRect/>
          </a:stretch>
        </p:blipFill>
        <p:spPr>
          <a:xfrm>
            <a:off x="1931437" y="1194319"/>
            <a:ext cx="6820677" cy="5253134"/>
          </a:xfrm>
          <a:prstGeom prst="rect">
            <a:avLst/>
          </a:prstGeom>
        </p:spPr>
      </p:pic>
      <p:pic>
        <p:nvPicPr>
          <p:cNvPr id="10" name="Picture 9"/>
          <p:cNvPicPr>
            <a:picLocks noChangeAspect="1"/>
          </p:cNvPicPr>
          <p:nvPr/>
        </p:nvPicPr>
        <p:blipFill>
          <a:blip r:embed="rId3"/>
          <a:stretch>
            <a:fillRect/>
          </a:stretch>
        </p:blipFill>
        <p:spPr>
          <a:xfrm>
            <a:off x="9206884" y="2672346"/>
            <a:ext cx="2828925" cy="1457325"/>
          </a:xfrm>
          <a:prstGeom prst="rect">
            <a:avLst/>
          </a:prstGeom>
        </p:spPr>
      </p:pic>
    </p:spTree>
    <p:extLst>
      <p:ext uri="{BB962C8B-B14F-4D97-AF65-F5344CB8AC3E}">
        <p14:creationId xmlns:p14="http://schemas.microsoft.com/office/powerpoint/2010/main" val="31217963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The </a:t>
            </a:r>
            <a:r>
              <a:rPr lang="en-US" sz="4000" dirty="0"/>
              <a:t>Class </a:t>
            </a:r>
            <a:r>
              <a:rPr lang="en-US" sz="4000" i="1" dirty="0"/>
              <a:t>P</a:t>
            </a:r>
            <a:endParaRPr lang="en-US" sz="4000" dirty="0"/>
          </a:p>
        </p:txBody>
      </p:sp>
      <p:sp>
        <p:nvSpPr>
          <p:cNvPr id="3" name="Subtitle 2"/>
          <p:cNvSpPr>
            <a:spLocks noGrp="1"/>
          </p:cNvSpPr>
          <p:nvPr>
            <p:ph type="subTitle" idx="1"/>
          </p:nvPr>
        </p:nvSpPr>
        <p:spPr>
          <a:xfrm>
            <a:off x="2043403" y="1343606"/>
            <a:ext cx="9647854" cy="5299790"/>
          </a:xfrm>
        </p:spPr>
        <p:txBody>
          <a:bodyPr>
            <a:noAutofit/>
          </a:bodyPr>
          <a:lstStyle/>
          <a:p>
            <a:r>
              <a:rPr lang="en-US" sz="2000" dirty="0" smtClean="0">
                <a:solidFill>
                  <a:schemeClr val="tx1"/>
                </a:solidFill>
              </a:rPr>
              <a:t>The </a:t>
            </a:r>
            <a:r>
              <a:rPr lang="en-US" sz="2000" dirty="0">
                <a:solidFill>
                  <a:schemeClr val="tx1"/>
                </a:solidFill>
              </a:rPr>
              <a:t>class of problems that have </a:t>
            </a:r>
            <a:r>
              <a:rPr lang="en-US" sz="2000" dirty="0" smtClean="0">
                <a:solidFill>
                  <a:schemeClr val="tx1"/>
                </a:solidFill>
              </a:rPr>
              <a:t>polynomial-time deterministic </a:t>
            </a:r>
            <a:r>
              <a:rPr lang="en-US" sz="2000" dirty="0">
                <a:solidFill>
                  <a:schemeClr val="tx1"/>
                </a:solidFill>
              </a:rPr>
              <a:t>algorithms.</a:t>
            </a:r>
          </a:p>
          <a:p>
            <a:r>
              <a:rPr lang="en-US" sz="2000" dirty="0">
                <a:solidFill>
                  <a:schemeClr val="tx1"/>
                </a:solidFill>
              </a:rPr>
              <a:t>– That is, they are solvable in </a:t>
            </a:r>
            <a:r>
              <a:rPr lang="en-US" sz="2000" i="1" dirty="0">
                <a:solidFill>
                  <a:schemeClr val="tx1"/>
                </a:solidFill>
              </a:rPr>
              <a:t>O</a:t>
            </a:r>
            <a:r>
              <a:rPr lang="en-US" sz="2000" dirty="0">
                <a:solidFill>
                  <a:schemeClr val="tx1"/>
                </a:solidFill>
              </a:rPr>
              <a:t>(</a:t>
            </a:r>
            <a:r>
              <a:rPr lang="en-US" sz="2000" i="1" dirty="0">
                <a:solidFill>
                  <a:schemeClr val="tx1"/>
                </a:solidFill>
              </a:rPr>
              <a:t>p</a:t>
            </a:r>
            <a:r>
              <a:rPr lang="en-US" sz="2000" dirty="0">
                <a:solidFill>
                  <a:schemeClr val="tx1"/>
                </a:solidFill>
              </a:rPr>
              <a:t>(</a:t>
            </a:r>
            <a:r>
              <a:rPr lang="en-US" sz="2000" i="1" dirty="0">
                <a:solidFill>
                  <a:schemeClr val="tx1"/>
                </a:solidFill>
              </a:rPr>
              <a:t>n</a:t>
            </a:r>
            <a:r>
              <a:rPr lang="en-US" sz="2000" dirty="0">
                <a:solidFill>
                  <a:schemeClr val="tx1"/>
                </a:solidFill>
              </a:rPr>
              <a:t>)), where </a:t>
            </a:r>
            <a:r>
              <a:rPr lang="en-US" sz="2000" i="1" dirty="0">
                <a:solidFill>
                  <a:schemeClr val="tx1"/>
                </a:solidFill>
              </a:rPr>
              <a:t>p</a:t>
            </a:r>
            <a:r>
              <a:rPr lang="en-US" sz="2000" dirty="0">
                <a:solidFill>
                  <a:schemeClr val="tx1"/>
                </a:solidFill>
              </a:rPr>
              <a:t>(</a:t>
            </a:r>
            <a:r>
              <a:rPr lang="en-US" sz="2000" i="1" dirty="0">
                <a:solidFill>
                  <a:schemeClr val="tx1"/>
                </a:solidFill>
              </a:rPr>
              <a:t>n</a:t>
            </a:r>
            <a:r>
              <a:rPr lang="en-US" sz="2000" dirty="0">
                <a:solidFill>
                  <a:schemeClr val="tx1"/>
                </a:solidFill>
              </a:rPr>
              <a:t>) is </a:t>
            </a:r>
            <a:r>
              <a:rPr lang="en-US" sz="2000" dirty="0" smtClean="0">
                <a:solidFill>
                  <a:schemeClr val="tx1"/>
                </a:solidFill>
              </a:rPr>
              <a:t>a polynomial </a:t>
            </a:r>
            <a:r>
              <a:rPr lang="en-US" sz="2000" dirty="0">
                <a:solidFill>
                  <a:schemeClr val="tx1"/>
                </a:solidFill>
              </a:rPr>
              <a:t>on </a:t>
            </a:r>
            <a:r>
              <a:rPr lang="en-US" sz="2000" i="1" dirty="0">
                <a:solidFill>
                  <a:schemeClr val="tx1"/>
                </a:solidFill>
              </a:rPr>
              <a:t>n</a:t>
            </a:r>
          </a:p>
          <a:p>
            <a:r>
              <a:rPr lang="en-US" sz="2000" dirty="0">
                <a:solidFill>
                  <a:schemeClr val="tx1"/>
                </a:solidFill>
              </a:rPr>
              <a:t>– A deterministic algorithm is (essentially) one that </a:t>
            </a:r>
            <a:r>
              <a:rPr lang="en-US" sz="2000" dirty="0" smtClean="0">
                <a:solidFill>
                  <a:schemeClr val="tx1"/>
                </a:solidFill>
              </a:rPr>
              <a:t>always computes </a:t>
            </a:r>
            <a:r>
              <a:rPr lang="en-US" sz="2000" dirty="0">
                <a:solidFill>
                  <a:schemeClr val="tx1"/>
                </a:solidFill>
              </a:rPr>
              <a:t>the correct </a:t>
            </a:r>
            <a:r>
              <a:rPr lang="en-US" sz="2000" dirty="0" smtClean="0">
                <a:solidFill>
                  <a:schemeClr val="tx1"/>
                </a:solidFill>
              </a:rPr>
              <a:t>answer.</a:t>
            </a:r>
          </a:p>
          <a:p>
            <a:r>
              <a:rPr lang="en-US" sz="2000" dirty="0" smtClean="0">
                <a:solidFill>
                  <a:schemeClr val="tx1"/>
                </a:solidFill>
              </a:rPr>
              <a:t>Time complexity as:</a:t>
            </a:r>
          </a:p>
          <a:p>
            <a:r>
              <a:rPr lang="en-US" sz="2000" i="1" dirty="0" smtClean="0">
                <a:solidFill>
                  <a:schemeClr val="tx1"/>
                </a:solidFill>
              </a:rPr>
              <a:t>T(n) = </a:t>
            </a:r>
            <a:r>
              <a:rPr lang="el-GR" sz="2000" i="1" dirty="0" smtClean="0">
                <a:solidFill>
                  <a:schemeClr val="tx1"/>
                </a:solidFill>
              </a:rPr>
              <a:t>Ο</a:t>
            </a:r>
            <a:r>
              <a:rPr lang="en-US" sz="2000" i="1" dirty="0" smtClean="0">
                <a:solidFill>
                  <a:schemeClr val="tx1"/>
                </a:solidFill>
              </a:rPr>
              <a:t>(C*</a:t>
            </a:r>
            <a:r>
              <a:rPr lang="en-US" sz="2000" i="1" dirty="0" err="1" smtClean="0">
                <a:solidFill>
                  <a:schemeClr val="tx1"/>
                </a:solidFill>
              </a:rPr>
              <a:t>n</a:t>
            </a:r>
            <a:r>
              <a:rPr lang="en-US" sz="2000" i="1" baseline="30000" dirty="0" err="1" smtClean="0">
                <a:solidFill>
                  <a:schemeClr val="tx1"/>
                </a:solidFill>
              </a:rPr>
              <a:t>k</a:t>
            </a:r>
            <a:r>
              <a:rPr lang="en-US" sz="2000" i="1" dirty="0" smtClean="0">
                <a:solidFill>
                  <a:schemeClr val="tx1"/>
                </a:solidFill>
              </a:rPr>
              <a:t>) where C &gt; 0 and K &gt; 0, C and K constants and n input.</a:t>
            </a:r>
          </a:p>
          <a:p>
            <a:endParaRPr lang="en-US" sz="2000" dirty="0">
              <a:solidFill>
                <a:schemeClr val="tx1"/>
              </a:solidFill>
            </a:endParaRPr>
          </a:p>
          <a:p>
            <a:r>
              <a:rPr lang="en-US" sz="2000" dirty="0">
                <a:solidFill>
                  <a:schemeClr val="tx1"/>
                </a:solidFill>
              </a:rPr>
              <a:t> Many algorithms complete in polynomial time:</a:t>
            </a:r>
          </a:p>
          <a:p>
            <a:pPr marL="342900" indent="-342900">
              <a:buFont typeface="Wingdings" panose="05000000000000000000" pitchFamily="2" charset="2"/>
              <a:buChar char="ü"/>
            </a:pPr>
            <a:r>
              <a:rPr lang="en-US" i="1" dirty="0">
                <a:solidFill>
                  <a:schemeClr val="tx1"/>
                </a:solidFill>
              </a:rPr>
              <a:t>All basic mathematical operations; addition, subtraction, division, multiplication</a:t>
            </a:r>
          </a:p>
          <a:p>
            <a:pPr marL="342900" indent="-342900">
              <a:buFont typeface="Wingdings" panose="05000000000000000000" pitchFamily="2" charset="2"/>
              <a:buChar char="ü"/>
            </a:pPr>
            <a:r>
              <a:rPr lang="en-US" i="1" dirty="0">
                <a:solidFill>
                  <a:schemeClr val="tx1"/>
                </a:solidFill>
              </a:rPr>
              <a:t>Testing for </a:t>
            </a:r>
            <a:r>
              <a:rPr lang="en-US" i="1" dirty="0" smtClean="0">
                <a:solidFill>
                  <a:schemeClr val="tx1"/>
                </a:solidFill>
              </a:rPr>
              <a:t>primacy</a:t>
            </a:r>
          </a:p>
          <a:p>
            <a:pPr marL="342900" indent="-342900">
              <a:buFont typeface="Wingdings" panose="05000000000000000000" pitchFamily="2" charset="2"/>
              <a:buChar char="ü"/>
            </a:pPr>
            <a:r>
              <a:rPr lang="en-US" i="1" dirty="0" smtClean="0">
                <a:solidFill>
                  <a:schemeClr val="tx1"/>
                </a:solidFill>
              </a:rPr>
              <a:t>Sorting problems;</a:t>
            </a:r>
          </a:p>
          <a:p>
            <a:pPr marL="342900" indent="-342900">
              <a:buFont typeface="Wingdings" panose="05000000000000000000" pitchFamily="2" charset="2"/>
              <a:buChar char="ü"/>
            </a:pPr>
            <a:r>
              <a:rPr lang="en-US" i="1" dirty="0" smtClean="0">
                <a:solidFill>
                  <a:schemeClr val="tx1"/>
                </a:solidFill>
              </a:rPr>
              <a:t>Shortest Path Algorithms; </a:t>
            </a:r>
          </a:p>
          <a:p>
            <a:pPr marL="342900" indent="-342900">
              <a:buFont typeface="Wingdings" panose="05000000000000000000" pitchFamily="2" charset="2"/>
              <a:buChar char="ü"/>
            </a:pPr>
            <a:r>
              <a:rPr lang="en-US" i="1" dirty="0" smtClean="0">
                <a:solidFill>
                  <a:schemeClr val="tx1"/>
                </a:solidFill>
              </a:rPr>
              <a:t>Linear </a:t>
            </a:r>
            <a:r>
              <a:rPr lang="en-US" i="1" dirty="0">
                <a:solidFill>
                  <a:schemeClr val="tx1"/>
                </a:solidFill>
              </a:rPr>
              <a:t>and </a:t>
            </a:r>
            <a:r>
              <a:rPr lang="en-US" i="1" dirty="0" smtClean="0">
                <a:solidFill>
                  <a:schemeClr val="tx1"/>
                </a:solidFill>
              </a:rPr>
              <a:t>Binary Search Algorithms for </a:t>
            </a:r>
            <a:r>
              <a:rPr lang="en-US" i="1" dirty="0">
                <a:solidFill>
                  <a:schemeClr val="tx1"/>
                </a:solidFill>
              </a:rPr>
              <a:t>a given set of numbers</a:t>
            </a:r>
          </a:p>
          <a:p>
            <a:endParaRPr lang="en-US" sz="2000" dirty="0">
              <a:solidFill>
                <a:schemeClr val="tx1"/>
              </a:solidFill>
            </a:endParaRPr>
          </a:p>
        </p:txBody>
      </p:sp>
    </p:spTree>
    <p:extLst>
      <p:ext uri="{BB962C8B-B14F-4D97-AF65-F5344CB8AC3E}">
        <p14:creationId xmlns:p14="http://schemas.microsoft.com/office/powerpoint/2010/main" val="28756725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The </a:t>
            </a:r>
            <a:r>
              <a:rPr lang="en-US" sz="4000" dirty="0"/>
              <a:t>class </a:t>
            </a:r>
            <a:r>
              <a:rPr lang="en-US" sz="4000" i="1" dirty="0"/>
              <a:t>NP</a:t>
            </a:r>
            <a:endParaRPr lang="en-US" sz="4000" dirty="0"/>
          </a:p>
        </p:txBody>
      </p:sp>
      <p:sp>
        <p:nvSpPr>
          <p:cNvPr id="3" name="Subtitle 2"/>
          <p:cNvSpPr>
            <a:spLocks noGrp="1"/>
          </p:cNvSpPr>
          <p:nvPr>
            <p:ph type="subTitle" idx="1"/>
          </p:nvPr>
        </p:nvSpPr>
        <p:spPr>
          <a:xfrm>
            <a:off x="2043403" y="905069"/>
            <a:ext cx="9647854" cy="5822301"/>
          </a:xfrm>
        </p:spPr>
        <p:txBody>
          <a:bodyPr>
            <a:noAutofit/>
          </a:bodyPr>
          <a:lstStyle/>
          <a:p>
            <a:r>
              <a:rPr lang="en-US" sz="2000" dirty="0"/>
              <a:t>T</a:t>
            </a:r>
            <a:r>
              <a:rPr lang="en-US" sz="2000" dirty="0">
                <a:solidFill>
                  <a:schemeClr val="tx1"/>
                </a:solidFill>
              </a:rPr>
              <a:t>he second set of problems cannot be solved in polynomial time. However, they can be verified (</a:t>
            </a:r>
            <a:r>
              <a:rPr lang="en-US" sz="2000" dirty="0" smtClean="0">
                <a:solidFill>
                  <a:schemeClr val="tx1"/>
                </a:solidFill>
              </a:rPr>
              <a:t>or certified) </a:t>
            </a:r>
            <a:r>
              <a:rPr lang="en-US" sz="2000" dirty="0">
                <a:solidFill>
                  <a:schemeClr val="tx1"/>
                </a:solidFill>
              </a:rPr>
              <a:t>in polynomial time. We expect these algorithms to have an exponential complexity, which we’ll define as:</a:t>
            </a:r>
          </a:p>
          <a:p>
            <a:r>
              <a:rPr lang="en-US" sz="2000" i="1" dirty="0" smtClean="0">
                <a:solidFill>
                  <a:schemeClr val="tx1"/>
                </a:solidFill>
              </a:rPr>
              <a:t>T(n</a:t>
            </a:r>
            <a:r>
              <a:rPr lang="en-US" sz="2000" i="1" dirty="0">
                <a:solidFill>
                  <a:schemeClr val="tx1"/>
                </a:solidFill>
              </a:rPr>
              <a:t>) = </a:t>
            </a:r>
            <a:r>
              <a:rPr lang="el-GR" sz="2000" i="1" dirty="0">
                <a:solidFill>
                  <a:schemeClr val="tx1"/>
                </a:solidFill>
              </a:rPr>
              <a:t>Ο</a:t>
            </a:r>
            <a:r>
              <a:rPr lang="en-US" sz="2000" i="1" dirty="0" smtClean="0">
                <a:solidFill>
                  <a:schemeClr val="tx1"/>
                </a:solidFill>
              </a:rPr>
              <a:t>(C</a:t>
            </a:r>
            <a:r>
              <a:rPr lang="en-US" sz="2000" i="1" baseline="-25000" dirty="0" smtClean="0">
                <a:solidFill>
                  <a:schemeClr val="tx1"/>
                </a:solidFill>
              </a:rPr>
              <a:t>1</a:t>
            </a:r>
            <a:r>
              <a:rPr lang="en-US" sz="2000" i="1" dirty="0" smtClean="0">
                <a:solidFill>
                  <a:schemeClr val="tx1"/>
                </a:solidFill>
              </a:rPr>
              <a:t>*k</a:t>
            </a:r>
            <a:r>
              <a:rPr lang="en-US" sz="2000" i="1" baseline="30000" dirty="0" smtClean="0">
                <a:solidFill>
                  <a:schemeClr val="tx1"/>
                </a:solidFill>
              </a:rPr>
              <a:t>C2*n</a:t>
            </a:r>
            <a:r>
              <a:rPr lang="en-US" sz="2000" i="1" dirty="0" smtClean="0">
                <a:solidFill>
                  <a:schemeClr val="tx1"/>
                </a:solidFill>
              </a:rPr>
              <a:t>) </a:t>
            </a:r>
            <a:r>
              <a:rPr lang="en-US" sz="2000" i="1" dirty="0">
                <a:solidFill>
                  <a:schemeClr val="tx1"/>
                </a:solidFill>
              </a:rPr>
              <a:t>where </a:t>
            </a:r>
            <a:r>
              <a:rPr lang="en-US" sz="2000" i="1" dirty="0" smtClean="0">
                <a:solidFill>
                  <a:schemeClr val="tx1"/>
                </a:solidFill>
              </a:rPr>
              <a:t>C</a:t>
            </a:r>
            <a:r>
              <a:rPr lang="en-US" sz="2000" i="1" baseline="-25000" dirty="0" smtClean="0">
                <a:solidFill>
                  <a:schemeClr val="tx1"/>
                </a:solidFill>
              </a:rPr>
              <a:t>1</a:t>
            </a:r>
            <a:r>
              <a:rPr lang="en-US" sz="2000" i="1" dirty="0" smtClean="0">
                <a:solidFill>
                  <a:schemeClr val="tx1"/>
                </a:solidFill>
              </a:rPr>
              <a:t> </a:t>
            </a:r>
            <a:r>
              <a:rPr lang="en-US" sz="2000" i="1" dirty="0">
                <a:solidFill>
                  <a:schemeClr val="tx1"/>
                </a:solidFill>
              </a:rPr>
              <a:t>&gt; 0 </a:t>
            </a:r>
            <a:r>
              <a:rPr lang="en-US" sz="2000" i="1" dirty="0" smtClean="0">
                <a:solidFill>
                  <a:schemeClr val="tx1"/>
                </a:solidFill>
              </a:rPr>
              <a:t> C</a:t>
            </a:r>
            <a:r>
              <a:rPr lang="en-US" sz="2000" i="1" baseline="-25000" dirty="0" smtClean="0">
                <a:solidFill>
                  <a:schemeClr val="tx1"/>
                </a:solidFill>
              </a:rPr>
              <a:t>2</a:t>
            </a:r>
            <a:r>
              <a:rPr lang="en-US" sz="2000" i="1" dirty="0" smtClean="0">
                <a:solidFill>
                  <a:schemeClr val="tx1"/>
                </a:solidFill>
              </a:rPr>
              <a:t> &gt; 0 and </a:t>
            </a:r>
            <a:r>
              <a:rPr lang="en-US" sz="2000" i="1" dirty="0">
                <a:solidFill>
                  <a:schemeClr val="tx1"/>
                </a:solidFill>
              </a:rPr>
              <a:t>K &gt; 0, </a:t>
            </a:r>
            <a:r>
              <a:rPr lang="en-US" sz="2000" i="1" dirty="0" smtClean="0">
                <a:solidFill>
                  <a:schemeClr val="tx1"/>
                </a:solidFill>
              </a:rPr>
              <a:t>C</a:t>
            </a:r>
            <a:r>
              <a:rPr lang="en-US" sz="2000" i="1" baseline="-25000" dirty="0" smtClean="0">
                <a:solidFill>
                  <a:schemeClr val="tx1"/>
                </a:solidFill>
              </a:rPr>
              <a:t>1</a:t>
            </a:r>
            <a:r>
              <a:rPr lang="en-US" sz="2000" i="1" dirty="0" smtClean="0">
                <a:solidFill>
                  <a:schemeClr val="tx1"/>
                </a:solidFill>
              </a:rPr>
              <a:t>, C</a:t>
            </a:r>
            <a:r>
              <a:rPr lang="en-US" sz="2000" i="1" baseline="-25000" dirty="0" smtClean="0">
                <a:solidFill>
                  <a:schemeClr val="tx1"/>
                </a:solidFill>
              </a:rPr>
              <a:t>2</a:t>
            </a:r>
            <a:r>
              <a:rPr lang="en-US" sz="2000" i="1" dirty="0" smtClean="0">
                <a:solidFill>
                  <a:schemeClr val="tx1"/>
                </a:solidFill>
              </a:rPr>
              <a:t> </a:t>
            </a:r>
            <a:r>
              <a:rPr lang="en-US" sz="2000" i="1" dirty="0">
                <a:solidFill>
                  <a:schemeClr val="tx1"/>
                </a:solidFill>
              </a:rPr>
              <a:t>and K constants and n input.</a:t>
            </a:r>
          </a:p>
          <a:p>
            <a:r>
              <a:rPr lang="en-US" sz="2000" dirty="0" smtClean="0">
                <a:solidFill>
                  <a:schemeClr val="tx1"/>
                </a:solidFill>
              </a:rPr>
              <a:t>If C</a:t>
            </a:r>
            <a:r>
              <a:rPr lang="en-US" sz="2000" baseline="-25000" dirty="0" smtClean="0">
                <a:solidFill>
                  <a:schemeClr val="tx1"/>
                </a:solidFill>
              </a:rPr>
              <a:t>1</a:t>
            </a:r>
            <a:r>
              <a:rPr lang="en-US" sz="2000" dirty="0" smtClean="0">
                <a:solidFill>
                  <a:schemeClr val="tx1"/>
                </a:solidFill>
              </a:rPr>
              <a:t> = C</a:t>
            </a:r>
            <a:r>
              <a:rPr lang="en-US" sz="2000" baseline="-25000" dirty="0" smtClean="0">
                <a:solidFill>
                  <a:schemeClr val="tx1"/>
                </a:solidFill>
              </a:rPr>
              <a:t>2</a:t>
            </a:r>
            <a:r>
              <a:rPr lang="en-US" sz="2000" dirty="0" smtClean="0">
                <a:solidFill>
                  <a:schemeClr val="tx1"/>
                </a:solidFill>
              </a:rPr>
              <a:t>=1, then </a:t>
            </a:r>
            <a:r>
              <a:rPr lang="el-GR" sz="2000" i="1" dirty="0">
                <a:solidFill>
                  <a:schemeClr val="tx1"/>
                </a:solidFill>
              </a:rPr>
              <a:t>Ο</a:t>
            </a:r>
            <a:r>
              <a:rPr lang="en-US" sz="2000" i="1" dirty="0" smtClean="0">
                <a:solidFill>
                  <a:schemeClr val="tx1"/>
                </a:solidFill>
              </a:rPr>
              <a:t>(k </a:t>
            </a:r>
            <a:r>
              <a:rPr lang="en-US" sz="2000" i="1" baseline="30000" dirty="0" smtClean="0">
                <a:solidFill>
                  <a:schemeClr val="tx1"/>
                </a:solidFill>
              </a:rPr>
              <a:t>n</a:t>
            </a:r>
            <a:r>
              <a:rPr lang="en-US" sz="2000" i="1" dirty="0" smtClean="0">
                <a:solidFill>
                  <a:schemeClr val="tx1"/>
                </a:solidFill>
              </a:rPr>
              <a:t>)</a:t>
            </a:r>
            <a:endParaRPr lang="en-US" sz="2000" dirty="0">
              <a:solidFill>
                <a:schemeClr val="tx1"/>
              </a:solidFill>
            </a:endParaRPr>
          </a:p>
          <a:p>
            <a:r>
              <a:rPr lang="en-US" sz="2000" b="1" dirty="0" smtClean="0">
                <a:solidFill>
                  <a:schemeClr val="tx1"/>
                </a:solidFill>
              </a:rPr>
              <a:t>NP</a:t>
            </a:r>
            <a:r>
              <a:rPr lang="en-US" sz="2000" dirty="0">
                <a:solidFill>
                  <a:schemeClr val="tx1"/>
                </a:solidFill>
              </a:rPr>
              <a:t>: the class of decision problems that are solvable </a:t>
            </a:r>
            <a:r>
              <a:rPr lang="en-US" sz="2000" dirty="0" smtClean="0">
                <a:solidFill>
                  <a:schemeClr val="tx1"/>
                </a:solidFill>
              </a:rPr>
              <a:t>in polynomial </a:t>
            </a:r>
            <a:r>
              <a:rPr lang="en-US" sz="2000" dirty="0">
                <a:solidFill>
                  <a:schemeClr val="tx1"/>
                </a:solidFill>
              </a:rPr>
              <a:t>time on a </a:t>
            </a:r>
            <a:r>
              <a:rPr lang="en-US" sz="2000" dirty="0" smtClean="0">
                <a:solidFill>
                  <a:schemeClr val="tx1"/>
                </a:solidFill>
              </a:rPr>
              <a:t>with a </a:t>
            </a:r>
            <a:r>
              <a:rPr lang="en-US" sz="2000" dirty="0">
                <a:solidFill>
                  <a:schemeClr val="tx1"/>
                </a:solidFill>
              </a:rPr>
              <a:t>nondeterministic </a:t>
            </a:r>
            <a:r>
              <a:rPr lang="en-US" sz="2000" dirty="0" smtClean="0">
                <a:solidFill>
                  <a:schemeClr val="tx1"/>
                </a:solidFill>
              </a:rPr>
              <a:t>algorithm.</a:t>
            </a:r>
          </a:p>
          <a:p>
            <a:r>
              <a:rPr lang="en-US" sz="2000" dirty="0" smtClean="0">
                <a:solidFill>
                  <a:schemeClr val="tx1"/>
                </a:solidFill>
              </a:rPr>
              <a:t>– </a:t>
            </a:r>
            <a:r>
              <a:rPr lang="en-US" sz="2000" dirty="0">
                <a:solidFill>
                  <a:schemeClr val="tx1"/>
                </a:solidFill>
              </a:rPr>
              <a:t>A </a:t>
            </a:r>
            <a:r>
              <a:rPr lang="en-US" sz="2000" i="1" dirty="0">
                <a:solidFill>
                  <a:schemeClr val="tx1"/>
                </a:solidFill>
              </a:rPr>
              <a:t>nondeterministic </a:t>
            </a:r>
            <a:r>
              <a:rPr lang="en-US" sz="2000" dirty="0">
                <a:solidFill>
                  <a:schemeClr val="tx1"/>
                </a:solidFill>
              </a:rPr>
              <a:t>computer is one that can “guess” the </a:t>
            </a:r>
            <a:r>
              <a:rPr lang="en-US" sz="2000" dirty="0" smtClean="0">
                <a:solidFill>
                  <a:schemeClr val="tx1"/>
                </a:solidFill>
              </a:rPr>
              <a:t>right answer </a:t>
            </a:r>
            <a:r>
              <a:rPr lang="en-US" sz="2000" dirty="0">
                <a:solidFill>
                  <a:schemeClr val="tx1"/>
                </a:solidFill>
              </a:rPr>
              <a:t>or </a:t>
            </a:r>
            <a:r>
              <a:rPr lang="en-US" sz="2000" dirty="0" smtClean="0">
                <a:solidFill>
                  <a:schemeClr val="tx1"/>
                </a:solidFill>
              </a:rPr>
              <a:t>solution.</a:t>
            </a:r>
            <a:endParaRPr lang="en-US" sz="2000" dirty="0">
              <a:solidFill>
                <a:schemeClr val="tx1"/>
              </a:solidFill>
            </a:endParaRPr>
          </a:p>
          <a:p>
            <a:r>
              <a:rPr lang="en-US" sz="2000" dirty="0" smtClean="0">
                <a:solidFill>
                  <a:schemeClr val="tx1"/>
                </a:solidFill>
              </a:rPr>
              <a:t>• Algorithms are</a:t>
            </a:r>
            <a:r>
              <a:rPr lang="en-US" sz="2000" dirty="0">
                <a:solidFill>
                  <a:schemeClr val="tx1"/>
                </a:solidFill>
              </a:rPr>
              <a:t>:</a:t>
            </a:r>
          </a:p>
          <a:p>
            <a:pPr marL="342900" indent="-342900">
              <a:buFont typeface="Wingdings" panose="05000000000000000000" pitchFamily="2" charset="2"/>
              <a:buChar char="ü"/>
            </a:pPr>
            <a:r>
              <a:rPr lang="en-US" sz="2000" dirty="0" smtClean="0">
                <a:solidFill>
                  <a:schemeClr val="tx1"/>
                </a:solidFill>
              </a:rPr>
              <a:t>Integer Factorization</a:t>
            </a:r>
            <a:endParaRPr lang="en-US" sz="2000" dirty="0">
              <a:solidFill>
                <a:schemeClr val="tx1"/>
              </a:solidFill>
            </a:endParaRPr>
          </a:p>
          <a:p>
            <a:pPr marL="342900" indent="-342900">
              <a:buFont typeface="Wingdings" panose="05000000000000000000" pitchFamily="2" charset="2"/>
              <a:buChar char="ü"/>
            </a:pPr>
            <a:r>
              <a:rPr lang="en-US" sz="2000" dirty="0" smtClean="0">
                <a:solidFill>
                  <a:schemeClr val="tx1"/>
                </a:solidFill>
              </a:rPr>
              <a:t>Graph Isomorphism</a:t>
            </a:r>
            <a:endParaRPr lang="en-US" sz="2000" dirty="0">
              <a:solidFill>
                <a:schemeClr val="tx1"/>
              </a:solidFill>
            </a:endParaRPr>
          </a:p>
          <a:p>
            <a:pPr marL="342900" indent="-342900">
              <a:buFont typeface="Wingdings" panose="05000000000000000000" pitchFamily="2" charset="2"/>
              <a:buChar char="ü"/>
            </a:pPr>
            <a:r>
              <a:rPr lang="en-US" sz="2000" dirty="0" smtClean="0">
                <a:solidFill>
                  <a:schemeClr val="tx1"/>
                </a:solidFill>
              </a:rPr>
              <a:t>MST, Graph Coloring, Travelling Salesman </a:t>
            </a:r>
          </a:p>
          <a:p>
            <a:pPr marL="342900" indent="-342900">
              <a:buFont typeface="Wingdings" panose="05000000000000000000" pitchFamily="2" charset="2"/>
              <a:buChar char="ü"/>
            </a:pPr>
            <a:r>
              <a:rPr lang="en-US" sz="2000" dirty="0" err="1" smtClean="0">
                <a:solidFill>
                  <a:schemeClr val="tx1"/>
                </a:solidFill>
              </a:rPr>
              <a:t>Satisfiability</a:t>
            </a:r>
            <a:endParaRPr lang="en-US" sz="20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42405444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The Class </a:t>
            </a:r>
            <a:r>
              <a:rPr lang="en-US" sz="4000" i="1" dirty="0"/>
              <a:t>NP</a:t>
            </a:r>
            <a:r>
              <a:rPr lang="en-US" sz="4000" dirty="0"/>
              <a:t>-complete</a:t>
            </a:r>
          </a:p>
        </p:txBody>
      </p:sp>
      <p:sp>
        <p:nvSpPr>
          <p:cNvPr id="3" name="Subtitle 2"/>
          <p:cNvSpPr>
            <a:spLocks noGrp="1"/>
          </p:cNvSpPr>
          <p:nvPr>
            <p:ph type="subTitle" idx="1"/>
          </p:nvPr>
        </p:nvSpPr>
        <p:spPr>
          <a:xfrm>
            <a:off x="2043403" y="1343606"/>
            <a:ext cx="9647854" cy="5393096"/>
          </a:xfrm>
        </p:spPr>
        <p:txBody>
          <a:bodyPr>
            <a:noAutofit/>
          </a:bodyPr>
          <a:lstStyle/>
          <a:p>
            <a:pPr marL="342900" indent="-342900">
              <a:buFont typeface="Wingdings" panose="05000000000000000000" pitchFamily="2" charset="2"/>
              <a:buChar char="v"/>
            </a:pPr>
            <a:r>
              <a:rPr lang="en-US" sz="2000" dirty="0">
                <a:solidFill>
                  <a:schemeClr val="tx1"/>
                </a:solidFill>
              </a:rPr>
              <a:t>For example, if we have library functions to solve certain problem and if we can reduce a new problem to one of the solved problems, we save a lot of time. </a:t>
            </a:r>
            <a:endParaRPr lang="en-US" sz="2000" dirty="0" smtClean="0">
              <a:solidFill>
                <a:schemeClr val="tx1"/>
              </a:solidFill>
            </a:endParaRPr>
          </a:p>
          <a:p>
            <a:pPr marL="342900" indent="-342900">
              <a:buFont typeface="Wingdings" panose="05000000000000000000" pitchFamily="2" charset="2"/>
              <a:buChar char="v"/>
            </a:pPr>
            <a:r>
              <a:rPr lang="en-US" sz="2000" dirty="0">
                <a:solidFill>
                  <a:schemeClr val="tx1"/>
                </a:solidFill>
              </a:rPr>
              <a:t>A lot of times you can solve a problem by reducing it </a:t>
            </a:r>
            <a:r>
              <a:rPr lang="en-US" sz="2000" dirty="0" smtClean="0">
                <a:solidFill>
                  <a:schemeClr val="tx1"/>
                </a:solidFill>
              </a:rPr>
              <a:t>to a </a:t>
            </a:r>
            <a:r>
              <a:rPr lang="en-US" sz="2000" dirty="0">
                <a:solidFill>
                  <a:schemeClr val="tx1"/>
                </a:solidFill>
              </a:rPr>
              <a:t>different problem. I can reduce Problem B </a:t>
            </a:r>
            <a:r>
              <a:rPr lang="en-US" sz="2000" dirty="0" smtClean="0">
                <a:solidFill>
                  <a:schemeClr val="tx1"/>
                </a:solidFill>
              </a:rPr>
              <a:t>to Problem </a:t>
            </a:r>
            <a:r>
              <a:rPr lang="en-US" sz="2000" dirty="0">
                <a:solidFill>
                  <a:schemeClr val="tx1"/>
                </a:solidFill>
              </a:rPr>
              <a:t>A if, given a solution to Problem A, I can </a:t>
            </a:r>
            <a:r>
              <a:rPr lang="en-US" sz="2000" dirty="0" smtClean="0">
                <a:solidFill>
                  <a:schemeClr val="tx1"/>
                </a:solidFill>
              </a:rPr>
              <a:t>easily construct </a:t>
            </a:r>
            <a:r>
              <a:rPr lang="en-US" sz="2000" dirty="0">
                <a:solidFill>
                  <a:schemeClr val="tx1"/>
                </a:solidFill>
              </a:rPr>
              <a:t>a solution to Problem B. (In this case</a:t>
            </a:r>
            <a:r>
              <a:rPr lang="en-US" sz="2000" dirty="0" smtClean="0">
                <a:solidFill>
                  <a:schemeClr val="tx1"/>
                </a:solidFill>
              </a:rPr>
              <a:t>, "</a:t>
            </a:r>
            <a:r>
              <a:rPr lang="en-US" sz="2000" dirty="0">
                <a:solidFill>
                  <a:schemeClr val="tx1"/>
                </a:solidFill>
              </a:rPr>
              <a:t>easily" means "in polynomial time</a:t>
            </a:r>
            <a:r>
              <a:rPr lang="en-US" sz="2000" dirty="0" smtClean="0">
                <a:solidFill>
                  <a:schemeClr val="tx1"/>
                </a:solidFill>
              </a:rPr>
              <a:t>.“).</a:t>
            </a:r>
          </a:p>
          <a:p>
            <a:pPr marL="342900" indent="-342900">
              <a:buFont typeface="Wingdings" panose="05000000000000000000" pitchFamily="2" charset="2"/>
              <a:buChar char="v"/>
            </a:pPr>
            <a:r>
              <a:rPr lang="en-US" sz="2000" dirty="0" smtClean="0">
                <a:solidFill>
                  <a:schemeClr val="tx1"/>
                </a:solidFill>
              </a:rPr>
              <a:t>For any NP problem that’s complete, there exists a polynomial-time algorithm that can transfer the problem into any other NP complete problem.</a:t>
            </a:r>
          </a:p>
          <a:p>
            <a:r>
              <a:rPr lang="en-US" sz="2000" dirty="0" smtClean="0">
                <a:solidFill>
                  <a:schemeClr val="tx1"/>
                </a:solidFill>
              </a:rPr>
              <a:t>Algorithms are:</a:t>
            </a:r>
          </a:p>
          <a:p>
            <a:pPr marL="342900" indent="-342900">
              <a:buFont typeface="Wingdings" panose="05000000000000000000" pitchFamily="2" charset="2"/>
              <a:buChar char="ü"/>
            </a:pPr>
            <a:r>
              <a:rPr lang="en-US" sz="2000" dirty="0">
                <a:solidFill>
                  <a:schemeClr val="tx1"/>
                </a:solidFill>
              </a:rPr>
              <a:t> </a:t>
            </a:r>
            <a:r>
              <a:rPr lang="en-US" sz="2000" dirty="0" smtClean="0">
                <a:solidFill>
                  <a:schemeClr val="tx1"/>
                </a:solidFill>
              </a:rPr>
              <a:t>   Traveling Salesman</a:t>
            </a:r>
          </a:p>
          <a:p>
            <a:pPr marL="342900" indent="-342900">
              <a:buFont typeface="Wingdings" panose="05000000000000000000" pitchFamily="2" charset="2"/>
              <a:buChar char="ü"/>
            </a:pPr>
            <a:r>
              <a:rPr lang="en-US" sz="2000" dirty="0" smtClean="0">
                <a:solidFill>
                  <a:schemeClr val="tx1"/>
                </a:solidFill>
              </a:rPr>
              <a:t>    Knapsack</a:t>
            </a:r>
          </a:p>
          <a:p>
            <a:pPr marL="342900" indent="-342900">
              <a:buFont typeface="Wingdings" panose="05000000000000000000" pitchFamily="2" charset="2"/>
              <a:buChar char="ü"/>
            </a:pPr>
            <a:r>
              <a:rPr lang="en-US" sz="2000" dirty="0" smtClean="0">
                <a:solidFill>
                  <a:schemeClr val="tx1"/>
                </a:solidFill>
              </a:rPr>
              <a:t>    Graph Coloring  </a:t>
            </a:r>
          </a:p>
          <a:p>
            <a:endParaRPr lang="en-US" sz="2000" dirty="0">
              <a:solidFill>
                <a:schemeClr val="tx1"/>
              </a:solidFill>
            </a:endParaRPr>
          </a:p>
        </p:txBody>
      </p:sp>
    </p:spTree>
    <p:extLst>
      <p:ext uri="{BB962C8B-B14F-4D97-AF65-F5344CB8AC3E}">
        <p14:creationId xmlns:p14="http://schemas.microsoft.com/office/powerpoint/2010/main" val="7849837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The Class </a:t>
            </a:r>
            <a:r>
              <a:rPr lang="en-US" sz="4000" i="1" dirty="0" smtClean="0"/>
              <a:t>NP</a:t>
            </a:r>
            <a:r>
              <a:rPr lang="en-US" sz="4000" dirty="0" smtClean="0"/>
              <a:t>-Hard</a:t>
            </a:r>
            <a:endParaRPr lang="en-US" sz="4000" dirty="0"/>
          </a:p>
        </p:txBody>
      </p:sp>
      <p:sp>
        <p:nvSpPr>
          <p:cNvPr id="3" name="Subtitle 2"/>
          <p:cNvSpPr>
            <a:spLocks noGrp="1"/>
          </p:cNvSpPr>
          <p:nvPr>
            <p:ph type="subTitle" idx="1"/>
          </p:nvPr>
        </p:nvSpPr>
        <p:spPr>
          <a:xfrm>
            <a:off x="2043403" y="1343606"/>
            <a:ext cx="9647854" cy="5178491"/>
          </a:xfrm>
        </p:spPr>
        <p:txBody>
          <a:bodyPr>
            <a:noAutofit/>
          </a:bodyPr>
          <a:lstStyle/>
          <a:p>
            <a:r>
              <a:rPr lang="en-US" sz="2000" dirty="0"/>
              <a:t>Our last set of problems contains the hardest, most complex problems in computer science. They are not only hard to solve but are hard to verify as well. In fact, some of these problems aren’t even decidable. </a:t>
            </a:r>
            <a:endParaRPr lang="en-US" sz="2000" dirty="0" smtClean="0"/>
          </a:p>
          <a:p>
            <a:r>
              <a:rPr lang="en-US" sz="2000" dirty="0" smtClean="0"/>
              <a:t>Among </a:t>
            </a:r>
            <a:r>
              <a:rPr lang="en-US" sz="2000" dirty="0"/>
              <a:t>the hardest computer science problems are:</a:t>
            </a:r>
          </a:p>
          <a:p>
            <a:pPr marL="342900" indent="-342900">
              <a:buFont typeface="Wingdings" panose="05000000000000000000" pitchFamily="2" charset="2"/>
              <a:buChar char="ü"/>
            </a:pPr>
            <a:r>
              <a:rPr lang="en-US" sz="2000" dirty="0" smtClean="0"/>
              <a:t>  K-means Clustering</a:t>
            </a:r>
            <a:endParaRPr lang="en-US" sz="2000" dirty="0"/>
          </a:p>
          <a:p>
            <a:pPr marL="342900" indent="-342900">
              <a:buFont typeface="Wingdings" panose="05000000000000000000" pitchFamily="2" charset="2"/>
              <a:buChar char="ü"/>
            </a:pPr>
            <a:r>
              <a:rPr lang="en-US" sz="2000" b="1" dirty="0"/>
              <a:t> </a:t>
            </a:r>
            <a:r>
              <a:rPr lang="en-US" sz="2000" b="1" dirty="0" smtClean="0"/>
              <a:t> </a:t>
            </a:r>
            <a:r>
              <a:rPr lang="en-US" sz="2000" dirty="0" smtClean="0"/>
              <a:t>Traveling Salesman Problem and</a:t>
            </a:r>
            <a:endParaRPr lang="en-US" sz="2000" dirty="0"/>
          </a:p>
          <a:p>
            <a:pPr marL="342900" indent="-342900">
              <a:buFont typeface="Wingdings" panose="05000000000000000000" pitchFamily="2" charset="2"/>
              <a:buChar char="ü"/>
            </a:pPr>
            <a:r>
              <a:rPr lang="en-US" sz="2000" dirty="0"/>
              <a:t> </a:t>
            </a:r>
            <a:r>
              <a:rPr lang="en-US" sz="2000" dirty="0" smtClean="0"/>
              <a:t>Graph Coloring</a:t>
            </a:r>
            <a:endParaRPr lang="en-US" sz="2000" dirty="0"/>
          </a:p>
          <a:p>
            <a:endParaRPr lang="en-US" sz="2000" dirty="0" smtClean="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42167622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P!=NP</a:t>
            </a:r>
            <a:endParaRPr lang="en-US" sz="4000" dirty="0"/>
          </a:p>
        </p:txBody>
      </p:sp>
      <p:pic>
        <p:nvPicPr>
          <p:cNvPr id="4" name="Picture 3"/>
          <p:cNvPicPr>
            <a:picLocks noChangeAspect="1"/>
          </p:cNvPicPr>
          <p:nvPr/>
        </p:nvPicPr>
        <p:blipFill>
          <a:blip r:embed="rId2"/>
          <a:stretch>
            <a:fillRect/>
          </a:stretch>
        </p:blipFill>
        <p:spPr>
          <a:xfrm>
            <a:off x="1763486" y="1091681"/>
            <a:ext cx="9906000" cy="5391150"/>
          </a:xfrm>
          <a:prstGeom prst="rect">
            <a:avLst/>
          </a:prstGeom>
        </p:spPr>
      </p:pic>
    </p:spTree>
    <p:extLst>
      <p:ext uri="{BB962C8B-B14F-4D97-AF65-F5344CB8AC3E}">
        <p14:creationId xmlns:p14="http://schemas.microsoft.com/office/powerpoint/2010/main" val="27591829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Does P=</a:t>
            </a:r>
            <a:r>
              <a:rPr lang="en-US" sz="4000" i="1" dirty="0" smtClean="0"/>
              <a:t>NP</a:t>
            </a:r>
            <a:endParaRPr lang="en-US" sz="4000" dirty="0"/>
          </a:p>
        </p:txBody>
      </p:sp>
      <p:sp>
        <p:nvSpPr>
          <p:cNvPr id="3" name="Subtitle 2"/>
          <p:cNvSpPr>
            <a:spLocks noGrp="1"/>
          </p:cNvSpPr>
          <p:nvPr>
            <p:ph type="subTitle" idx="1"/>
          </p:nvPr>
        </p:nvSpPr>
        <p:spPr>
          <a:xfrm>
            <a:off x="1074150" y="793103"/>
            <a:ext cx="10489949" cy="1099791"/>
          </a:xfrm>
        </p:spPr>
        <p:txBody>
          <a:bodyPr>
            <a:noAutofit/>
          </a:bodyPr>
          <a:lstStyle/>
          <a:p>
            <a:r>
              <a:rPr lang="en-US" sz="2000" dirty="0" smtClean="0"/>
              <a:t>it’s </a:t>
            </a:r>
            <a:r>
              <a:rPr lang="en-US" sz="2000" dirty="0"/>
              <a:t>one of the </a:t>
            </a:r>
            <a:r>
              <a:rPr lang="en-US" sz="2000" dirty="0">
                <a:hlinkClick r:id="rId2"/>
              </a:rPr>
              <a:t>Millennium Prize Problems</a:t>
            </a:r>
            <a:r>
              <a:rPr lang="en-US" sz="2000" dirty="0"/>
              <a:t> for which there is a $1,000,000 prize</a:t>
            </a:r>
            <a:r>
              <a:rPr lang="en-US" sz="2000" dirty="0" smtClean="0"/>
              <a:t>.</a:t>
            </a:r>
          </a:p>
          <a:p>
            <a:endParaRPr lang="en-US" sz="2000" dirty="0">
              <a:solidFill>
                <a:schemeClr val="tx1"/>
              </a:solidFill>
            </a:endParaRPr>
          </a:p>
        </p:txBody>
      </p:sp>
      <p:pic>
        <p:nvPicPr>
          <p:cNvPr id="12" name="Picture 11"/>
          <p:cNvPicPr>
            <a:picLocks noChangeAspect="1"/>
          </p:cNvPicPr>
          <p:nvPr/>
        </p:nvPicPr>
        <p:blipFill>
          <a:blip r:embed="rId3"/>
          <a:stretch>
            <a:fillRect/>
          </a:stretch>
        </p:blipFill>
        <p:spPr>
          <a:xfrm>
            <a:off x="2539116" y="1474239"/>
            <a:ext cx="7143750" cy="5172075"/>
          </a:xfrm>
          <a:prstGeom prst="rect">
            <a:avLst/>
          </a:prstGeom>
        </p:spPr>
      </p:pic>
    </p:spTree>
    <p:extLst>
      <p:ext uri="{BB962C8B-B14F-4D97-AF65-F5344CB8AC3E}">
        <p14:creationId xmlns:p14="http://schemas.microsoft.com/office/powerpoint/2010/main" val="24762187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426" y="111967"/>
            <a:ext cx="8915399" cy="681136"/>
          </a:xfrm>
        </p:spPr>
        <p:txBody>
          <a:bodyPr>
            <a:normAutofit fontScale="90000"/>
          </a:bodyPr>
          <a:lstStyle/>
          <a:p>
            <a:pPr algn="ctr"/>
            <a:r>
              <a:rPr lang="en-US" sz="4000" dirty="0" smtClean="0"/>
              <a:t>Complexity Class Summary</a:t>
            </a:r>
            <a:endParaRPr lang="en-US" sz="4000" dirty="0"/>
          </a:p>
        </p:txBody>
      </p:sp>
      <p:sp>
        <p:nvSpPr>
          <p:cNvPr id="3" name="Subtitle 2"/>
          <p:cNvSpPr>
            <a:spLocks noGrp="1"/>
          </p:cNvSpPr>
          <p:nvPr>
            <p:ph type="subTitle" idx="1"/>
          </p:nvPr>
        </p:nvSpPr>
        <p:spPr>
          <a:xfrm>
            <a:off x="2043403" y="1343606"/>
            <a:ext cx="9647854" cy="5178491"/>
          </a:xfrm>
        </p:spPr>
        <p:txBody>
          <a:bodyPr>
            <a:noAutofit/>
          </a:bodyPr>
          <a:lstStyle/>
          <a:p>
            <a:pPr marL="342900" indent="-342900">
              <a:buFont typeface="Wingdings" panose="05000000000000000000" pitchFamily="2" charset="2"/>
              <a:buChar char="v"/>
            </a:pPr>
            <a:endParaRPr lang="en-US" sz="2000" dirty="0" smtClean="0">
              <a:solidFill>
                <a:schemeClr val="tx1"/>
              </a:solidFill>
            </a:endParaRPr>
          </a:p>
          <a:p>
            <a:pPr marL="342900" indent="-342900" algn="just">
              <a:buFont typeface="Wingdings" panose="05000000000000000000" pitchFamily="2" charset="2"/>
              <a:buChar char="v"/>
            </a:pPr>
            <a:r>
              <a:rPr lang="en-US" sz="2400" i="1" dirty="0" smtClean="0">
                <a:solidFill>
                  <a:schemeClr val="tx1"/>
                </a:solidFill>
              </a:rPr>
              <a:t>P problems are quick to solve</a:t>
            </a:r>
          </a:p>
          <a:p>
            <a:pPr algn="just"/>
            <a:endParaRPr lang="en-US" sz="2400" i="1" dirty="0" smtClean="0">
              <a:solidFill>
                <a:schemeClr val="tx1"/>
              </a:solidFill>
            </a:endParaRPr>
          </a:p>
          <a:p>
            <a:pPr marL="342900" indent="-342900" algn="just">
              <a:buFont typeface="Wingdings" panose="05000000000000000000" pitchFamily="2" charset="2"/>
              <a:buChar char="v"/>
            </a:pPr>
            <a:r>
              <a:rPr lang="en-US" sz="2400" i="1" dirty="0" smtClean="0">
                <a:solidFill>
                  <a:schemeClr val="tx1"/>
                </a:solidFill>
              </a:rPr>
              <a:t>NP problems are quick to verify but slow to solve</a:t>
            </a:r>
          </a:p>
          <a:p>
            <a:pPr marL="342900" indent="-342900" algn="just">
              <a:buFont typeface="Wingdings" panose="05000000000000000000" pitchFamily="2" charset="2"/>
              <a:buChar char="v"/>
            </a:pPr>
            <a:endParaRPr lang="en-US" sz="2400" i="1" dirty="0" smtClean="0">
              <a:solidFill>
                <a:schemeClr val="tx1"/>
              </a:solidFill>
            </a:endParaRPr>
          </a:p>
          <a:p>
            <a:pPr marL="342900" indent="-342900" algn="just">
              <a:buFont typeface="Wingdings" panose="05000000000000000000" pitchFamily="2" charset="2"/>
              <a:buChar char="v"/>
            </a:pPr>
            <a:r>
              <a:rPr lang="en-US" sz="2400" i="1" dirty="0" smtClean="0">
                <a:solidFill>
                  <a:schemeClr val="tx1"/>
                </a:solidFill>
              </a:rPr>
              <a:t>NP-Complete problems are also quick to verify, slow to solve and can be reduced to any other NP-Complete Problem</a:t>
            </a:r>
          </a:p>
          <a:p>
            <a:pPr marL="342900" indent="-342900" algn="just">
              <a:buFont typeface="Wingdings" panose="05000000000000000000" pitchFamily="2" charset="2"/>
              <a:buChar char="v"/>
            </a:pPr>
            <a:endParaRPr lang="en-US" sz="2400" i="1" dirty="0" smtClean="0">
              <a:solidFill>
                <a:schemeClr val="tx1"/>
              </a:solidFill>
            </a:endParaRPr>
          </a:p>
          <a:p>
            <a:pPr marL="342900" indent="-342900" algn="just">
              <a:buFont typeface="Wingdings" panose="05000000000000000000" pitchFamily="2" charset="2"/>
              <a:buChar char="v"/>
            </a:pPr>
            <a:r>
              <a:rPr lang="en-US" sz="2400" i="1" dirty="0" smtClean="0">
                <a:solidFill>
                  <a:schemeClr val="tx1"/>
                </a:solidFill>
              </a:rPr>
              <a:t>NP-Hard problems are slow to verify, slow to solve and can be reduced to any other NP problem</a:t>
            </a:r>
            <a:endParaRPr lang="en-US" sz="2400" i="1" dirty="0" smtClean="0">
              <a:solidFill>
                <a:schemeClr val="tx1"/>
              </a:solidFill>
            </a:endParaRPr>
          </a:p>
          <a:p>
            <a:pPr marL="342900" indent="-342900">
              <a:buFont typeface="Wingdings" panose="05000000000000000000" pitchFamily="2" charset="2"/>
              <a:buChar char="v"/>
            </a:pPr>
            <a:endParaRPr lang="en-US" sz="2000" dirty="0">
              <a:solidFill>
                <a:schemeClr val="tx1"/>
              </a:solidFill>
            </a:endParaRPr>
          </a:p>
          <a:p>
            <a:endParaRPr lang="en-US" sz="2000" dirty="0" smtClean="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2990695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4104" y="2258008"/>
            <a:ext cx="8915399" cy="681136"/>
          </a:xfrm>
        </p:spPr>
        <p:txBody>
          <a:bodyPr>
            <a:normAutofit fontScale="90000"/>
          </a:bodyPr>
          <a:lstStyle/>
          <a:p>
            <a:pPr algn="ctr"/>
            <a:r>
              <a:rPr lang="en-US" sz="4000" dirty="0" smtClean="0"/>
              <a:t>Questions??</a:t>
            </a:r>
            <a:endParaRPr lang="en-US" sz="4000" dirty="0"/>
          </a:p>
        </p:txBody>
      </p:sp>
    </p:spTree>
    <p:extLst>
      <p:ext uri="{BB962C8B-B14F-4D97-AF65-F5344CB8AC3E}">
        <p14:creationId xmlns:p14="http://schemas.microsoft.com/office/powerpoint/2010/main" val="2308447970"/>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615</TotalTime>
  <Words>992</Words>
  <Application>Microsoft Office PowerPoint</Application>
  <PresentationFormat>Widescreen</PresentationFormat>
  <Paragraphs>154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Century Gothic</vt:lpstr>
      <vt:lpstr>Courier New</vt:lpstr>
      <vt:lpstr>Wingdings</vt:lpstr>
      <vt:lpstr>Wingdings 3</vt:lpstr>
      <vt:lpstr>Wisp</vt:lpstr>
      <vt:lpstr>Complexity Classes</vt:lpstr>
      <vt:lpstr>Complexity Classes</vt:lpstr>
      <vt:lpstr>Polynomial Function</vt:lpstr>
      <vt:lpstr>Polynomial Function</vt:lpstr>
      <vt:lpstr>Exponential Function</vt:lpstr>
      <vt:lpstr>Computational Complexity</vt:lpstr>
      <vt:lpstr>Complexity Classes</vt:lpstr>
      <vt:lpstr>Complexity Classes</vt:lpstr>
      <vt:lpstr>Complexity Classes</vt:lpstr>
      <vt:lpstr>Optimization/Decision Problems</vt:lpstr>
      <vt:lpstr>Optimization/Decision Problems</vt:lpstr>
      <vt:lpstr>Complexity Classes</vt:lpstr>
      <vt:lpstr>The Class P</vt:lpstr>
      <vt:lpstr>The class NP</vt:lpstr>
      <vt:lpstr>The Class NP-complete</vt:lpstr>
      <vt:lpstr>The Class NP-Hard</vt:lpstr>
      <vt:lpstr>P!=NP</vt:lpstr>
      <vt:lpstr>Does P=NP</vt:lpstr>
      <vt:lpstr>Complexity Class Summary</vt:lpstr>
      <vt:lpstr>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dc:title>
  <dc:creator>Md.Abdul Masud</dc:creator>
  <cp:lastModifiedBy>Md.Abdul Masud</cp:lastModifiedBy>
  <cp:revision>48</cp:revision>
  <dcterms:created xsi:type="dcterms:W3CDTF">2021-08-21T04:45:26Z</dcterms:created>
  <dcterms:modified xsi:type="dcterms:W3CDTF">2021-09-18T10:45:47Z</dcterms:modified>
</cp:coreProperties>
</file>