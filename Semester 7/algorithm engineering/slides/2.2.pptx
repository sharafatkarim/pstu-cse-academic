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0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75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26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93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2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85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3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7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5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657BC-8974-4D72-8632-BB04C229B02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21AA9-2224-4146-B757-FE432D1F1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24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IN" dirty="0"/>
              <a:t>গল্প: চৌকিদার মন্টু মিয়া আর চোর ধরার মিশন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9469171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20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IN" dirty="0"/>
              <a:t>গল্প: চৌকিদার মন্টু মিয়া আর চোর ধরার মিশন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73" y="1558608"/>
            <a:ext cx="11056007" cy="516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26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080" y="505741"/>
            <a:ext cx="11536680" cy="426720"/>
          </a:xfrm>
        </p:spPr>
        <p:txBody>
          <a:bodyPr>
            <a:noAutofit/>
          </a:bodyPr>
          <a:lstStyle/>
          <a:p>
            <a:r>
              <a:rPr lang="bn-IN" sz="4800" dirty="0"/>
              <a:t>গল্প: চৌকিদার মন্টু মিয়া আর চোর ধরার মিশন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45" y="1825625"/>
            <a:ext cx="12055055" cy="308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392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n-IN" dirty="0"/>
              <a:t>মন্টু মিয়ার "কনফিউশন ম্যাট্রিক্স" টেবিল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n-IN" dirty="0"/>
              <a:t>মেশিন লার্নিংয়ে যখন আমরা কোড লিখি (যেমন পাইথনে), তখন </a:t>
            </a:r>
            <a:r>
              <a:rPr lang="bn-IN" b="1" dirty="0"/>
              <a:t>"ভালো মানুষ"</a:t>
            </a:r>
            <a:r>
              <a:rPr lang="bn-IN" dirty="0"/>
              <a:t>-কে আমরা ধরি </a:t>
            </a:r>
            <a:r>
              <a:rPr lang="bn-IN" b="1" dirty="0"/>
              <a:t>০ (</a:t>
            </a:r>
            <a:r>
              <a:rPr lang="en-US" b="1" dirty="0"/>
              <a:t>Negative Class)</a:t>
            </a:r>
            <a:r>
              <a:rPr lang="en-US" dirty="0"/>
              <a:t> </a:t>
            </a:r>
            <a:r>
              <a:rPr lang="bn-IN" dirty="0"/>
              <a:t>এবং </a:t>
            </a:r>
            <a:r>
              <a:rPr lang="bn-IN" b="1" dirty="0"/>
              <a:t>"চোর"</a:t>
            </a:r>
            <a:r>
              <a:rPr lang="bn-IN" dirty="0"/>
              <a:t>-কে ধরি </a:t>
            </a:r>
            <a:r>
              <a:rPr lang="bn-IN" b="1" dirty="0"/>
              <a:t>১ (</a:t>
            </a:r>
            <a:r>
              <a:rPr lang="en-US" b="1" dirty="0"/>
              <a:t>Positive Class)</a:t>
            </a:r>
            <a:r>
              <a:rPr lang="en-US" dirty="0"/>
              <a:t>।</a:t>
            </a:r>
          </a:p>
          <a:p>
            <a:r>
              <a:rPr lang="bn-IN" dirty="0"/>
              <a:t>মন্টু মিয়ার সেই রাতের চোর ধরার হিসাবটিকে যদি আমরা ম্যাট্রিক্সের ইনডেক্স বা ঘর অনুযায়ী </a:t>
            </a:r>
            <a:r>
              <a:rPr lang="bn-IN" b="1" dirty="0"/>
              <a:t>০০ থেকে ১১</a:t>
            </a:r>
            <a:r>
              <a:rPr lang="bn-IN" dirty="0"/>
              <a:t> ফরম্যাটে সাজাই, তবে টেবিলটি দেখতে ঠিক এমন হবে: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32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560" y="1"/>
            <a:ext cx="10515600" cy="853440"/>
          </a:xfrm>
        </p:spPr>
        <p:txBody>
          <a:bodyPr/>
          <a:lstStyle/>
          <a:p>
            <a:r>
              <a:rPr lang="bn-IN" dirty="0"/>
              <a:t>মন্টু মিয়ার "কনফিউশন ম্যাট্রিক্স" টেবিল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704584"/>
              </p:ext>
            </p:extLst>
          </p:nvPr>
        </p:nvGraphicFramePr>
        <p:xfrm>
          <a:off x="259080" y="2081054"/>
          <a:ext cx="10515600" cy="3657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6714094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624764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26427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b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প্রকৃত /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Actual(Row) \ </a:t>
                      </a:r>
                      <a:r>
                        <a:rPr lang="b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অনুমিত /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Predicted(Col)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০ (ভালো মানুষ)</a:t>
                      </a:r>
                      <a:endParaRPr lang="b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 (চোর)</a:t>
                      </a:r>
                      <a:endParaRPr lang="b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8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b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০ (ভালো মানুষ)</a:t>
                      </a:r>
                      <a:endParaRPr lang="b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০০</a:t>
                      </a:r>
                      <a:r>
                        <a:rPr lang="b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 Negative (TN)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bn-IN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প্রকৃতপক্ষে ভালো মানুষ (০), মন্টু মিয়াও বলেছে ভালো মানুষ (০)।</a:t>
                      </a:r>
                      <a:endParaRPr lang="b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০১</a:t>
                      </a:r>
                      <a:r>
                        <a:rPr lang="b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 Positive (FP)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bn-IN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প্রকৃতপক্ষে ভালো মানুষ (০), কিন্তু মন্টু মিয়া ভুল করে চোর (১) ভেবেছে।</a:t>
                      </a:r>
                      <a:endParaRPr lang="b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74991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b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 (চোর)</a:t>
                      </a:r>
                      <a:endParaRPr lang="b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১০</a:t>
                      </a:r>
                      <a:r>
                        <a:rPr lang="b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False Negative (FN)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bn-IN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প্রকৃতপক্ষে চোর (১), কিন্তু মন্টু মিয়া ভুল করে ভালো মানুষ (০) ভেবে ছেড়ে দিয়েছে।</a:t>
                      </a:r>
                      <a:endParaRPr lang="b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b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১১</a:t>
                      </a:r>
                      <a:r>
                        <a:rPr lang="b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—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True Positive (TP)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bn-IN" i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প্রকৃতপক্ষে চোর (১), এবং মন্টু মিয়াও তাকে চোর (১) হিসেবেই ধরেছে।</a:t>
                      </a:r>
                      <a:endParaRPr lang="b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067349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853441"/>
            <a:ext cx="8122920" cy="1145246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" y="5868016"/>
            <a:ext cx="120904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০১ এবং ১০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(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মিশ্র সংখ্যা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):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 মন্টু মিয়া এখানে 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ভুল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 বা কনফিউজড ছিল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! (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ভালো মানুষকে চোর বলা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, 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কিংবা চোরকে ভালো মানুষ বলা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)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০০ এবং ১১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(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ডাবল সংখ্যা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):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 মন্টু মিয়ার সিদ্ধান্ত </a:t>
            </a:r>
            <a:r>
              <a:rPr kumimoji="0" lang="bn-I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সঠিক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 ছিল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! (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০ কে ০ বলা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, 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১ কে ১ বলা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)</a:t>
            </a:r>
            <a:r>
              <a:rPr kumimoji="0" lang="bn-I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Vrinda"/>
              </a:rPr>
              <a:t>।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09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280" y="1"/>
            <a:ext cx="10515600" cy="782320"/>
          </a:xfrm>
        </p:spPr>
        <p:txBody>
          <a:bodyPr/>
          <a:lstStyle/>
          <a:p>
            <a:r>
              <a:rPr lang="bn-IN" dirty="0"/>
              <a:t>কেন এটাকে "</a:t>
            </a:r>
            <a:r>
              <a:rPr lang="en-US" dirty="0"/>
              <a:t>Confusion" </a:t>
            </a:r>
            <a:r>
              <a:rPr lang="bn-IN" dirty="0"/>
              <a:t>ম্যাট্রিক্স বলে?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" y="640080"/>
            <a:ext cx="11724640" cy="5536883"/>
          </a:xfrm>
        </p:spPr>
        <p:txBody>
          <a:bodyPr/>
          <a:lstStyle/>
          <a:p>
            <a:r>
              <a:rPr lang="bn-IN" dirty="0"/>
              <a:t>কারণ এই টেবিলটি দেখলেই বোঝা যায় আমাদের মডেল (বা মন্টু মিয়া) কোথায় কোথায় </a:t>
            </a:r>
            <a:r>
              <a:rPr lang="bn-IN" b="1" dirty="0"/>
              <a:t>কনফিউজড</a:t>
            </a:r>
            <a:r>
              <a:rPr lang="bn-IN" dirty="0"/>
              <a:t> হয়ে গেছে!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56" y="1651442"/>
            <a:ext cx="11101459" cy="417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851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077" y="436563"/>
            <a:ext cx="9144000" cy="69764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Confusion matrix?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993045"/>
            <a:ext cx="10029092" cy="2429485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b="1" dirty="0" smtClean="0"/>
              <a:t>confusion matrix</a:t>
            </a:r>
            <a:r>
              <a:rPr lang="en-US" dirty="0" smtClean="0"/>
              <a:t> is a </a:t>
            </a:r>
            <a:r>
              <a:rPr lang="en-US" dirty="0" smtClean="0">
                <a:solidFill>
                  <a:srgbClr val="FF0000"/>
                </a:solidFill>
              </a:rPr>
              <a:t>performance measurement tool for machine learning classification problems.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It shows </a:t>
            </a:r>
            <a:r>
              <a:rPr lang="en-US" dirty="0" smtClean="0">
                <a:solidFill>
                  <a:srgbClr val="FF0000"/>
                </a:solidFill>
              </a:rPr>
              <a:t>how well a model’s predictions match the actual classes</a:t>
            </a:r>
            <a:r>
              <a:rPr lang="en-US" dirty="0" smtClean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It is especially useful </a:t>
            </a:r>
            <a:r>
              <a:rPr lang="en-US" dirty="0" smtClean="0">
                <a:solidFill>
                  <a:srgbClr val="FF0000"/>
                </a:solidFill>
              </a:rPr>
              <a:t>for evaluating </a:t>
            </a:r>
            <a:r>
              <a:rPr lang="en-US" b="1" dirty="0" smtClean="0">
                <a:solidFill>
                  <a:srgbClr val="FF0000"/>
                </a:solidFill>
              </a:rPr>
              <a:t>binary</a:t>
            </a:r>
            <a:r>
              <a:rPr lang="en-US" dirty="0" smtClean="0">
                <a:solidFill>
                  <a:srgbClr val="FF0000"/>
                </a:solidFill>
              </a:rPr>
              <a:t> and </a:t>
            </a:r>
            <a:r>
              <a:rPr lang="en-US" b="1" dirty="0" smtClean="0">
                <a:solidFill>
                  <a:srgbClr val="FF0000"/>
                </a:solidFill>
              </a:rPr>
              <a:t>multi-class classification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6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93890"/>
            <a:ext cx="8423265" cy="50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3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92" y="373888"/>
            <a:ext cx="4378865" cy="35123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7627"/>
            <a:ext cx="5704865" cy="374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87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111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278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Google Sans Text</vt:lpstr>
      <vt:lpstr>Vrinda</vt:lpstr>
      <vt:lpstr>Office Theme</vt:lpstr>
      <vt:lpstr>গল্প: চৌকিদার মন্টু মিয়া আর চোর ধরার মিশন</vt:lpstr>
      <vt:lpstr>গল্প: চৌকিদার মন্টু মিয়া আর চোর ধরার মিশন</vt:lpstr>
      <vt:lpstr>গল্প: চৌকিদার মন্টু মিয়া আর চোর ধরার মিশন</vt:lpstr>
      <vt:lpstr>মন্টু মিয়ার "কনফিউশন ম্যাট্রিক্স" টেবিল</vt:lpstr>
      <vt:lpstr>মন্টু মিয়ার "কনফিউশন ম্যাট্রিক্স" টেবিল</vt:lpstr>
      <vt:lpstr>কেন এটাকে "Confusion" ম্যাট্রিক্স বলে?</vt:lpstr>
      <vt:lpstr>Confusion matrix?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confusion matrix?</dc:title>
  <dc:creator>Lenovo</dc:creator>
  <cp:lastModifiedBy>Lenovo</cp:lastModifiedBy>
  <cp:revision>12</cp:revision>
  <dcterms:created xsi:type="dcterms:W3CDTF">2025-07-17T10:07:45Z</dcterms:created>
  <dcterms:modified xsi:type="dcterms:W3CDTF">2026-07-17T12:15:34Z</dcterms:modified>
</cp:coreProperties>
</file>