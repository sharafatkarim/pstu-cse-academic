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8" r:id="rId3"/>
    <p:sldId id="272" r:id="rId4"/>
    <p:sldId id="275" r:id="rId5"/>
    <p:sldId id="276" r:id="rId6"/>
    <p:sldId id="277" r:id="rId7"/>
    <p:sldId id="273" r:id="rId8"/>
    <p:sldId id="274" r:id="rId9"/>
    <p:sldId id="262" r:id="rId10"/>
    <p:sldId id="263" r:id="rId11"/>
    <p:sldId id="257" r:id="rId12"/>
    <p:sldId id="259" r:id="rId13"/>
    <p:sldId id="288" r:id="rId14"/>
    <p:sldId id="283" r:id="rId15"/>
    <p:sldId id="284" r:id="rId16"/>
    <p:sldId id="285" r:id="rId17"/>
    <p:sldId id="286" r:id="rId18"/>
    <p:sldId id="287" r:id="rId19"/>
    <p:sldId id="264" r:id="rId20"/>
    <p:sldId id="280" r:id="rId21"/>
    <p:sldId id="281" r:id="rId22"/>
    <p:sldId id="295" r:id="rId23"/>
    <p:sldId id="296" r:id="rId24"/>
    <p:sldId id="289" r:id="rId25"/>
    <p:sldId id="327" r:id="rId26"/>
    <p:sldId id="328" r:id="rId27"/>
    <p:sldId id="290" r:id="rId28"/>
    <p:sldId id="293" r:id="rId29"/>
    <p:sldId id="297" r:id="rId30"/>
    <p:sldId id="294" r:id="rId31"/>
    <p:sldId id="298" r:id="rId32"/>
    <p:sldId id="299" r:id="rId33"/>
    <p:sldId id="282" r:id="rId34"/>
    <p:sldId id="300" r:id="rId35"/>
    <p:sldId id="301" r:id="rId36"/>
    <p:sldId id="302" r:id="rId37"/>
    <p:sldId id="304" r:id="rId38"/>
    <p:sldId id="305" r:id="rId39"/>
    <p:sldId id="306" r:id="rId40"/>
    <p:sldId id="303" r:id="rId41"/>
    <p:sldId id="307" r:id="rId42"/>
    <p:sldId id="308" r:id="rId43"/>
    <p:sldId id="330" r:id="rId44"/>
    <p:sldId id="331" r:id="rId45"/>
    <p:sldId id="333" r:id="rId46"/>
    <p:sldId id="332" r:id="rId47"/>
    <p:sldId id="329" r:id="rId48"/>
    <p:sldId id="316" r:id="rId49"/>
    <p:sldId id="317" r:id="rId50"/>
    <p:sldId id="324" r:id="rId51"/>
    <p:sldId id="321" r:id="rId52"/>
    <p:sldId id="325" r:id="rId53"/>
    <p:sldId id="326" r:id="rId54"/>
    <p:sldId id="322" r:id="rId55"/>
    <p:sldId id="323" r:id="rId56"/>
    <p:sldId id="318" r:id="rId57"/>
    <p:sldId id="319" r:id="rId58"/>
    <p:sldId id="334" r:id="rId59"/>
    <p:sldId id="335" r:id="rId60"/>
    <p:sldId id="336" r:id="rId61"/>
    <p:sldId id="337" r:id="rId62"/>
    <p:sldId id="338" r:id="rId63"/>
    <p:sldId id="339" r:id="rId64"/>
    <p:sldId id="340"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7" autoAdjust="0"/>
    <p:restoredTop sz="94660"/>
  </p:normalViewPr>
  <p:slideViewPr>
    <p:cSldViewPr snapToGrid="0">
      <p:cViewPr varScale="1">
        <p:scale>
          <a:sx n="81" d="100"/>
          <a:sy n="81" d="100"/>
        </p:scale>
        <p:origin x="100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8/26/2023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traveling-salesman-problem-tsp-implementation/" TargetMode="External"/><Relationship Id="rId2" Type="http://schemas.openxmlformats.org/officeDocument/2006/relationships/hyperlink" Target="https://www.geeksforgeeks.org/vertex-cover-problem-set-1-introduction-approximate-algorithm-2/" TargetMode="External"/><Relationship Id="rId1" Type="http://schemas.openxmlformats.org/officeDocument/2006/relationships/slideLayout" Target="../slideLayouts/slideLayout1.xml"/><Relationship Id="rId5" Type="http://schemas.openxmlformats.org/officeDocument/2006/relationships/hyperlink" Target="https://www.geeksforgeeks.org/subset-sum-problem-dp-25/" TargetMode="External"/><Relationship Id="rId4" Type="http://schemas.openxmlformats.org/officeDocument/2006/relationships/hyperlink" Target="https://www.geeksforgeeks.org/set-cover-problem-set-1-greedy-approximate-algorith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https://en.wikipedia.org/wiki/Hamiltonian_cycle_problem" TargetMode="External"/><Relationship Id="rId2" Type="http://schemas.openxmlformats.org/officeDocument/2006/relationships/hyperlink" Target="https://en.wikipedia.org/wiki/Hamiltonian_path_problem" TargetMode="Externa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hyperlink" Target="https://en.wikipedia.org/wiki/NP-complete"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hyperlink" Target="https://en.wikipedia.org/wiki/Backup" TargetMode="External"/><Relationship Id="rId2" Type="http://schemas.openxmlformats.org/officeDocument/2006/relationships/hyperlink" Target="https://en.wikipedia.org/wiki/Optimization_problem" TargetMode="External"/><Relationship Id="rId1" Type="http://schemas.openxmlformats.org/officeDocument/2006/relationships/slideLayout" Target="../slideLayouts/slideLayout1.xml"/><Relationship Id="rId5" Type="http://schemas.openxmlformats.org/officeDocument/2006/relationships/hyperlink" Target="https://en.wikipedia.org/wiki/Semiconductor_chip" TargetMode="External"/><Relationship Id="rId4" Type="http://schemas.openxmlformats.org/officeDocument/2006/relationships/hyperlink" Target="https://en.wikipedia.org/wiki/Field-programmable_gate_array"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ctr"/>
            <a:r>
              <a:rPr lang="en-US" sz="2400" b="1" dirty="0">
                <a:solidFill>
                  <a:srgbClr val="C00000"/>
                </a:solidFill>
              </a:rPr>
              <a:t>     Learning Objectives</a:t>
            </a: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To understand Non-deterministic algorithm.</a:t>
            </a:r>
          </a:p>
          <a:p>
            <a:pPr marL="342900" indent="-342900" algn="just">
              <a:buFont typeface="Wingdings" panose="05000000000000000000" pitchFamily="2" charset="2"/>
              <a:buChar char="v"/>
            </a:pPr>
            <a:r>
              <a:rPr lang="en-US" sz="2200" dirty="0">
                <a:solidFill>
                  <a:schemeClr val="tx1"/>
                </a:solidFill>
              </a:rPr>
              <a:t>To understand relation between NP-Hard and NP-complete</a:t>
            </a:r>
          </a:p>
          <a:p>
            <a:pPr marL="342900" indent="-342900" algn="just">
              <a:buFont typeface="Wingdings" panose="05000000000000000000" pitchFamily="2" charset="2"/>
              <a:buChar char="v"/>
            </a:pPr>
            <a:r>
              <a:rPr lang="en-US" sz="2200" dirty="0">
                <a:solidFill>
                  <a:schemeClr val="tx1"/>
                </a:solidFill>
              </a:rPr>
              <a:t>To understand the approximation algorithms.</a:t>
            </a:r>
          </a:p>
          <a:p>
            <a:pPr marL="342900" indent="-342900" algn="just">
              <a:buFont typeface="Wingdings" panose="05000000000000000000" pitchFamily="2" charset="2"/>
              <a:buChar char="v"/>
            </a:pPr>
            <a:r>
              <a:rPr lang="en-US" sz="2200" dirty="0">
                <a:solidFill>
                  <a:schemeClr val="tx1"/>
                </a:solidFill>
              </a:rPr>
              <a:t>To understand Need for Approximation algorithms.</a:t>
            </a:r>
          </a:p>
          <a:p>
            <a:pPr marL="342900" indent="-342900" algn="just">
              <a:buFont typeface="Wingdings" panose="05000000000000000000" pitchFamily="2" charset="2"/>
              <a:buChar char="v"/>
            </a:pPr>
            <a:r>
              <a:rPr lang="en-US" sz="2200" dirty="0">
                <a:solidFill>
                  <a:schemeClr val="tx1"/>
                </a:solidFill>
              </a:rPr>
              <a:t>To understand basic approximation algorithms.</a:t>
            </a:r>
          </a:p>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89267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1952625" y="1156996"/>
            <a:ext cx="8286750" cy="5053304"/>
          </a:xfrm>
          <a:prstGeom prst="rect">
            <a:avLst/>
          </a:prstGeom>
        </p:spPr>
      </p:pic>
    </p:spTree>
    <p:extLst>
      <p:ext uri="{BB962C8B-B14F-4D97-AF65-F5344CB8AC3E}">
        <p14:creationId xmlns:p14="http://schemas.microsoft.com/office/powerpoint/2010/main" val="192402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114225" y="1035698"/>
            <a:ext cx="9604116" cy="5536358"/>
          </a:xfrm>
          <a:prstGeom prst="rect">
            <a:avLst/>
          </a:prstGeom>
        </p:spPr>
      </p:pic>
    </p:spTree>
    <p:extLst>
      <p:ext uri="{BB962C8B-B14F-4D97-AF65-F5344CB8AC3E}">
        <p14:creationId xmlns:p14="http://schemas.microsoft.com/office/powerpoint/2010/main" val="17501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1952625" y="1119673"/>
            <a:ext cx="8286750" cy="5081102"/>
          </a:xfrm>
          <a:prstGeom prst="rect">
            <a:avLst/>
          </a:prstGeom>
        </p:spPr>
      </p:pic>
    </p:spTree>
    <p:extLst>
      <p:ext uri="{BB962C8B-B14F-4D97-AF65-F5344CB8AC3E}">
        <p14:creationId xmlns:p14="http://schemas.microsoft.com/office/powerpoint/2010/main" val="4008438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1782147" y="1315616"/>
            <a:ext cx="9591837" cy="5234474"/>
          </a:xfrm>
        </p:spPr>
        <p:txBody>
          <a:bodyPr>
            <a:normAutofit/>
          </a:bodyPr>
          <a:lstStyle/>
          <a:p>
            <a:pPr algn="just"/>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algn="just"/>
            <a:endParaRPr lang="en-US" sz="2200" dirty="0">
              <a:solidFill>
                <a:schemeClr val="tx1"/>
              </a:solidFill>
            </a:endParaRPr>
          </a:p>
          <a:p>
            <a:pPr marL="342900" indent="-342900" algn="just">
              <a:buFont typeface="Wingdings" panose="05000000000000000000" pitchFamily="2" charset="2"/>
              <a:buChar char="v"/>
            </a:pPr>
            <a:r>
              <a:rPr lang="en-US" sz="2000" dirty="0">
                <a:solidFill>
                  <a:schemeClr val="tx1"/>
                </a:solidFill>
              </a:rPr>
              <a:t>To write each row and column from 1 to 9 without repetition</a:t>
            </a: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3032545" y="1045029"/>
            <a:ext cx="6238875" cy="4864748"/>
          </a:xfrm>
          <a:prstGeom prst="rect">
            <a:avLst/>
          </a:prstGeom>
        </p:spPr>
      </p:pic>
    </p:spTree>
    <p:extLst>
      <p:ext uri="{BB962C8B-B14F-4D97-AF65-F5344CB8AC3E}">
        <p14:creationId xmlns:p14="http://schemas.microsoft.com/office/powerpoint/2010/main" val="636990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261118" y="1029477"/>
            <a:ext cx="8229600" cy="5358882"/>
          </a:xfrm>
          <a:prstGeom prst="rect">
            <a:avLst/>
          </a:prstGeom>
        </p:spPr>
      </p:pic>
    </p:spTree>
    <p:extLst>
      <p:ext uri="{BB962C8B-B14F-4D97-AF65-F5344CB8AC3E}">
        <p14:creationId xmlns:p14="http://schemas.microsoft.com/office/powerpoint/2010/main" val="113471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Non-Deterministic Algorithm</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1709542" y="1156995"/>
            <a:ext cx="8791575" cy="5375793"/>
          </a:xfrm>
          <a:prstGeom prst="rect">
            <a:avLst/>
          </a:prstGeom>
        </p:spPr>
      </p:pic>
    </p:spTree>
    <p:extLst>
      <p:ext uri="{BB962C8B-B14F-4D97-AF65-F5344CB8AC3E}">
        <p14:creationId xmlns:p14="http://schemas.microsoft.com/office/powerpoint/2010/main" val="2668184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Non-Deterministic Algorithm</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1833433" y="1296955"/>
            <a:ext cx="8505825" cy="5356743"/>
          </a:xfrm>
          <a:prstGeom prst="rect">
            <a:avLst/>
          </a:prstGeom>
        </p:spPr>
      </p:pic>
      <p:sp>
        <p:nvSpPr>
          <p:cNvPr id="5" name="TextBox 4"/>
          <p:cNvSpPr txBox="1"/>
          <p:nvPr/>
        </p:nvSpPr>
        <p:spPr>
          <a:xfrm>
            <a:off x="8814180" y="2724539"/>
            <a:ext cx="3050155" cy="369332"/>
          </a:xfrm>
          <a:prstGeom prst="rect">
            <a:avLst/>
          </a:prstGeom>
          <a:noFill/>
        </p:spPr>
        <p:txBody>
          <a:bodyPr wrap="square" rtlCol="0">
            <a:spAutoFit/>
          </a:bodyPr>
          <a:lstStyle/>
          <a:p>
            <a:r>
              <a:rPr lang="en-US" dirty="0">
                <a:solidFill>
                  <a:srgbClr val="FF0000"/>
                </a:solidFill>
              </a:rPr>
              <a:t>No comparing, searching</a:t>
            </a:r>
          </a:p>
        </p:txBody>
      </p:sp>
    </p:spTree>
    <p:extLst>
      <p:ext uri="{BB962C8B-B14F-4D97-AF65-F5344CB8AC3E}">
        <p14:creationId xmlns:p14="http://schemas.microsoft.com/office/powerpoint/2010/main" val="4038531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marL="342900" indent="-342900" algn="just">
              <a:buFont typeface="Wingdings" panose="05000000000000000000" pitchFamily="2" charset="2"/>
              <a:buChar char="v"/>
            </a:pPr>
            <a:r>
              <a:rPr lang="en-US" sz="2200" dirty="0">
                <a:solidFill>
                  <a:schemeClr val="tx1"/>
                </a:solidFill>
              </a:rPr>
              <a:t>For </a:t>
            </a:r>
            <a:r>
              <a:rPr lang="en-US" sz="2200" b="1" dirty="0">
                <a:solidFill>
                  <a:srgbClr val="C00000"/>
                </a:solidFill>
              </a:rPr>
              <a:t>NP-complete problems</a:t>
            </a:r>
            <a:r>
              <a:rPr lang="en-US" sz="2200" dirty="0">
                <a:solidFill>
                  <a:schemeClr val="tx1"/>
                </a:solidFill>
              </a:rPr>
              <a:t>: there is no polynomial time algorithm to find an optimal solution.</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These algorithms are exponential in nature. When input size is increases the amount of resources become larger and larger…</a:t>
            </a: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The solution of NP-complete problems are very difficult.</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93739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1847462" y="1026367"/>
            <a:ext cx="9610530" cy="5607698"/>
          </a:xfrm>
          <a:prstGeom prst="rect">
            <a:avLst/>
          </a:prstGeom>
        </p:spPr>
      </p:pic>
    </p:spTree>
    <p:extLst>
      <p:ext uri="{BB962C8B-B14F-4D97-AF65-F5344CB8AC3E}">
        <p14:creationId xmlns:p14="http://schemas.microsoft.com/office/powerpoint/2010/main" val="2761350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1754155" y="1084667"/>
            <a:ext cx="9724130" cy="5661366"/>
          </a:xfrm>
          <a:prstGeom prst="rect">
            <a:avLst/>
          </a:prstGeom>
        </p:spPr>
      </p:pic>
    </p:spTree>
    <p:extLst>
      <p:ext uri="{BB962C8B-B14F-4D97-AF65-F5344CB8AC3E}">
        <p14:creationId xmlns:p14="http://schemas.microsoft.com/office/powerpoint/2010/main" val="4266531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Complexity Class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1933089" y="1119770"/>
            <a:ext cx="8829675" cy="5476875"/>
          </a:xfrm>
          <a:prstGeom prst="rect">
            <a:avLst/>
          </a:prstGeom>
        </p:spPr>
      </p:pic>
    </p:spTree>
    <p:extLst>
      <p:ext uri="{BB962C8B-B14F-4D97-AF65-F5344CB8AC3E}">
        <p14:creationId xmlns:p14="http://schemas.microsoft.com/office/powerpoint/2010/main" val="102126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Optimization Problems</a:t>
            </a:r>
          </a:p>
        </p:txBody>
      </p:sp>
      <p:sp>
        <p:nvSpPr>
          <p:cNvPr id="3" name="Subtitle 2"/>
          <p:cNvSpPr>
            <a:spLocks noGrp="1"/>
          </p:cNvSpPr>
          <p:nvPr>
            <p:ph type="subTitle" idx="1"/>
          </p:nvPr>
        </p:nvSpPr>
        <p:spPr>
          <a:xfrm>
            <a:off x="1819470" y="1175657"/>
            <a:ext cx="9797110" cy="5458408"/>
          </a:xfrm>
        </p:spPr>
        <p:txBody>
          <a:bodyPr>
            <a:normAutofit/>
          </a:bodyPr>
          <a:lstStyle/>
          <a:p>
            <a:pPr marL="342900" indent="-342900" algn="just">
              <a:buFont typeface="Wingdings" panose="05000000000000000000" pitchFamily="2" charset="2"/>
              <a:buChar char="v"/>
            </a:pPr>
            <a:r>
              <a:rPr lang="en-US" sz="2200" dirty="0">
                <a:solidFill>
                  <a:schemeClr val="tx1"/>
                </a:solidFill>
              </a:rPr>
              <a:t>In computer science, an optimization problem is the problem of finding the best solution from all feasible solutions.</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The objective may be either min. or max. depending on the problem considered.</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A large number of optimization problems which are required to be solved in practice are NP-Hard as well as NP-complete.</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For such problems, it is not possible to design algorithms that can find exactly optimal solution to all instances of the problem in polynomial time in the size of the input.</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Exponential time complexity, NP-complete problems are:</a:t>
            </a:r>
          </a:p>
          <a:p>
            <a:pPr algn="just"/>
            <a:r>
              <a:rPr lang="en-US" sz="2200" dirty="0">
                <a:solidFill>
                  <a:schemeClr val="tx1"/>
                </a:solidFill>
                <a:latin typeface="+mj-lt"/>
                <a:cs typeface="Courier New" panose="02070309020205020404" pitchFamily="49" charset="0"/>
              </a:rPr>
              <a:t>            </a:t>
            </a:r>
            <a:r>
              <a:rPr lang="en-US" sz="2000" i="1" dirty="0">
                <a:solidFill>
                  <a:schemeClr val="tx1"/>
                </a:solidFill>
                <a:latin typeface="+mj-lt"/>
                <a:cs typeface="Courier New" panose="02070309020205020404" pitchFamily="49" charset="0"/>
              </a:rPr>
              <a:t>TSP: minimize the cost of the route</a:t>
            </a:r>
          </a:p>
          <a:p>
            <a:pPr algn="just"/>
            <a:r>
              <a:rPr lang="en-US" sz="2000" i="1" dirty="0">
                <a:solidFill>
                  <a:schemeClr val="tx1"/>
                </a:solidFill>
                <a:latin typeface="+mj-lt"/>
                <a:cs typeface="Courier New" panose="02070309020205020404" pitchFamily="49" charset="0"/>
              </a:rPr>
              <a:t>             0/1 Knapsack problem: maximize the profit</a:t>
            </a:r>
          </a:p>
          <a:p>
            <a:pPr algn="just"/>
            <a:r>
              <a:rPr lang="en-US" sz="2000" i="1" dirty="0">
                <a:solidFill>
                  <a:schemeClr val="tx1"/>
                </a:solidFill>
                <a:latin typeface="+mj-lt"/>
                <a:cs typeface="Courier New" panose="02070309020205020404" pitchFamily="49" charset="0"/>
              </a:rPr>
              <a:t>             Vertices cover problem: minimize the number of vertices</a:t>
            </a:r>
          </a:p>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95484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rPr>
              <a:t>Address NP-complete problems</a:t>
            </a:r>
            <a:endParaRPr lang="en-US" sz="4000" dirty="0"/>
          </a:p>
        </p:txBody>
      </p:sp>
      <p:sp>
        <p:nvSpPr>
          <p:cNvPr id="3" name="Subtitle 2"/>
          <p:cNvSpPr>
            <a:spLocks noGrp="1"/>
          </p:cNvSpPr>
          <p:nvPr>
            <p:ph type="subTitle" idx="1"/>
          </p:nvPr>
        </p:nvSpPr>
        <p:spPr>
          <a:xfrm>
            <a:off x="1866123" y="1278293"/>
            <a:ext cx="9507862" cy="5075853"/>
          </a:xfrm>
        </p:spPr>
        <p:txBody>
          <a:bodyPr>
            <a:normAutofit/>
          </a:bodyPr>
          <a:lstStyle/>
          <a:p>
            <a:pPr algn="just"/>
            <a:r>
              <a:rPr lang="en-US" sz="2200" dirty="0">
                <a:solidFill>
                  <a:schemeClr val="tx1"/>
                </a:solidFill>
              </a:rPr>
              <a:t>                                    How to solve NP-complete problems?</a:t>
            </a: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Brute-force algorithm</a:t>
            </a:r>
          </a:p>
          <a:p>
            <a:pPr algn="just"/>
            <a:r>
              <a:rPr lang="en-US" sz="2400" dirty="0">
                <a:solidFill>
                  <a:schemeClr val="tx1"/>
                </a:solidFill>
                <a:latin typeface="+mj-lt"/>
                <a:cs typeface="Courier New" panose="02070309020205020404" pitchFamily="49" charset="0"/>
              </a:rPr>
              <a:t>                 </a:t>
            </a:r>
            <a:r>
              <a:rPr lang="en-US" sz="2000" dirty="0">
                <a:solidFill>
                  <a:schemeClr val="tx1"/>
                </a:solidFill>
                <a:latin typeface="+mj-lt"/>
                <a:cs typeface="Courier New" panose="02070309020205020404" pitchFamily="49" charset="0"/>
              </a:rPr>
              <a:t>Guaranteed to find optimal solution</a:t>
            </a:r>
          </a:p>
          <a:p>
            <a:pPr algn="just"/>
            <a:r>
              <a:rPr lang="en-US" sz="2000" dirty="0">
                <a:solidFill>
                  <a:schemeClr val="tx1"/>
                </a:solidFill>
                <a:latin typeface="+mj-lt"/>
                <a:cs typeface="Courier New" panose="02070309020205020404" pitchFamily="49" charset="0"/>
              </a:rPr>
              <a:t>                    No guarantees on running time.   </a:t>
            </a: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Heuristics</a:t>
            </a:r>
          </a:p>
          <a:p>
            <a:pPr algn="just"/>
            <a:r>
              <a:rPr lang="en-US" sz="2400" dirty="0">
                <a:solidFill>
                  <a:schemeClr val="tx1"/>
                </a:solidFill>
                <a:latin typeface="+mj-lt"/>
                <a:cs typeface="Courier New" panose="02070309020205020404" pitchFamily="49" charset="0"/>
              </a:rPr>
              <a:t>                 </a:t>
            </a:r>
            <a:r>
              <a:rPr lang="en-US" sz="2000" dirty="0">
                <a:solidFill>
                  <a:schemeClr val="tx1"/>
                </a:solidFill>
                <a:latin typeface="+mj-lt"/>
                <a:cs typeface="Courier New" panose="02070309020205020404" pitchFamily="49" charset="0"/>
              </a:rPr>
              <a:t>Guaranteed to run in polynomial time</a:t>
            </a:r>
          </a:p>
          <a:p>
            <a:pPr algn="just"/>
            <a:r>
              <a:rPr lang="en-US" sz="2000" dirty="0">
                <a:solidFill>
                  <a:schemeClr val="tx1"/>
                </a:solidFill>
                <a:latin typeface="+mj-lt"/>
                <a:cs typeface="Courier New" panose="02070309020205020404" pitchFamily="49" charset="0"/>
              </a:rPr>
              <a:t>                    No guarantees on quality of solution. </a:t>
            </a: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Approximation algorithms</a:t>
            </a:r>
          </a:p>
          <a:p>
            <a:pPr algn="just"/>
            <a:r>
              <a:rPr lang="en-US" sz="2400" dirty="0">
                <a:solidFill>
                  <a:schemeClr val="tx1"/>
                </a:solidFill>
                <a:latin typeface="+mj-lt"/>
                <a:cs typeface="Courier New" panose="02070309020205020404" pitchFamily="49" charset="0"/>
              </a:rPr>
              <a:t>                </a:t>
            </a:r>
            <a:r>
              <a:rPr lang="en-US" sz="2000" dirty="0">
                <a:solidFill>
                  <a:schemeClr val="tx1"/>
                </a:solidFill>
                <a:latin typeface="+mj-lt"/>
                <a:cs typeface="Courier New" panose="02070309020205020404" pitchFamily="49" charset="0"/>
              </a:rPr>
              <a:t>Guaranteed to run in polynomial time</a:t>
            </a:r>
          </a:p>
          <a:p>
            <a:pPr algn="just"/>
            <a:r>
              <a:rPr lang="en-US" sz="2000" dirty="0">
                <a:solidFill>
                  <a:schemeClr val="tx1"/>
                </a:solidFill>
                <a:latin typeface="+mj-lt"/>
                <a:cs typeface="Courier New" panose="02070309020205020404" pitchFamily="49" charset="0"/>
              </a:rPr>
              <a:t>                   Guaranteed to find near-optimal solution</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7882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cs typeface="Courier New" panose="02070309020205020404" pitchFamily="49" charset="0"/>
              </a:rPr>
              <a:t>Brute-force algorithm</a:t>
            </a:r>
          </a:p>
        </p:txBody>
      </p:sp>
      <p:sp>
        <p:nvSpPr>
          <p:cNvPr id="3" name="Subtitle 2"/>
          <p:cNvSpPr>
            <a:spLocks noGrp="1"/>
          </p:cNvSpPr>
          <p:nvPr>
            <p:ph type="subTitle" idx="1"/>
          </p:nvPr>
        </p:nvSpPr>
        <p:spPr>
          <a:xfrm>
            <a:off x="2458584" y="1614196"/>
            <a:ext cx="8915399" cy="4217437"/>
          </a:xfrm>
        </p:spPr>
        <p:txBody>
          <a:bodyPr>
            <a:normAutofit/>
          </a:bodyPr>
          <a:lstStyle/>
          <a:p>
            <a:pPr marL="342900" indent="-342900" algn="just">
              <a:buFont typeface="Wingdings" panose="05000000000000000000" pitchFamily="2" charset="2"/>
              <a:buChar char="v"/>
            </a:pPr>
            <a:r>
              <a:rPr lang="en-US" sz="2400" dirty="0">
                <a:solidFill>
                  <a:schemeClr val="tx1"/>
                </a:solidFill>
                <a:cs typeface="Courier New" panose="02070309020205020404" pitchFamily="49" charset="0"/>
              </a:rPr>
              <a:t>Brute-force algorithm</a:t>
            </a:r>
          </a:p>
          <a:p>
            <a:pPr algn="just"/>
            <a:r>
              <a:rPr lang="en-US" sz="2000" dirty="0">
                <a:solidFill>
                  <a:schemeClr val="tx1"/>
                </a:solidFill>
              </a:rPr>
              <a:t>In popular Travelling Salesman Problem Solutions:</a:t>
            </a:r>
          </a:p>
          <a:p>
            <a:pPr marL="342900" indent="-342900" algn="just">
              <a:buFont typeface="Wingdings" panose="05000000000000000000" pitchFamily="2" charset="2"/>
              <a:buChar char="Ø"/>
            </a:pPr>
            <a:r>
              <a:rPr lang="en-US" sz="2000" dirty="0">
                <a:solidFill>
                  <a:schemeClr val="tx1"/>
                </a:solidFill>
              </a:rPr>
              <a:t>The Brute Force approach, also known as the Naive Approach, calculates and compares </a:t>
            </a:r>
            <a:r>
              <a:rPr lang="en-US" sz="2000" b="1" i="1" dirty="0">
                <a:solidFill>
                  <a:srgbClr val="FF0000"/>
                </a:solidFill>
              </a:rPr>
              <a:t>all possible permutations of routes </a:t>
            </a:r>
            <a:r>
              <a:rPr lang="en-US" sz="2000" dirty="0">
                <a:solidFill>
                  <a:schemeClr val="tx1"/>
                </a:solidFill>
              </a:rPr>
              <a:t>or paths to determine the shortest unique solution. </a:t>
            </a:r>
          </a:p>
          <a:p>
            <a:pPr marL="342900" indent="-342900" algn="just">
              <a:buFont typeface="Wingdings" panose="05000000000000000000" pitchFamily="2" charset="2"/>
              <a:buChar char="Ø"/>
            </a:pPr>
            <a:r>
              <a:rPr lang="en-US" sz="2000" dirty="0">
                <a:solidFill>
                  <a:schemeClr val="tx1"/>
                </a:solidFill>
              </a:rPr>
              <a:t>To solve the TSP using the Brute-Force approach, you must calculate the total number of routes and then draw and list all the possible routes. Calculate the distance of each route and then choose the shortest one.</a:t>
            </a:r>
          </a:p>
          <a:p>
            <a:pPr marL="342900" indent="-342900" algn="just">
              <a:buFont typeface="Wingdings" panose="05000000000000000000" pitchFamily="2" charset="2"/>
              <a:buChar char="Ø"/>
            </a:pPr>
            <a:r>
              <a:rPr lang="en-US" sz="2000" dirty="0">
                <a:solidFill>
                  <a:schemeClr val="tx1"/>
                </a:solidFill>
              </a:rPr>
              <a:t>This is the </a:t>
            </a:r>
            <a:r>
              <a:rPr lang="en-US" sz="2000" b="1" i="1" dirty="0">
                <a:solidFill>
                  <a:srgbClr val="FF0000"/>
                </a:solidFill>
              </a:rPr>
              <a:t>optimal solution</a:t>
            </a:r>
            <a:r>
              <a:rPr lang="en-US" sz="2000" dirty="0">
                <a:solidFill>
                  <a:schemeClr val="tx1"/>
                </a:solidFill>
              </a:rPr>
              <a:t>. </a:t>
            </a:r>
            <a:endParaRPr lang="en-US" sz="2000" dirty="0">
              <a:solidFill>
                <a:schemeClr val="tx1"/>
              </a:solidFill>
              <a:latin typeface="+mj-lt"/>
              <a:cs typeface="Courier New" panose="02070309020205020404" pitchFamily="49" charset="0"/>
            </a:endParaRPr>
          </a:p>
          <a:p>
            <a:pPr marL="342900" indent="-342900">
              <a:buFont typeface="Wingdings" panose="05000000000000000000" pitchFamily="2" charset="2"/>
              <a:buChar char="Ø"/>
            </a:pPr>
            <a:endParaRPr lang="en-US" sz="2000"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28711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cs typeface="Courier New" panose="02070309020205020404" pitchFamily="49" charset="0"/>
              </a:rPr>
              <a:t>  Heuristic techniques</a:t>
            </a:r>
          </a:p>
        </p:txBody>
      </p:sp>
      <p:sp>
        <p:nvSpPr>
          <p:cNvPr id="3" name="Subtitle 2"/>
          <p:cNvSpPr>
            <a:spLocks noGrp="1"/>
          </p:cNvSpPr>
          <p:nvPr>
            <p:ph type="subTitle" idx="1"/>
          </p:nvPr>
        </p:nvSpPr>
        <p:spPr>
          <a:xfrm>
            <a:off x="2458584" y="942392"/>
            <a:ext cx="8915399" cy="5915608"/>
          </a:xfrm>
        </p:spPr>
        <p:txBody>
          <a:bodyPr>
            <a:normAutofit/>
          </a:bodyPr>
          <a:lstStyle/>
          <a:p>
            <a:pPr marL="342900" indent="-342900" algn="just">
              <a:buFont typeface="Wingdings" panose="05000000000000000000" pitchFamily="2" charset="2"/>
              <a:buChar char="v"/>
            </a:pP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A heuristic technique, is any approach to problem-solving that uses a practical method or various </a:t>
            </a:r>
            <a:r>
              <a:rPr lang="en-US" sz="2000" b="1" i="1" dirty="0">
                <a:solidFill>
                  <a:srgbClr val="FF0000"/>
                </a:solidFill>
              </a:rPr>
              <a:t>shortcuts in order to produce solutions </a:t>
            </a:r>
            <a:r>
              <a:rPr lang="en-US" sz="2000" dirty="0">
                <a:solidFill>
                  <a:schemeClr val="tx1"/>
                </a:solidFill>
              </a:rPr>
              <a:t>that </a:t>
            </a:r>
            <a:r>
              <a:rPr lang="en-US" sz="2000" b="1" i="1" dirty="0">
                <a:solidFill>
                  <a:srgbClr val="FF0000"/>
                </a:solidFill>
              </a:rPr>
              <a:t>may not be optimal </a:t>
            </a:r>
            <a:r>
              <a:rPr lang="en-US" sz="2000" dirty="0">
                <a:solidFill>
                  <a:schemeClr val="tx1"/>
                </a:solidFill>
              </a:rPr>
              <a:t>but are sufficient given a </a:t>
            </a:r>
            <a:r>
              <a:rPr lang="en-US" sz="2000" b="1" i="1" dirty="0">
                <a:solidFill>
                  <a:srgbClr val="FF0000"/>
                </a:solidFill>
              </a:rPr>
              <a:t>limited timeframe </a:t>
            </a:r>
            <a:r>
              <a:rPr lang="en-US" sz="2000" dirty="0">
                <a:solidFill>
                  <a:schemeClr val="tx1"/>
                </a:solidFill>
              </a:rPr>
              <a:t>or deadline. </a:t>
            </a:r>
          </a:p>
          <a:p>
            <a:pPr algn="just"/>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Heuristics methods are intended to be flexible and are used for </a:t>
            </a:r>
            <a:r>
              <a:rPr lang="en-US" sz="2000" b="1" i="1" dirty="0">
                <a:solidFill>
                  <a:srgbClr val="FF0000"/>
                </a:solidFill>
              </a:rPr>
              <a:t>quick decisions</a:t>
            </a:r>
            <a:r>
              <a:rPr lang="en-US" sz="2000" dirty="0">
                <a:solidFill>
                  <a:schemeClr val="tx1"/>
                </a:solidFill>
              </a:rPr>
              <a:t>, especially when finding an optimal solution is either impossible or impractical and when working with complex data.</a:t>
            </a:r>
          </a:p>
          <a:p>
            <a:pPr marL="342900" indent="-342900" algn="just">
              <a:buFont typeface="Wingdings" panose="05000000000000000000" pitchFamily="2" charset="2"/>
              <a:buChar char="v"/>
            </a:pP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Analysts in every industry use rules of thumb such as intelligent guesswork, trial and error, the process of elimination, past formulas, and the analysis of historical data to solve a problem.</a:t>
            </a:r>
          </a:p>
          <a:p>
            <a:endParaRPr lang="en-US" sz="2000"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33604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solidFill>
                  <a:schemeClr val="tx1"/>
                </a:solidFill>
                <a:cs typeface="Courier New" panose="02070309020205020404" pitchFamily="49" charset="0"/>
              </a:rPr>
              <a:t>  Heuristic techniques</a:t>
            </a:r>
          </a:p>
        </p:txBody>
      </p:sp>
      <p:sp>
        <p:nvSpPr>
          <p:cNvPr id="3" name="Subtitle 2"/>
          <p:cNvSpPr>
            <a:spLocks noGrp="1"/>
          </p:cNvSpPr>
          <p:nvPr>
            <p:ph type="subTitle" idx="1"/>
          </p:nvPr>
        </p:nvSpPr>
        <p:spPr>
          <a:xfrm>
            <a:off x="2458584" y="942392"/>
            <a:ext cx="8915399" cy="5915608"/>
          </a:xfrm>
        </p:spPr>
        <p:txBody>
          <a:bodyPr>
            <a:normAutofit/>
          </a:bodyPr>
          <a:lstStyle/>
          <a:p>
            <a:pPr marL="342900" indent="-342900" algn="just">
              <a:buFont typeface="Wingdings" panose="05000000000000000000" pitchFamily="2" charset="2"/>
              <a:buChar char="v"/>
            </a:pPr>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For example, </a:t>
            </a:r>
            <a:r>
              <a:rPr lang="en-US" sz="2000" b="1" i="1" dirty="0">
                <a:solidFill>
                  <a:srgbClr val="FF0000"/>
                </a:solidFill>
              </a:rPr>
              <a:t>Fast Food ABC</a:t>
            </a:r>
            <a:r>
              <a:rPr lang="en-US" sz="2000" dirty="0">
                <a:solidFill>
                  <a:schemeClr val="tx1"/>
                </a:solidFill>
              </a:rPr>
              <a:t> expanded its operations to Bangladesh and its stock price soared. An analyst noted that Bangladesh is a profitable venture for all fast-food chains. </a:t>
            </a:r>
          </a:p>
          <a:p>
            <a:pPr algn="just"/>
            <a:endParaRPr lang="en-US" sz="2000" dirty="0">
              <a:solidFill>
                <a:schemeClr val="tx1"/>
              </a:solidFill>
            </a:endParaRPr>
          </a:p>
          <a:p>
            <a:pPr marL="342900" indent="-342900" algn="just">
              <a:buFont typeface="Wingdings" panose="05000000000000000000" pitchFamily="2" charset="2"/>
              <a:buChar char="v"/>
            </a:pPr>
            <a:r>
              <a:rPr lang="en-US" sz="2000" dirty="0">
                <a:solidFill>
                  <a:schemeClr val="tx1"/>
                </a:solidFill>
              </a:rPr>
              <a:t>Therefore, when Fast Food XYZ announced its plan to explore the Bangladesh market the following year, the analyst wasted no time in giving XYZ a “buy” recommendation.</a:t>
            </a:r>
          </a:p>
          <a:p>
            <a:pPr marL="342900" indent="-342900" algn="just">
              <a:buFont typeface="Wingdings" panose="05000000000000000000" pitchFamily="2" charset="2"/>
              <a:buChar char="v"/>
            </a:pPr>
            <a:endParaRPr lang="en-US" sz="2000" dirty="0">
              <a:solidFill>
                <a:schemeClr val="tx1"/>
              </a:solidFill>
              <a:latin typeface="+mj-lt"/>
            </a:endParaRPr>
          </a:p>
          <a:p>
            <a:pPr marL="342900" indent="-342900" algn="just">
              <a:buFont typeface="Wingdings" panose="05000000000000000000" pitchFamily="2" charset="2"/>
              <a:buChar char="v"/>
            </a:pPr>
            <a:r>
              <a:rPr lang="en-US" sz="2000" dirty="0">
                <a:solidFill>
                  <a:schemeClr val="tx1"/>
                </a:solidFill>
                <a:latin typeface="+mj-lt"/>
              </a:rPr>
              <a:t>Although his shortcut approach </a:t>
            </a:r>
            <a:r>
              <a:rPr lang="en-US" sz="2000" b="1" i="1" dirty="0">
                <a:solidFill>
                  <a:srgbClr val="FF0000"/>
                </a:solidFill>
                <a:latin typeface="+mj-lt"/>
              </a:rPr>
              <a:t>saved reviewing data </a:t>
            </a:r>
            <a:r>
              <a:rPr lang="en-US" sz="2000" dirty="0">
                <a:solidFill>
                  <a:schemeClr val="tx1"/>
                </a:solidFill>
                <a:latin typeface="+mj-lt"/>
              </a:rPr>
              <a:t>for both companies, </a:t>
            </a:r>
            <a:r>
              <a:rPr lang="en-US" sz="2000" b="1" i="1" dirty="0">
                <a:solidFill>
                  <a:srgbClr val="FF0000"/>
                </a:solidFill>
                <a:latin typeface="+mj-lt"/>
              </a:rPr>
              <a:t>it may not have been the best decision</a:t>
            </a:r>
            <a:r>
              <a:rPr lang="en-US" sz="2000" dirty="0">
                <a:solidFill>
                  <a:schemeClr val="tx1"/>
                </a:solidFill>
                <a:latin typeface="+mj-lt"/>
              </a:rPr>
              <a:t>. Fast Food XYZ may have food that is not appealing to Bangladeshi consumers. </a:t>
            </a:r>
          </a:p>
          <a:p>
            <a:pPr algn="just"/>
            <a:endParaRPr lang="en-US" sz="2000" dirty="0">
              <a:solidFill>
                <a:schemeClr val="tx1"/>
              </a:solidFill>
              <a:latin typeface="+mj-lt"/>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70397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3" y="359230"/>
            <a:ext cx="8915399" cy="779105"/>
          </a:xfrm>
        </p:spPr>
        <p:txBody>
          <a:bodyPr>
            <a:normAutofit/>
          </a:bodyPr>
          <a:lstStyle/>
          <a:p>
            <a:pPr algn="ctr"/>
            <a:r>
              <a:rPr lang="en-US" sz="4000" dirty="0">
                <a:solidFill>
                  <a:schemeClr val="tx1"/>
                </a:solidFill>
                <a:cs typeface="Courier New" panose="02070309020205020404" pitchFamily="49" charset="0"/>
              </a:rPr>
              <a:t>  Heuristic techniques</a:t>
            </a:r>
          </a:p>
        </p:txBody>
      </p:sp>
      <p:sp>
        <p:nvSpPr>
          <p:cNvPr id="3" name="Subtitle 2"/>
          <p:cNvSpPr>
            <a:spLocks noGrp="1"/>
          </p:cNvSpPr>
          <p:nvPr>
            <p:ph type="subTitle" idx="1"/>
          </p:nvPr>
        </p:nvSpPr>
        <p:spPr>
          <a:xfrm>
            <a:off x="2458584" y="1735494"/>
            <a:ext cx="8915399" cy="5122506"/>
          </a:xfrm>
        </p:spPr>
        <p:txBody>
          <a:bodyPr>
            <a:normAutofit/>
          </a:bodyPr>
          <a:lstStyle/>
          <a:p>
            <a:pPr algn="just"/>
            <a:r>
              <a:rPr lang="en-US" sz="2000" dirty="0">
                <a:solidFill>
                  <a:schemeClr val="tx1"/>
                </a:solidFill>
                <a:latin typeface="+mj-lt"/>
              </a:rPr>
              <a:t> </a:t>
            </a:r>
          </a:p>
          <a:p>
            <a:pPr algn="just"/>
            <a:r>
              <a:rPr lang="en-US" sz="2000" dirty="0">
                <a:solidFill>
                  <a:schemeClr val="tx1"/>
                </a:solidFill>
              </a:rPr>
              <a:t>In popular Travelling Salesman Problem Solutions:</a:t>
            </a:r>
          </a:p>
          <a:p>
            <a:pPr marL="342900" indent="-342900" algn="just">
              <a:buFont typeface="Wingdings" panose="05000000000000000000" pitchFamily="2" charset="2"/>
              <a:buChar char="v"/>
            </a:pPr>
            <a:endParaRPr lang="en-US" sz="20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000" dirty="0">
                <a:solidFill>
                  <a:schemeClr val="tx1"/>
                </a:solidFill>
                <a:latin typeface="+mj-lt"/>
                <a:cs typeface="Courier New" panose="02070309020205020404" pitchFamily="49" charset="0"/>
              </a:rPr>
              <a:t>In TSP, </a:t>
            </a:r>
            <a:r>
              <a:rPr lang="en-US" sz="2000" dirty="0">
                <a:solidFill>
                  <a:schemeClr val="tx1"/>
                </a:solidFill>
                <a:latin typeface="+mj-lt"/>
              </a:rPr>
              <a:t>This is perhaps the simplest TSP heuristic. The key to this method is to always visit the </a:t>
            </a:r>
            <a:r>
              <a:rPr lang="en-US" sz="2000" b="1" i="1" dirty="0">
                <a:solidFill>
                  <a:srgbClr val="FF0000"/>
                </a:solidFill>
                <a:latin typeface="+mj-lt"/>
              </a:rPr>
              <a:t>nearest destination </a:t>
            </a:r>
            <a:r>
              <a:rPr lang="en-US" sz="2000" dirty="0">
                <a:solidFill>
                  <a:schemeClr val="tx1"/>
                </a:solidFill>
                <a:latin typeface="+mj-lt"/>
              </a:rPr>
              <a:t>and then go back to the first city when all other cities are visited. </a:t>
            </a:r>
          </a:p>
          <a:p>
            <a:pPr algn="just"/>
            <a:endParaRPr lang="en-US" sz="2000" dirty="0">
              <a:solidFill>
                <a:schemeClr val="tx1"/>
              </a:solidFill>
              <a:latin typeface="+mj-lt"/>
            </a:endParaRPr>
          </a:p>
          <a:p>
            <a:pPr marL="342900" indent="-342900" algn="just">
              <a:buFont typeface="Wingdings" panose="05000000000000000000" pitchFamily="2" charset="2"/>
              <a:buChar char="v"/>
            </a:pPr>
            <a:r>
              <a:rPr lang="en-US" sz="2000" dirty="0">
                <a:solidFill>
                  <a:schemeClr val="tx1"/>
                </a:solidFill>
                <a:latin typeface="+mj-lt"/>
              </a:rPr>
              <a:t>To solve the TSP using this method, choose a random city and then look for the </a:t>
            </a:r>
            <a:r>
              <a:rPr lang="en-US" sz="2000" b="1" i="1" dirty="0">
                <a:solidFill>
                  <a:srgbClr val="FF0000"/>
                </a:solidFill>
                <a:latin typeface="+mj-lt"/>
              </a:rPr>
              <a:t>closest unvisited city </a:t>
            </a:r>
            <a:r>
              <a:rPr lang="en-US" sz="2000" dirty="0">
                <a:solidFill>
                  <a:schemeClr val="tx1"/>
                </a:solidFill>
                <a:latin typeface="+mj-lt"/>
              </a:rPr>
              <a:t>and go there. Once you have visited all cities, you must return to the first city. </a:t>
            </a:r>
            <a:endParaRPr lang="en-US" sz="20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3706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3" y="1184987"/>
            <a:ext cx="8915399" cy="5421086"/>
          </a:xfrm>
        </p:spPr>
        <p:txBody>
          <a:bodyPr>
            <a:normAutofit/>
          </a:bodyPr>
          <a:lstStyle/>
          <a:p>
            <a:pPr marL="342900" indent="-342900" algn="just">
              <a:buFont typeface="Wingdings" panose="05000000000000000000" pitchFamily="2" charset="2"/>
              <a:buChar char="v"/>
            </a:pPr>
            <a:r>
              <a:rPr lang="en-US" sz="2200" dirty="0">
                <a:solidFill>
                  <a:schemeClr val="tx1"/>
                </a:solidFill>
              </a:rPr>
              <a:t>An approximation algorithm returns a solution to a combinatorial optimization problem that is provably close to optimal (as opposed to a </a:t>
            </a:r>
            <a:r>
              <a:rPr lang="en-US" sz="2200" i="1" dirty="0">
                <a:solidFill>
                  <a:schemeClr val="tx1"/>
                </a:solidFill>
              </a:rPr>
              <a:t>heuristic</a:t>
            </a:r>
            <a:r>
              <a:rPr lang="en-US" sz="2200" dirty="0">
                <a:solidFill>
                  <a:schemeClr val="tx1"/>
                </a:solidFill>
              </a:rPr>
              <a:t> that may or may not find a good solution).</a:t>
            </a:r>
          </a:p>
          <a:p>
            <a:pPr algn="just"/>
            <a:r>
              <a:rPr lang="en-US" sz="2200" dirty="0">
                <a:solidFill>
                  <a:schemeClr val="tx1"/>
                </a:solidFill>
              </a:rPr>
              <a:t> </a:t>
            </a:r>
          </a:p>
          <a:p>
            <a:pPr marL="342900" indent="-342900" algn="just">
              <a:buFont typeface="Wingdings" panose="05000000000000000000" pitchFamily="2" charset="2"/>
              <a:buChar char="v"/>
            </a:pPr>
            <a:r>
              <a:rPr lang="en-US" sz="2200" dirty="0">
                <a:solidFill>
                  <a:schemeClr val="tx1"/>
                </a:solidFill>
              </a:rPr>
              <a:t>Approximation algorithms are typically used </a:t>
            </a:r>
            <a:r>
              <a:rPr lang="en-US" sz="2200" b="1" i="1" dirty="0">
                <a:solidFill>
                  <a:srgbClr val="FF0000"/>
                </a:solidFill>
              </a:rPr>
              <a:t>when finding an optimal solution is intractable</a:t>
            </a:r>
            <a:r>
              <a:rPr lang="en-US" sz="2200" dirty="0">
                <a:solidFill>
                  <a:schemeClr val="tx1"/>
                </a:solidFill>
              </a:rPr>
              <a:t>, but can also be used in some situations where a near-optimal solution can be found quickly and an exact solution is not needed. </a:t>
            </a:r>
          </a:p>
          <a:p>
            <a:pPr algn="just"/>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Challenge: Need to prove a solution’s value, which is close to optimum value, without even knowing the optimum value. </a:t>
            </a:r>
          </a:p>
          <a:p>
            <a:pPr marL="342900" indent="-342900" algn="just">
              <a:buFont typeface="Wingdings" panose="05000000000000000000" pitchFamily="2" charset="2"/>
              <a:buChar char="v"/>
            </a:pPr>
            <a:endParaRPr lang="en-US" sz="2200" dirty="0">
              <a:solidFill>
                <a:schemeClr val="tx1"/>
              </a:solidFill>
            </a:endParaRPr>
          </a:p>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28006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376487" y="1809750"/>
            <a:ext cx="7439025" cy="3238500"/>
          </a:xfrm>
          <a:prstGeom prst="rect">
            <a:avLst/>
          </a:prstGeom>
        </p:spPr>
      </p:pic>
    </p:spTree>
    <p:extLst>
      <p:ext uri="{BB962C8B-B14F-4D97-AF65-F5344CB8AC3E}">
        <p14:creationId xmlns:p14="http://schemas.microsoft.com/office/powerpoint/2010/main" val="1342608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717540" y="1125602"/>
            <a:ext cx="7391400" cy="4905375"/>
          </a:xfrm>
          <a:prstGeom prst="rect">
            <a:avLst/>
          </a:prstGeom>
        </p:spPr>
      </p:pic>
    </p:spTree>
    <p:extLst>
      <p:ext uri="{BB962C8B-B14F-4D97-AF65-F5344CB8AC3E}">
        <p14:creationId xmlns:p14="http://schemas.microsoft.com/office/powerpoint/2010/main" val="271446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458584" y="1628775"/>
            <a:ext cx="4562475" cy="3857625"/>
          </a:xfrm>
          <a:prstGeom prst="rect">
            <a:avLst/>
          </a:prstGeom>
        </p:spPr>
      </p:pic>
      <p:pic>
        <p:nvPicPr>
          <p:cNvPr id="6" name="Picture 5"/>
          <p:cNvPicPr>
            <a:picLocks noChangeAspect="1"/>
          </p:cNvPicPr>
          <p:nvPr/>
        </p:nvPicPr>
        <p:blipFill>
          <a:blip r:embed="rId3"/>
          <a:stretch>
            <a:fillRect/>
          </a:stretch>
        </p:blipFill>
        <p:spPr>
          <a:xfrm>
            <a:off x="7362532" y="2017550"/>
            <a:ext cx="4352925" cy="2076450"/>
          </a:xfrm>
          <a:prstGeom prst="rect">
            <a:avLst/>
          </a:prstGeom>
        </p:spPr>
      </p:pic>
      <p:sp>
        <p:nvSpPr>
          <p:cNvPr id="7" name="TextBox 6"/>
          <p:cNvSpPr txBox="1"/>
          <p:nvPr/>
        </p:nvSpPr>
        <p:spPr>
          <a:xfrm>
            <a:off x="8341567" y="4741517"/>
            <a:ext cx="3200400" cy="1200329"/>
          </a:xfrm>
          <a:prstGeom prst="rect">
            <a:avLst/>
          </a:prstGeom>
          <a:noFill/>
        </p:spPr>
        <p:txBody>
          <a:bodyPr wrap="square" rtlCol="0">
            <a:spAutoFit/>
          </a:bodyPr>
          <a:lstStyle/>
          <a:p>
            <a:r>
              <a:rPr lang="en-US" sz="2400" i="1" dirty="0"/>
              <a:t>A(I)=C</a:t>
            </a:r>
          </a:p>
          <a:p>
            <a:r>
              <a:rPr lang="en-US" sz="2400" i="1" dirty="0"/>
              <a:t>A*(I)=C*</a:t>
            </a:r>
          </a:p>
          <a:p>
            <a:r>
              <a:rPr lang="en-US" sz="2400" i="1" dirty="0"/>
              <a:t>K=</a:t>
            </a:r>
            <a:r>
              <a:rPr lang="el-GR" sz="2400" i="1" dirty="0"/>
              <a:t>ρ</a:t>
            </a:r>
            <a:r>
              <a:rPr lang="en-US" sz="2400" i="1" dirty="0"/>
              <a:t>(n)</a:t>
            </a:r>
          </a:p>
        </p:txBody>
      </p:sp>
    </p:spTree>
    <p:extLst>
      <p:ext uri="{BB962C8B-B14F-4D97-AF65-F5344CB8AC3E}">
        <p14:creationId xmlns:p14="http://schemas.microsoft.com/office/powerpoint/2010/main" val="2843247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3648075" y="1962150"/>
            <a:ext cx="4895850" cy="2933700"/>
          </a:xfrm>
          <a:prstGeom prst="rect">
            <a:avLst/>
          </a:prstGeom>
        </p:spPr>
      </p:pic>
    </p:spTree>
    <p:extLst>
      <p:ext uri="{BB962C8B-B14F-4D97-AF65-F5344CB8AC3E}">
        <p14:creationId xmlns:p14="http://schemas.microsoft.com/office/powerpoint/2010/main" val="2544501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5218988E-813D-68FE-9874-26E67FBCAA43}"/>
              </a:ext>
            </a:extLst>
          </p:cNvPr>
          <p:cNvSpPr txBox="1"/>
          <p:nvPr/>
        </p:nvSpPr>
        <p:spPr>
          <a:xfrm>
            <a:off x="1762812" y="1444040"/>
            <a:ext cx="10077253" cy="5078313"/>
          </a:xfrm>
          <a:prstGeom prst="rect">
            <a:avLst/>
          </a:prstGeom>
          <a:noFill/>
        </p:spPr>
        <p:txBody>
          <a:bodyPr wrap="square">
            <a:spAutoFit/>
          </a:bodyPr>
          <a:lstStyle/>
          <a:p>
            <a:pPr fontAlgn="base"/>
            <a:r>
              <a:rPr lang="en-US" b="1" i="0" dirty="0">
                <a:solidFill>
                  <a:srgbClr val="273239"/>
                </a:solidFill>
                <a:effectLst/>
                <a:latin typeface="urw-din"/>
              </a:rPr>
              <a:t>Some examples of the Approximation algorithm :</a:t>
            </a:r>
            <a:br>
              <a:rPr lang="en-US" b="0" i="0" dirty="0">
                <a:solidFill>
                  <a:srgbClr val="273239"/>
                </a:solidFill>
                <a:effectLst/>
                <a:latin typeface="urw-din"/>
              </a:rPr>
            </a:br>
            <a:r>
              <a:rPr lang="en-US" b="0" i="0" dirty="0">
                <a:solidFill>
                  <a:srgbClr val="273239"/>
                </a:solidFill>
                <a:effectLst/>
                <a:latin typeface="urw-din"/>
              </a:rPr>
              <a:t>Here, we will discuss some examples of the Approximation Algorithm as follows.</a:t>
            </a:r>
          </a:p>
          <a:p>
            <a:pPr fontAlgn="base"/>
            <a:endParaRPr lang="en-US" b="0" i="0" dirty="0">
              <a:solidFill>
                <a:srgbClr val="273239"/>
              </a:solidFill>
              <a:effectLst/>
              <a:latin typeface="urw-din"/>
            </a:endParaRPr>
          </a:p>
          <a:p>
            <a:pPr fontAlgn="base">
              <a:buFont typeface="+mj-lt"/>
              <a:buAutoNum type="arabicPeriod"/>
            </a:pPr>
            <a:r>
              <a:rPr lang="en-US" b="1" i="0" u="sng" dirty="0">
                <a:solidFill>
                  <a:srgbClr val="273239"/>
                </a:solidFill>
                <a:effectLst/>
                <a:latin typeface="urw-din"/>
                <a:hlinkClick r:id="rId2"/>
              </a:rPr>
              <a:t>The Vertex Cover Problem</a:t>
            </a:r>
            <a:r>
              <a:rPr lang="en-US" b="1" i="0" dirty="0">
                <a:solidFill>
                  <a:srgbClr val="273239"/>
                </a:solidFill>
                <a:effectLst/>
                <a:latin typeface="urw-din"/>
              </a:rPr>
              <a:t> –</a:t>
            </a:r>
            <a:r>
              <a:rPr lang="en-US" b="0"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In the vertex cover problem, the optimization problem is to find the vertex cover with the </a:t>
            </a:r>
            <a:r>
              <a:rPr lang="en-US" b="1" i="0" dirty="0">
                <a:solidFill>
                  <a:srgbClr val="273239"/>
                </a:solidFill>
                <a:effectLst/>
                <a:latin typeface="urw-din"/>
              </a:rPr>
              <a:t>fewest</a:t>
            </a:r>
            <a:r>
              <a:rPr lang="en-US" b="0" i="0" dirty="0">
                <a:solidFill>
                  <a:srgbClr val="273239"/>
                </a:solidFill>
                <a:effectLst/>
                <a:latin typeface="urw-din"/>
              </a:rPr>
              <a:t> </a:t>
            </a:r>
            <a:r>
              <a:rPr lang="en-US" b="1" i="0" dirty="0">
                <a:solidFill>
                  <a:srgbClr val="273239"/>
                </a:solidFill>
                <a:effectLst/>
                <a:latin typeface="urw-din"/>
              </a:rPr>
              <a:t>vertices</a:t>
            </a:r>
            <a:r>
              <a:rPr lang="en-US" b="0" i="0" dirty="0">
                <a:solidFill>
                  <a:srgbClr val="273239"/>
                </a:solidFill>
                <a:effectLst/>
                <a:latin typeface="urw-din"/>
              </a:rPr>
              <a:t>, and the approximation problem is to find the vertex cover with </a:t>
            </a:r>
            <a:r>
              <a:rPr lang="en-US" b="1" i="0" dirty="0">
                <a:solidFill>
                  <a:srgbClr val="273239"/>
                </a:solidFill>
                <a:effectLst/>
                <a:latin typeface="urw-din"/>
              </a:rPr>
              <a:t>few</a:t>
            </a:r>
            <a:r>
              <a:rPr lang="en-US" b="0" i="0" dirty="0">
                <a:solidFill>
                  <a:srgbClr val="273239"/>
                </a:solidFill>
                <a:effectLst/>
                <a:latin typeface="urw-din"/>
              </a:rPr>
              <a:t> </a:t>
            </a:r>
            <a:r>
              <a:rPr lang="en-US" b="1" i="0" dirty="0">
                <a:solidFill>
                  <a:srgbClr val="273239"/>
                </a:solidFill>
                <a:effectLst/>
                <a:latin typeface="urw-din"/>
              </a:rPr>
              <a:t>vertices</a:t>
            </a:r>
            <a:r>
              <a:rPr lang="en-US" b="0" i="0" dirty="0">
                <a:solidFill>
                  <a:srgbClr val="273239"/>
                </a:solidFill>
                <a:effectLst/>
                <a:latin typeface="urw-din"/>
              </a:rPr>
              <a:t>.</a:t>
            </a:r>
            <a:br>
              <a:rPr lang="en-US" b="0" i="0" dirty="0">
                <a:solidFill>
                  <a:srgbClr val="273239"/>
                </a:solidFill>
                <a:effectLst/>
                <a:latin typeface="urw-din"/>
              </a:rPr>
            </a:br>
            <a:r>
              <a:rPr lang="en-US" b="0" i="0" dirty="0">
                <a:solidFill>
                  <a:srgbClr val="273239"/>
                </a:solidFill>
                <a:effectLst/>
                <a:latin typeface="urw-din"/>
              </a:rPr>
              <a:t> </a:t>
            </a:r>
          </a:p>
          <a:p>
            <a:pPr fontAlgn="base">
              <a:buFont typeface="+mj-lt"/>
              <a:buAutoNum type="arabicPeriod"/>
            </a:pPr>
            <a:r>
              <a:rPr lang="en-US" b="1" i="0" u="sng" dirty="0">
                <a:solidFill>
                  <a:srgbClr val="273239"/>
                </a:solidFill>
                <a:effectLst/>
                <a:latin typeface="urw-din"/>
                <a:hlinkClick r:id="rId3"/>
              </a:rPr>
              <a:t>Travelling Salesman Problem</a:t>
            </a:r>
            <a:r>
              <a:rPr lang="en-US" b="1"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In the traveling salesperson problem, the optimization problem is to find the </a:t>
            </a:r>
            <a:r>
              <a:rPr lang="en-US" b="1" i="0" dirty="0">
                <a:solidFill>
                  <a:srgbClr val="273239"/>
                </a:solidFill>
                <a:effectLst/>
                <a:latin typeface="urw-din"/>
              </a:rPr>
              <a:t>shortest cycle</a:t>
            </a:r>
            <a:r>
              <a:rPr lang="en-US" b="0" i="0" dirty="0">
                <a:solidFill>
                  <a:srgbClr val="273239"/>
                </a:solidFill>
                <a:effectLst/>
                <a:latin typeface="urw-din"/>
              </a:rPr>
              <a:t>, and the approximation problem is to find a </a:t>
            </a:r>
            <a:r>
              <a:rPr lang="en-US" b="1" i="0" dirty="0">
                <a:solidFill>
                  <a:srgbClr val="273239"/>
                </a:solidFill>
                <a:effectLst/>
                <a:latin typeface="urw-din"/>
              </a:rPr>
              <a:t>short cycle</a:t>
            </a:r>
            <a:r>
              <a:rPr lang="en-US" b="0" i="0" dirty="0">
                <a:solidFill>
                  <a:srgbClr val="273239"/>
                </a:solidFill>
                <a:effectLst/>
                <a:latin typeface="urw-din"/>
              </a:rPr>
              <a:t>.</a:t>
            </a:r>
            <a:br>
              <a:rPr lang="en-US" b="0" i="0" dirty="0">
                <a:solidFill>
                  <a:srgbClr val="273239"/>
                </a:solidFill>
                <a:effectLst/>
                <a:latin typeface="urw-din"/>
              </a:rPr>
            </a:br>
            <a:r>
              <a:rPr lang="en-US" b="0" i="0" dirty="0">
                <a:solidFill>
                  <a:srgbClr val="273239"/>
                </a:solidFill>
                <a:effectLst/>
                <a:latin typeface="urw-din"/>
              </a:rPr>
              <a:t> </a:t>
            </a:r>
          </a:p>
          <a:p>
            <a:pPr fontAlgn="base">
              <a:buFont typeface="+mj-lt"/>
              <a:buAutoNum type="arabicPeriod"/>
            </a:pPr>
            <a:r>
              <a:rPr lang="en-US" b="1" i="0" u="sng" dirty="0">
                <a:solidFill>
                  <a:srgbClr val="273239"/>
                </a:solidFill>
                <a:effectLst/>
                <a:latin typeface="urw-din"/>
                <a:hlinkClick r:id="rId4"/>
              </a:rPr>
              <a:t>The Set Covering Problem </a:t>
            </a:r>
            <a:r>
              <a:rPr lang="en-US" b="1"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This is an optimization problem that models many problems that require resources to be allocated. Here, a logarithmic approximation ratio is used.</a:t>
            </a:r>
            <a:br>
              <a:rPr lang="en-US" b="0" i="0" dirty="0">
                <a:solidFill>
                  <a:srgbClr val="273239"/>
                </a:solidFill>
                <a:effectLst/>
                <a:latin typeface="urw-din"/>
              </a:rPr>
            </a:br>
            <a:r>
              <a:rPr lang="en-US" b="0" i="0" dirty="0">
                <a:solidFill>
                  <a:srgbClr val="273239"/>
                </a:solidFill>
                <a:effectLst/>
                <a:latin typeface="urw-din"/>
              </a:rPr>
              <a:t> </a:t>
            </a:r>
          </a:p>
          <a:p>
            <a:pPr fontAlgn="base">
              <a:buFont typeface="+mj-lt"/>
              <a:buAutoNum type="arabicPeriod"/>
            </a:pPr>
            <a:r>
              <a:rPr lang="en-US" b="1" i="0" u="sng" dirty="0">
                <a:solidFill>
                  <a:srgbClr val="273239"/>
                </a:solidFill>
                <a:effectLst/>
                <a:latin typeface="urw-din"/>
                <a:hlinkClick r:id="rId5"/>
              </a:rPr>
              <a:t>The Subset Sum Problem</a:t>
            </a:r>
            <a:r>
              <a:rPr lang="en-US" b="1" i="0" dirty="0">
                <a:solidFill>
                  <a:srgbClr val="273239"/>
                </a:solidFill>
                <a:effectLst/>
                <a:latin typeface="urw-din"/>
              </a:rPr>
              <a:t> – </a:t>
            </a:r>
            <a:br>
              <a:rPr lang="en-US" b="0" i="0" dirty="0">
                <a:solidFill>
                  <a:srgbClr val="273239"/>
                </a:solidFill>
                <a:effectLst/>
                <a:latin typeface="urw-din"/>
              </a:rPr>
            </a:br>
            <a:r>
              <a:rPr lang="en-US" b="0" i="0" dirty="0">
                <a:solidFill>
                  <a:srgbClr val="273239"/>
                </a:solidFill>
                <a:effectLst/>
                <a:latin typeface="urw-din"/>
              </a:rPr>
              <a:t>In the Subset sum problem, the optimization problem is to find a subset of {x1,×2,×3…</a:t>
            </a:r>
            <a:r>
              <a:rPr lang="en-US" b="0" i="0" dirty="0" err="1">
                <a:solidFill>
                  <a:srgbClr val="273239"/>
                </a:solidFill>
                <a:effectLst/>
                <a:latin typeface="urw-din"/>
              </a:rPr>
              <a:t>xn</a:t>
            </a:r>
            <a:r>
              <a:rPr lang="en-US" b="0" i="0" dirty="0">
                <a:solidFill>
                  <a:srgbClr val="273239"/>
                </a:solidFill>
                <a:effectLst/>
                <a:latin typeface="urw-din"/>
              </a:rPr>
              <a:t>} whose sum is as large as possible but not larger than the target value t.</a:t>
            </a:r>
          </a:p>
        </p:txBody>
      </p:sp>
    </p:spTree>
    <p:extLst>
      <p:ext uri="{BB962C8B-B14F-4D97-AF65-F5344CB8AC3E}">
        <p14:creationId xmlns:p14="http://schemas.microsoft.com/office/powerpoint/2010/main" val="3973772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3414123" y="1747837"/>
            <a:ext cx="7305675" cy="3362325"/>
          </a:xfrm>
          <a:prstGeom prst="rect">
            <a:avLst/>
          </a:prstGeom>
        </p:spPr>
      </p:pic>
    </p:spTree>
    <p:extLst>
      <p:ext uri="{BB962C8B-B14F-4D97-AF65-F5344CB8AC3E}">
        <p14:creationId xmlns:p14="http://schemas.microsoft.com/office/powerpoint/2010/main" val="3985372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809946" y="1027522"/>
            <a:ext cx="10114961" cy="5741836"/>
          </a:xfrm>
        </p:spPr>
        <p:txBody>
          <a:bodyPr>
            <a:normAutofit/>
          </a:bodyPr>
          <a:lstStyle/>
          <a:p>
            <a:pPr algn="l" fontAlgn="base"/>
            <a:r>
              <a:rPr lang="en-US" sz="2400" b="1" i="0" dirty="0">
                <a:solidFill>
                  <a:srgbClr val="273239"/>
                </a:solidFill>
                <a:effectLst/>
                <a:latin typeface="Source Sans 3"/>
              </a:rPr>
              <a:t>Introduction and Approximate Solution for Vertex Cover Problem:</a:t>
            </a:r>
          </a:p>
          <a:p>
            <a:pPr algn="l" fontAlgn="base"/>
            <a:r>
              <a:rPr lang="en-US" sz="2400" b="0" i="0" dirty="0">
                <a:solidFill>
                  <a:srgbClr val="273239"/>
                </a:solidFill>
                <a:effectLst/>
                <a:latin typeface="Nunito" pitchFamily="2" charset="0"/>
              </a:rPr>
              <a:t>A vertex cover of an undirected graph is a subset of its vertices such that for every edge (u, v) of the graph, either ‘u’ or ‘v’ is in the vertex cover. Although the name is Vertex Cover, the set covers all edges of the given graph. </a:t>
            </a:r>
            <a:r>
              <a:rPr lang="en-US" sz="2400" b="1" i="1" dirty="0">
                <a:solidFill>
                  <a:srgbClr val="273239"/>
                </a:solidFill>
                <a:effectLst/>
                <a:latin typeface="Nunito" pitchFamily="2" charset="0"/>
              </a:rPr>
              <a:t>Given an undirected graph, the vertex cover problem is to find minimum size vertex cover</a:t>
            </a:r>
            <a:r>
              <a:rPr lang="en-US" sz="2400" b="0" i="0" dirty="0">
                <a:solidFill>
                  <a:srgbClr val="273239"/>
                </a:solidFill>
                <a:effectLst/>
                <a:latin typeface="Nunito" pitchFamily="2" charset="0"/>
              </a:rPr>
              <a:t>. </a:t>
            </a:r>
            <a:br>
              <a:rPr lang="en-US" sz="2400" dirty="0"/>
            </a:br>
            <a:r>
              <a:rPr lang="en-US" sz="2400" b="0" i="0" dirty="0">
                <a:solidFill>
                  <a:srgbClr val="273239"/>
                </a:solidFill>
                <a:effectLst/>
                <a:latin typeface="Nunito" pitchFamily="2" charset="0"/>
              </a:rPr>
              <a:t>The following are some examples. </a:t>
            </a:r>
          </a:p>
          <a:p>
            <a:pPr algn="l" fontAlgn="base"/>
            <a:endParaRPr lang="en-US" sz="2400" dirty="0">
              <a:solidFill>
                <a:srgbClr val="273239"/>
              </a:solidFill>
              <a:latin typeface="Nunito" pitchFamily="2" charset="0"/>
            </a:endParaRPr>
          </a:p>
          <a:p>
            <a:pPr algn="l" fontAlgn="base"/>
            <a:endParaRPr lang="en-US" sz="2400" b="1" i="0" dirty="0">
              <a:solidFill>
                <a:srgbClr val="273239"/>
              </a:solidFill>
              <a:effectLst/>
              <a:latin typeface="Source Sans 3"/>
            </a:endParaRPr>
          </a:p>
        </p:txBody>
      </p:sp>
      <p:pic>
        <p:nvPicPr>
          <p:cNvPr id="6" name="Picture 5">
            <a:extLst>
              <a:ext uri="{FF2B5EF4-FFF2-40B4-BE49-F238E27FC236}">
                <a16:creationId xmlns:a16="http://schemas.microsoft.com/office/drawing/2014/main" id="{4D615F64-B0A4-E693-F421-5116DAA4C1D5}"/>
              </a:ext>
            </a:extLst>
          </p:cNvPr>
          <p:cNvPicPr>
            <a:picLocks noChangeAspect="1"/>
          </p:cNvPicPr>
          <p:nvPr/>
        </p:nvPicPr>
        <p:blipFill>
          <a:blip r:embed="rId2"/>
          <a:stretch>
            <a:fillRect/>
          </a:stretch>
        </p:blipFill>
        <p:spPr>
          <a:xfrm>
            <a:off x="1809946" y="4118060"/>
            <a:ext cx="10030120" cy="2392601"/>
          </a:xfrm>
          <a:prstGeom prst="rect">
            <a:avLst/>
          </a:prstGeom>
        </p:spPr>
      </p:pic>
    </p:spTree>
    <p:extLst>
      <p:ext uri="{BB962C8B-B14F-4D97-AF65-F5344CB8AC3E}">
        <p14:creationId xmlns:p14="http://schemas.microsoft.com/office/powerpoint/2010/main" val="1720801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736591" y="1475888"/>
            <a:ext cx="7353300" cy="3952875"/>
          </a:xfrm>
          <a:prstGeom prst="rect">
            <a:avLst/>
          </a:prstGeom>
        </p:spPr>
      </p:pic>
      <p:sp>
        <p:nvSpPr>
          <p:cNvPr id="5" name="Down Arrow 4"/>
          <p:cNvSpPr/>
          <p:nvPr/>
        </p:nvSpPr>
        <p:spPr>
          <a:xfrm>
            <a:off x="5682343" y="2621902"/>
            <a:ext cx="195943" cy="1156998"/>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5486400" y="2276669"/>
            <a:ext cx="1996751" cy="369332"/>
          </a:xfrm>
          <a:prstGeom prst="rect">
            <a:avLst/>
          </a:prstGeom>
          <a:noFill/>
        </p:spPr>
        <p:txBody>
          <a:bodyPr wrap="square" rtlCol="0">
            <a:spAutoFit/>
          </a:bodyPr>
          <a:lstStyle/>
          <a:p>
            <a:r>
              <a:rPr lang="en-US" dirty="0"/>
              <a:t>Vertices cover</a:t>
            </a:r>
          </a:p>
        </p:txBody>
      </p:sp>
    </p:spTree>
    <p:extLst>
      <p:ext uri="{BB962C8B-B14F-4D97-AF65-F5344CB8AC3E}">
        <p14:creationId xmlns:p14="http://schemas.microsoft.com/office/powerpoint/2010/main" val="2401816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4" y="1012755"/>
            <a:ext cx="8915399" cy="3554964"/>
          </a:xfrm>
        </p:spPr>
        <p:txBody>
          <a:bodyPr>
            <a:normAutofit/>
          </a:bodyPr>
          <a:lstStyle/>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Vertices cover example:</a:t>
            </a: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5511345" y="2286767"/>
            <a:ext cx="2809875" cy="2080727"/>
          </a:xfrm>
          <a:prstGeom prst="rect">
            <a:avLst/>
          </a:prstGeom>
        </p:spPr>
      </p:pic>
      <p:sp>
        <p:nvSpPr>
          <p:cNvPr id="7" name="TextBox 6"/>
          <p:cNvSpPr txBox="1"/>
          <p:nvPr/>
        </p:nvSpPr>
        <p:spPr>
          <a:xfrm>
            <a:off x="5792624" y="4712727"/>
            <a:ext cx="2528596" cy="369332"/>
          </a:xfrm>
          <a:prstGeom prst="rect">
            <a:avLst/>
          </a:prstGeom>
          <a:noFill/>
        </p:spPr>
        <p:txBody>
          <a:bodyPr wrap="square" rtlCol="0">
            <a:spAutoFit/>
          </a:bodyPr>
          <a:lstStyle/>
          <a:p>
            <a:r>
              <a:rPr lang="en-US" dirty="0"/>
              <a:t>Undirected graph</a:t>
            </a:r>
          </a:p>
        </p:txBody>
      </p:sp>
    </p:spTree>
    <p:extLst>
      <p:ext uri="{BB962C8B-B14F-4D97-AF65-F5344CB8AC3E}">
        <p14:creationId xmlns:p14="http://schemas.microsoft.com/office/powerpoint/2010/main" val="3684069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4" y="1012755"/>
            <a:ext cx="8915399" cy="3554964"/>
          </a:xfrm>
        </p:spPr>
        <p:txBody>
          <a:bodyPr>
            <a:normAutofit/>
          </a:bodyPr>
          <a:lstStyle/>
          <a:p>
            <a:pPr marL="342900" indent="-342900" algn="just">
              <a:buFont typeface="Wingdings" panose="05000000000000000000" pitchFamily="2" charset="2"/>
              <a:buChar char="v"/>
            </a:pPr>
            <a:r>
              <a:rPr lang="en-US" sz="2200" dirty="0">
                <a:solidFill>
                  <a:schemeClr val="tx1"/>
                </a:solidFill>
              </a:rPr>
              <a:t>Vertices cover example:</a:t>
            </a: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833223" y="1722752"/>
            <a:ext cx="2809875" cy="2080727"/>
          </a:xfrm>
          <a:prstGeom prst="rect">
            <a:avLst/>
          </a:prstGeom>
        </p:spPr>
      </p:pic>
      <p:pic>
        <p:nvPicPr>
          <p:cNvPr id="5" name="Picture 4"/>
          <p:cNvPicPr>
            <a:picLocks noChangeAspect="1"/>
          </p:cNvPicPr>
          <p:nvPr/>
        </p:nvPicPr>
        <p:blipFill>
          <a:blip r:embed="rId3"/>
          <a:stretch>
            <a:fillRect/>
          </a:stretch>
        </p:blipFill>
        <p:spPr>
          <a:xfrm>
            <a:off x="6363833" y="1565104"/>
            <a:ext cx="2571750" cy="2238375"/>
          </a:xfrm>
          <a:prstGeom prst="rect">
            <a:avLst/>
          </a:prstGeom>
        </p:spPr>
      </p:pic>
      <p:pic>
        <p:nvPicPr>
          <p:cNvPr id="6" name="Picture 5"/>
          <p:cNvPicPr>
            <a:picLocks noChangeAspect="1"/>
          </p:cNvPicPr>
          <p:nvPr/>
        </p:nvPicPr>
        <p:blipFill>
          <a:blip r:embed="rId4"/>
          <a:stretch>
            <a:fillRect/>
          </a:stretch>
        </p:blipFill>
        <p:spPr>
          <a:xfrm>
            <a:off x="9124000" y="1584154"/>
            <a:ext cx="2438400" cy="2219325"/>
          </a:xfrm>
          <a:prstGeom prst="rect">
            <a:avLst/>
          </a:prstGeom>
        </p:spPr>
      </p:pic>
      <p:sp>
        <p:nvSpPr>
          <p:cNvPr id="7" name="TextBox 6"/>
          <p:cNvSpPr txBox="1"/>
          <p:nvPr/>
        </p:nvSpPr>
        <p:spPr>
          <a:xfrm>
            <a:off x="2973862" y="4000933"/>
            <a:ext cx="2528596" cy="369332"/>
          </a:xfrm>
          <a:prstGeom prst="rect">
            <a:avLst/>
          </a:prstGeom>
          <a:noFill/>
        </p:spPr>
        <p:txBody>
          <a:bodyPr wrap="square" rtlCol="0">
            <a:spAutoFit/>
          </a:bodyPr>
          <a:lstStyle/>
          <a:p>
            <a:r>
              <a:rPr lang="en-US" dirty="0"/>
              <a:t>Undirected graph</a:t>
            </a:r>
          </a:p>
        </p:txBody>
      </p:sp>
      <p:sp>
        <p:nvSpPr>
          <p:cNvPr id="8" name="TextBox 7"/>
          <p:cNvSpPr txBox="1"/>
          <p:nvPr/>
        </p:nvSpPr>
        <p:spPr>
          <a:xfrm>
            <a:off x="6267439" y="3981964"/>
            <a:ext cx="2764538" cy="369332"/>
          </a:xfrm>
          <a:prstGeom prst="rect">
            <a:avLst/>
          </a:prstGeom>
          <a:noFill/>
        </p:spPr>
        <p:txBody>
          <a:bodyPr wrap="square" rtlCol="0">
            <a:spAutoFit/>
          </a:bodyPr>
          <a:lstStyle/>
          <a:p>
            <a:r>
              <a:rPr lang="en-US" dirty="0"/>
              <a:t>   Suppose VC={1,4,7}</a:t>
            </a:r>
          </a:p>
        </p:txBody>
      </p:sp>
      <p:pic>
        <p:nvPicPr>
          <p:cNvPr id="9" name="Picture 8"/>
          <p:cNvPicPr>
            <a:picLocks noChangeAspect="1"/>
          </p:cNvPicPr>
          <p:nvPr/>
        </p:nvPicPr>
        <p:blipFill>
          <a:blip r:embed="rId5"/>
          <a:stretch>
            <a:fillRect/>
          </a:stretch>
        </p:blipFill>
        <p:spPr>
          <a:xfrm>
            <a:off x="5054493" y="4513476"/>
            <a:ext cx="2809875" cy="1986848"/>
          </a:xfrm>
          <a:prstGeom prst="rect">
            <a:avLst/>
          </a:prstGeom>
        </p:spPr>
      </p:pic>
      <p:sp>
        <p:nvSpPr>
          <p:cNvPr id="10" name="TextBox 9"/>
          <p:cNvSpPr txBox="1"/>
          <p:nvPr/>
        </p:nvSpPr>
        <p:spPr>
          <a:xfrm>
            <a:off x="8703654" y="3981964"/>
            <a:ext cx="2764538" cy="646331"/>
          </a:xfrm>
          <a:prstGeom prst="rect">
            <a:avLst/>
          </a:prstGeom>
          <a:noFill/>
        </p:spPr>
        <p:txBody>
          <a:bodyPr wrap="square" rtlCol="0">
            <a:spAutoFit/>
          </a:bodyPr>
          <a:lstStyle/>
          <a:p>
            <a:r>
              <a:rPr lang="en-US" dirty="0"/>
              <a:t>   Adjacent covered edges with vertices {1}</a:t>
            </a:r>
          </a:p>
        </p:txBody>
      </p:sp>
      <p:sp>
        <p:nvSpPr>
          <p:cNvPr id="11" name="TextBox 10"/>
          <p:cNvSpPr txBox="1"/>
          <p:nvPr/>
        </p:nvSpPr>
        <p:spPr>
          <a:xfrm>
            <a:off x="8015591" y="5284126"/>
            <a:ext cx="2764538" cy="646331"/>
          </a:xfrm>
          <a:prstGeom prst="rect">
            <a:avLst/>
          </a:prstGeom>
          <a:noFill/>
        </p:spPr>
        <p:txBody>
          <a:bodyPr wrap="square" rtlCol="0">
            <a:spAutoFit/>
          </a:bodyPr>
          <a:lstStyle/>
          <a:p>
            <a:r>
              <a:rPr lang="en-US" dirty="0"/>
              <a:t>   Green edges are not covered by {1,4,7}</a:t>
            </a:r>
          </a:p>
        </p:txBody>
      </p:sp>
      <p:sp>
        <p:nvSpPr>
          <p:cNvPr id="12" name="TextBox 11"/>
          <p:cNvSpPr txBox="1"/>
          <p:nvPr/>
        </p:nvSpPr>
        <p:spPr>
          <a:xfrm>
            <a:off x="2289955" y="5361881"/>
            <a:ext cx="2764538" cy="646331"/>
          </a:xfrm>
          <a:prstGeom prst="rect">
            <a:avLst/>
          </a:prstGeom>
          <a:noFill/>
        </p:spPr>
        <p:txBody>
          <a:bodyPr wrap="square" rtlCol="0">
            <a:spAutoFit/>
          </a:bodyPr>
          <a:lstStyle/>
          <a:p>
            <a:r>
              <a:rPr lang="en-US" dirty="0"/>
              <a:t>{1,4,7} vertices are not vertices cover.</a:t>
            </a:r>
          </a:p>
        </p:txBody>
      </p:sp>
    </p:spTree>
    <p:extLst>
      <p:ext uri="{BB962C8B-B14F-4D97-AF65-F5344CB8AC3E}">
        <p14:creationId xmlns:p14="http://schemas.microsoft.com/office/powerpoint/2010/main" val="2661839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4" y="1240970"/>
            <a:ext cx="8915399" cy="5346441"/>
          </a:xfrm>
        </p:spPr>
        <p:txBody>
          <a:bodyPr>
            <a:normAutofit/>
          </a:bodyPr>
          <a:lstStyle/>
          <a:p>
            <a:pPr marL="342900" indent="-342900" algn="just">
              <a:buFont typeface="Wingdings" panose="05000000000000000000" pitchFamily="2" charset="2"/>
              <a:buChar char="v"/>
            </a:pPr>
            <a:r>
              <a:rPr lang="en-US" sz="2400" dirty="0">
                <a:solidFill>
                  <a:schemeClr val="tx1"/>
                </a:solidFill>
              </a:rPr>
              <a:t>Vertices cover example:</a:t>
            </a: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r>
              <a:rPr lang="en-US" sz="2400" dirty="0">
                <a:solidFill>
                  <a:schemeClr val="tx1"/>
                </a:solidFill>
              </a:rPr>
              <a:t>Successfully covering all edges with {1,2,3,5,7} </a:t>
            </a: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6" name="Picture 5"/>
          <p:cNvPicPr>
            <a:picLocks noChangeAspect="1"/>
          </p:cNvPicPr>
          <p:nvPr/>
        </p:nvPicPr>
        <p:blipFill>
          <a:blip r:embed="rId2"/>
          <a:stretch>
            <a:fillRect/>
          </a:stretch>
        </p:blipFill>
        <p:spPr>
          <a:xfrm>
            <a:off x="2747767" y="2103178"/>
            <a:ext cx="6715125" cy="3286125"/>
          </a:xfrm>
          <a:prstGeom prst="rect">
            <a:avLst/>
          </a:prstGeom>
        </p:spPr>
      </p:pic>
    </p:spTree>
    <p:extLst>
      <p:ext uri="{BB962C8B-B14F-4D97-AF65-F5344CB8AC3E}">
        <p14:creationId xmlns:p14="http://schemas.microsoft.com/office/powerpoint/2010/main" val="78859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4" y="1240970"/>
            <a:ext cx="8915399" cy="5346441"/>
          </a:xfrm>
        </p:spPr>
        <p:txBody>
          <a:bodyPr>
            <a:normAutofit/>
          </a:bodyPr>
          <a:lstStyle/>
          <a:p>
            <a:pPr marL="342900" indent="-342900" algn="just">
              <a:buFont typeface="Wingdings" panose="05000000000000000000" pitchFamily="2" charset="2"/>
              <a:buChar char="v"/>
            </a:pPr>
            <a:r>
              <a:rPr lang="en-US" sz="2400" dirty="0">
                <a:solidFill>
                  <a:schemeClr val="tx1"/>
                </a:solidFill>
              </a:rPr>
              <a:t>Vertices cover example:</a:t>
            </a: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r>
              <a:rPr lang="en-US" sz="2000" dirty="0">
                <a:solidFill>
                  <a:schemeClr val="tx1"/>
                </a:solidFill>
              </a:rPr>
              <a:t>Successfully covering all edges with {1,4,5,6}.</a:t>
            </a:r>
          </a:p>
          <a:p>
            <a:pPr marL="342900" indent="-342900" algn="just">
              <a:buFont typeface="Wingdings" panose="05000000000000000000" pitchFamily="2" charset="2"/>
              <a:buChar char="v"/>
            </a:pPr>
            <a:r>
              <a:rPr lang="en-US" sz="2000" dirty="0">
                <a:solidFill>
                  <a:schemeClr val="tx1"/>
                </a:solidFill>
              </a:rPr>
              <a:t>We can not find vertices cover less than 4 here. </a:t>
            </a:r>
          </a:p>
          <a:p>
            <a:pPr marL="342900" indent="-342900" algn="just">
              <a:buFont typeface="Wingdings" panose="05000000000000000000" pitchFamily="2" charset="2"/>
              <a:buChar char="v"/>
            </a:pPr>
            <a:r>
              <a:rPr lang="en-US" sz="2000" dirty="0">
                <a:solidFill>
                  <a:schemeClr val="tx1"/>
                </a:solidFill>
              </a:rPr>
              <a:t>Minimum vertices cover is 4 in this example.</a:t>
            </a: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695575" y="1876425"/>
            <a:ext cx="6800850" cy="3105150"/>
          </a:xfrm>
          <a:prstGeom prst="rect">
            <a:avLst/>
          </a:prstGeom>
        </p:spPr>
      </p:pic>
    </p:spTree>
    <p:extLst>
      <p:ext uri="{BB962C8B-B14F-4D97-AF65-F5344CB8AC3E}">
        <p14:creationId xmlns:p14="http://schemas.microsoft.com/office/powerpoint/2010/main" val="3811260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4" y="1240970"/>
            <a:ext cx="8915399" cy="5346441"/>
          </a:xfrm>
        </p:spPr>
        <p:txBody>
          <a:bodyPr>
            <a:normAutofit/>
          </a:bodyPr>
          <a:lstStyle/>
          <a:p>
            <a:pPr marL="342900" indent="-342900" algn="just">
              <a:buFont typeface="Wingdings" panose="05000000000000000000" pitchFamily="2" charset="2"/>
              <a:buChar char="v"/>
            </a:pPr>
            <a:r>
              <a:rPr lang="en-US" sz="2400" dirty="0">
                <a:solidFill>
                  <a:schemeClr val="tx1"/>
                </a:solidFill>
              </a:rPr>
              <a:t>Vertices cover example:</a:t>
            </a: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710510" y="1832977"/>
            <a:ext cx="7086600" cy="4162425"/>
          </a:xfrm>
          <a:prstGeom prst="rect">
            <a:avLst/>
          </a:prstGeom>
        </p:spPr>
      </p:pic>
    </p:spTree>
    <p:extLst>
      <p:ext uri="{BB962C8B-B14F-4D97-AF65-F5344CB8AC3E}">
        <p14:creationId xmlns:p14="http://schemas.microsoft.com/office/powerpoint/2010/main" val="410142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987421" y="1184988"/>
            <a:ext cx="9535852" cy="5197151"/>
          </a:xfrm>
        </p:spPr>
        <p:txBody>
          <a:bodyPr>
            <a:normAutofit fontScale="92500" lnSpcReduction="20000"/>
          </a:bodyPr>
          <a:lstStyle/>
          <a:p>
            <a:pPr algn="ctr"/>
            <a:r>
              <a:rPr lang="en-US" sz="2600" dirty="0">
                <a:solidFill>
                  <a:schemeClr val="tx1"/>
                </a:solidFill>
              </a:rPr>
              <a:t>Estimate the complexity of Brute-force-approach for solving vertices cover problem:</a:t>
            </a:r>
          </a:p>
          <a:p>
            <a:pPr algn="just"/>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Suppose, we have n vertices {1,2,3,…………………..,n}</a:t>
            </a: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There are 2</a:t>
            </a:r>
            <a:r>
              <a:rPr lang="en-US" sz="2200" baseline="30000" dirty="0">
                <a:solidFill>
                  <a:schemeClr val="tx1"/>
                </a:solidFill>
              </a:rPr>
              <a:t>n</a:t>
            </a:r>
            <a:r>
              <a:rPr lang="en-US" sz="2200" dirty="0">
                <a:solidFill>
                  <a:schemeClr val="tx1"/>
                </a:solidFill>
              </a:rPr>
              <a:t> possible subsets from n vertices….</a:t>
            </a: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If we want to form vertices cover, which are minimum…..</a:t>
            </a:r>
          </a:p>
          <a:p>
            <a:pPr algn="just"/>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The time complexity is </a:t>
            </a:r>
            <a:r>
              <a:rPr lang="el-GR" sz="2200" dirty="0">
                <a:solidFill>
                  <a:schemeClr val="tx1"/>
                </a:solidFill>
              </a:rPr>
              <a:t>Ο</a:t>
            </a:r>
            <a:r>
              <a:rPr lang="en-US" sz="2200" dirty="0">
                <a:solidFill>
                  <a:schemeClr val="tx1"/>
                </a:solidFill>
              </a:rPr>
              <a:t>(2</a:t>
            </a:r>
            <a:r>
              <a:rPr lang="en-US" sz="2200" baseline="30000" dirty="0">
                <a:solidFill>
                  <a:schemeClr val="tx1"/>
                </a:solidFill>
              </a:rPr>
              <a:t>n</a:t>
            </a:r>
            <a:r>
              <a:rPr lang="en-US" sz="2200" dirty="0">
                <a:solidFill>
                  <a:schemeClr val="tx1"/>
                </a:solidFill>
              </a:rPr>
              <a:t> ), which is exponential in nature. The running time is exponentially increases by increasing the number of  input.</a:t>
            </a:r>
          </a:p>
          <a:p>
            <a:pPr marL="342900" indent="-342900" algn="just">
              <a:buFont typeface="Wingdings" panose="05000000000000000000" pitchFamily="2" charset="2"/>
              <a:buChar char="v"/>
            </a:pPr>
            <a:r>
              <a:rPr lang="en-US" sz="2200" dirty="0">
                <a:solidFill>
                  <a:schemeClr val="tx1"/>
                </a:solidFill>
              </a:rPr>
              <a:t>For the large number of n, it takes month or year of time to compute the solution.</a:t>
            </a:r>
          </a:p>
          <a:p>
            <a:pPr marL="342900" indent="-342900" algn="just">
              <a:buFont typeface="Wingdings" panose="05000000000000000000" pitchFamily="2" charset="2"/>
              <a:buChar char="v"/>
            </a:pPr>
            <a:r>
              <a:rPr lang="en-US" sz="2200" dirty="0">
                <a:solidFill>
                  <a:schemeClr val="tx1"/>
                </a:solidFill>
              </a:rPr>
              <a:t>So, only way to approach the approximation solution……………….          </a:t>
            </a:r>
            <a:endParaRPr lang="en-US" sz="2200" baseline="30000" dirty="0">
              <a:solidFill>
                <a:schemeClr val="tx1"/>
              </a:solidFill>
            </a:endParaRP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957550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3043237" y="1485900"/>
            <a:ext cx="6105525" cy="3886200"/>
          </a:xfrm>
          <a:prstGeom prst="rect">
            <a:avLst/>
          </a:prstGeom>
        </p:spPr>
      </p:pic>
    </p:spTree>
    <p:extLst>
      <p:ext uri="{BB962C8B-B14F-4D97-AF65-F5344CB8AC3E}">
        <p14:creationId xmlns:p14="http://schemas.microsoft.com/office/powerpoint/2010/main" val="677674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3260757" y="1238639"/>
            <a:ext cx="5819775" cy="2571750"/>
          </a:xfrm>
          <a:prstGeom prst="rect">
            <a:avLst/>
          </a:prstGeom>
        </p:spPr>
      </p:pic>
      <p:sp>
        <p:nvSpPr>
          <p:cNvPr id="5" name="Subtitle 2"/>
          <p:cNvSpPr txBox="1">
            <a:spLocks/>
          </p:cNvSpPr>
          <p:nvPr/>
        </p:nvSpPr>
        <p:spPr>
          <a:xfrm>
            <a:off x="2458584" y="2099388"/>
            <a:ext cx="8915399" cy="425644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endParaRPr lang="en-US" sz="2200" dirty="0">
              <a:solidFill>
                <a:schemeClr val="tx1"/>
              </a:solidFill>
            </a:endParaRPr>
          </a:p>
          <a:p>
            <a:pPr algn="just"/>
            <a:endParaRPr lang="en-US" sz="2200" dirty="0">
              <a:solidFill>
                <a:schemeClr val="tx1"/>
              </a:solidFill>
            </a:endParaRPr>
          </a:p>
          <a:p>
            <a:pPr algn="just"/>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r>
              <a:rPr lang="en-US" sz="2200" dirty="0">
                <a:solidFill>
                  <a:schemeClr val="tx1"/>
                </a:solidFill>
              </a:rPr>
              <a:t>The time complexity </a:t>
            </a:r>
            <a:r>
              <a:rPr lang="el-GR" sz="2200" i="1" dirty="0">
                <a:solidFill>
                  <a:schemeClr val="tx1"/>
                </a:solidFill>
              </a:rPr>
              <a:t>Ο</a:t>
            </a:r>
            <a:r>
              <a:rPr lang="en-US" sz="2200" i="1" dirty="0">
                <a:solidFill>
                  <a:schemeClr val="tx1"/>
                </a:solidFill>
              </a:rPr>
              <a:t>(V+E) = </a:t>
            </a:r>
            <a:r>
              <a:rPr lang="el-GR" sz="2200" i="1" dirty="0">
                <a:solidFill>
                  <a:schemeClr val="tx1"/>
                </a:solidFill>
              </a:rPr>
              <a:t>Ο</a:t>
            </a:r>
            <a:r>
              <a:rPr lang="en-US" sz="2200" i="1" dirty="0">
                <a:solidFill>
                  <a:schemeClr val="tx1"/>
                </a:solidFill>
              </a:rPr>
              <a:t>(n+n</a:t>
            </a:r>
            <a:r>
              <a:rPr lang="en-US" sz="2200" i="1" baseline="30000" dirty="0">
                <a:solidFill>
                  <a:schemeClr val="tx1"/>
                </a:solidFill>
              </a:rPr>
              <a:t>2</a:t>
            </a:r>
            <a:r>
              <a:rPr lang="en-US" sz="2200" i="1" dirty="0">
                <a:solidFill>
                  <a:schemeClr val="tx1"/>
                </a:solidFill>
              </a:rPr>
              <a:t>)= </a:t>
            </a:r>
            <a:r>
              <a:rPr lang="el-GR" sz="2200" i="1" dirty="0">
                <a:solidFill>
                  <a:schemeClr val="tx1"/>
                </a:solidFill>
              </a:rPr>
              <a:t>Ο</a:t>
            </a:r>
            <a:r>
              <a:rPr lang="en-US" sz="2200" i="1" dirty="0">
                <a:solidFill>
                  <a:schemeClr val="tx1"/>
                </a:solidFill>
              </a:rPr>
              <a:t>(n</a:t>
            </a:r>
            <a:r>
              <a:rPr lang="en-US" sz="2200" i="1" baseline="30000" dirty="0">
                <a:solidFill>
                  <a:schemeClr val="tx1"/>
                </a:solidFill>
              </a:rPr>
              <a:t>2</a:t>
            </a:r>
            <a:r>
              <a:rPr lang="en-US" sz="2200" i="1" dirty="0">
                <a:solidFill>
                  <a:schemeClr val="tx1"/>
                </a:solidFill>
              </a:rPr>
              <a:t>)</a:t>
            </a:r>
          </a:p>
          <a:p>
            <a:pPr marL="342900" indent="-342900" algn="just">
              <a:buFont typeface="Wingdings" panose="05000000000000000000" pitchFamily="2" charset="2"/>
              <a:buChar char="v"/>
            </a:pPr>
            <a:r>
              <a:rPr lang="en-US" sz="2200" dirty="0">
                <a:solidFill>
                  <a:schemeClr val="tx1"/>
                </a:solidFill>
              </a:rPr>
              <a:t>It’s a polynomial time complexity…….</a:t>
            </a: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417572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357598" y="1124337"/>
            <a:ext cx="2809875" cy="2080727"/>
          </a:xfrm>
          <a:prstGeom prst="rect">
            <a:avLst/>
          </a:prstGeom>
        </p:spPr>
      </p:pic>
      <p:pic>
        <p:nvPicPr>
          <p:cNvPr id="5" name="Picture 4"/>
          <p:cNvPicPr>
            <a:picLocks noChangeAspect="1"/>
          </p:cNvPicPr>
          <p:nvPr/>
        </p:nvPicPr>
        <p:blipFill>
          <a:blip r:embed="rId3"/>
          <a:stretch>
            <a:fillRect/>
          </a:stretch>
        </p:blipFill>
        <p:spPr>
          <a:xfrm>
            <a:off x="2257585" y="3643603"/>
            <a:ext cx="5819775" cy="2571750"/>
          </a:xfrm>
          <a:prstGeom prst="rect">
            <a:avLst/>
          </a:prstGeom>
        </p:spPr>
      </p:pic>
      <p:sp>
        <p:nvSpPr>
          <p:cNvPr id="6" name="Subtitle 2"/>
          <p:cNvSpPr txBox="1">
            <a:spLocks/>
          </p:cNvSpPr>
          <p:nvPr/>
        </p:nvSpPr>
        <p:spPr>
          <a:xfrm>
            <a:off x="5368473" y="1306286"/>
            <a:ext cx="5448785"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={(1,2),(1,5),(1,4),(2,5),(3,4),(3,6)</a:t>
            </a:r>
          </a:p>
          <a:p>
            <a:pPr algn="just"/>
            <a:r>
              <a:rPr lang="en-US" sz="2200" dirty="0">
                <a:solidFill>
                  <a:schemeClr val="tx1"/>
                </a:solidFill>
              </a:rPr>
              <a:t>            (4,5),(4,7),(5,7),(6,7)}</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570611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257585" y="3643603"/>
            <a:ext cx="5819775" cy="2571750"/>
          </a:xfrm>
          <a:prstGeom prst="rect">
            <a:avLst/>
          </a:prstGeom>
        </p:spPr>
      </p:pic>
      <p:sp>
        <p:nvSpPr>
          <p:cNvPr id="6" name="Subtitle 2"/>
          <p:cNvSpPr txBox="1">
            <a:spLocks/>
          </p:cNvSpPr>
          <p:nvPr/>
        </p:nvSpPr>
        <p:spPr>
          <a:xfrm>
            <a:off x="5368473" y="1306286"/>
            <a:ext cx="5448785"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 {(3,4),(3,6)</a:t>
            </a:r>
          </a:p>
          <a:p>
            <a:pPr algn="just"/>
            <a:r>
              <a:rPr lang="en-US" sz="2200" dirty="0">
                <a:solidFill>
                  <a:schemeClr val="tx1"/>
                </a:solidFill>
              </a:rPr>
              <a:t>            (4,5),(4,7),(5,7),(6,7)}</a:t>
            </a: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3"/>
          <a:stretch>
            <a:fillRect/>
          </a:stretch>
        </p:blipFill>
        <p:spPr>
          <a:xfrm>
            <a:off x="2878494" y="1260312"/>
            <a:ext cx="2590800" cy="1990725"/>
          </a:xfrm>
          <a:prstGeom prst="rect">
            <a:avLst/>
          </a:prstGeom>
        </p:spPr>
      </p:pic>
    </p:spTree>
    <p:extLst>
      <p:ext uri="{BB962C8B-B14F-4D97-AF65-F5344CB8AC3E}">
        <p14:creationId xmlns:p14="http://schemas.microsoft.com/office/powerpoint/2010/main" val="789750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257585" y="3643603"/>
            <a:ext cx="5819775" cy="2571750"/>
          </a:xfrm>
          <a:prstGeom prst="rect">
            <a:avLst/>
          </a:prstGeom>
        </p:spPr>
      </p:pic>
      <p:sp>
        <p:nvSpPr>
          <p:cNvPr id="6" name="Subtitle 2"/>
          <p:cNvSpPr txBox="1">
            <a:spLocks/>
          </p:cNvSpPr>
          <p:nvPr/>
        </p:nvSpPr>
        <p:spPr>
          <a:xfrm>
            <a:off x="5368473" y="1306286"/>
            <a:ext cx="5448785"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 {(3,4),(3,6)}</a:t>
            </a: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{1,2,5,7}</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3"/>
          <a:stretch>
            <a:fillRect/>
          </a:stretch>
        </p:blipFill>
        <p:spPr>
          <a:xfrm>
            <a:off x="2581275" y="1202483"/>
            <a:ext cx="2457450" cy="2105025"/>
          </a:xfrm>
          <a:prstGeom prst="rect">
            <a:avLst/>
          </a:prstGeom>
        </p:spPr>
      </p:pic>
    </p:spTree>
    <p:extLst>
      <p:ext uri="{BB962C8B-B14F-4D97-AF65-F5344CB8AC3E}">
        <p14:creationId xmlns:p14="http://schemas.microsoft.com/office/powerpoint/2010/main" val="4023011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931436"/>
            <a:ext cx="8915399" cy="3554964"/>
          </a:xfrm>
        </p:spPr>
        <p:txBody>
          <a:bodyPr>
            <a:normAutofit/>
          </a:bodyPr>
          <a:lstStyle/>
          <a:p>
            <a:pPr algn="just"/>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257585" y="3643603"/>
            <a:ext cx="5819775" cy="2571750"/>
          </a:xfrm>
          <a:prstGeom prst="rect">
            <a:avLst/>
          </a:prstGeom>
        </p:spPr>
      </p:pic>
      <p:sp>
        <p:nvSpPr>
          <p:cNvPr id="6" name="Subtitle 2"/>
          <p:cNvSpPr txBox="1">
            <a:spLocks/>
          </p:cNvSpPr>
          <p:nvPr/>
        </p:nvSpPr>
        <p:spPr>
          <a:xfrm>
            <a:off x="5271796" y="1189069"/>
            <a:ext cx="6652728" cy="209005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rPr>
              <a:t>E’ = {</a:t>
            </a:r>
            <a:r>
              <a:rPr lang="el-GR" sz="2200" dirty="0">
                <a:solidFill>
                  <a:schemeClr val="tx1"/>
                </a:solidFill>
              </a:rPr>
              <a:t>φ</a:t>
            </a:r>
            <a:r>
              <a:rPr lang="en-US" sz="2200" dirty="0">
                <a:solidFill>
                  <a:schemeClr val="tx1"/>
                </a:solidFill>
              </a:rPr>
              <a:t>}</a:t>
            </a: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{1,2,5,7,3,6} </a:t>
            </a:r>
            <a:r>
              <a:rPr lang="en-US" sz="1600" dirty="0">
                <a:solidFill>
                  <a:schemeClr val="tx1"/>
                </a:solidFill>
                <a:latin typeface="+mj-lt"/>
                <a:cs typeface="Courier New" panose="02070309020205020404" pitchFamily="49" charset="0"/>
              </a:rPr>
              <a:t>// They don’t share common vertices</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6</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3"/>
          <a:stretch>
            <a:fillRect/>
          </a:stretch>
        </p:blipFill>
        <p:spPr>
          <a:xfrm>
            <a:off x="2257585" y="1232224"/>
            <a:ext cx="2085975" cy="2105025"/>
          </a:xfrm>
          <a:prstGeom prst="rect">
            <a:avLst/>
          </a:prstGeom>
        </p:spPr>
      </p:pic>
    </p:spTree>
    <p:extLst>
      <p:ext uri="{BB962C8B-B14F-4D97-AF65-F5344CB8AC3E}">
        <p14:creationId xmlns:p14="http://schemas.microsoft.com/office/powerpoint/2010/main" val="2276991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017037"/>
            <a:ext cx="8915399" cy="5505061"/>
          </a:xfrm>
        </p:spPr>
        <p:txBody>
          <a:bodyPr>
            <a:normAutofit/>
          </a:bodyPr>
          <a:lstStyle/>
          <a:p>
            <a:pPr algn="just"/>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algn="just"/>
            <a:r>
              <a:rPr lang="en-US" sz="2200" dirty="0">
                <a:solidFill>
                  <a:schemeClr val="tx1"/>
                </a:solidFill>
                <a:latin typeface="+mj-lt"/>
                <a:cs typeface="Courier New" panose="02070309020205020404" pitchFamily="49" charset="0"/>
              </a:rPr>
              <a:t>                                                </a:t>
            </a:r>
          </a:p>
          <a:p>
            <a:pPr marL="342900" indent="-342900" algn="just">
              <a:buFont typeface="Wingdings" panose="05000000000000000000" pitchFamily="2" charset="2"/>
              <a:buChar char="v"/>
            </a:pP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458584" y="1164480"/>
            <a:ext cx="8543925" cy="2705100"/>
          </a:xfrm>
          <a:prstGeom prst="rect">
            <a:avLst/>
          </a:prstGeom>
        </p:spPr>
      </p:pic>
      <p:pic>
        <p:nvPicPr>
          <p:cNvPr id="5" name="Picture 4"/>
          <p:cNvPicPr>
            <a:picLocks noChangeAspect="1"/>
          </p:cNvPicPr>
          <p:nvPr/>
        </p:nvPicPr>
        <p:blipFill>
          <a:blip r:embed="rId3"/>
          <a:stretch>
            <a:fillRect/>
          </a:stretch>
        </p:blipFill>
        <p:spPr>
          <a:xfrm>
            <a:off x="2976724" y="3869580"/>
            <a:ext cx="2638425" cy="2505075"/>
          </a:xfrm>
          <a:prstGeom prst="rect">
            <a:avLst/>
          </a:prstGeom>
        </p:spPr>
      </p:pic>
      <p:sp>
        <p:nvSpPr>
          <p:cNvPr id="8" name="Subtitle 2"/>
          <p:cNvSpPr txBox="1">
            <a:spLocks/>
          </p:cNvSpPr>
          <p:nvPr/>
        </p:nvSpPr>
        <p:spPr>
          <a:xfrm>
            <a:off x="5901383" y="3869580"/>
            <a:ext cx="5850905" cy="271783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{1,2, 5,7, 3,6}</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M = {(1,2), (5,7), (3,6)} </a:t>
            </a:r>
            <a:endParaRPr lang="en-US" sz="16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|C| = 6</a:t>
            </a:r>
          </a:p>
          <a:p>
            <a:pPr marL="342900" indent="-342900" algn="just">
              <a:buFont typeface="Wingdings" panose="05000000000000000000" pitchFamily="2" charset="2"/>
              <a:buChar char="v"/>
            </a:pPr>
            <a:r>
              <a:rPr lang="en-US" sz="2200" dirty="0">
                <a:solidFill>
                  <a:schemeClr val="tx1"/>
                </a:solidFill>
                <a:latin typeface="+mj-lt"/>
                <a:cs typeface="Courier New" panose="02070309020205020404" pitchFamily="49" charset="0"/>
              </a:rPr>
              <a:t>    |M| = 3</a:t>
            </a:r>
          </a:p>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    |C| = 2. |M|</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70135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8585" y="1119673"/>
            <a:ext cx="8915399" cy="5738327"/>
          </a:xfrm>
        </p:spPr>
        <p:txBody>
          <a:bodyPr>
            <a:normAutofit/>
          </a:bodyPr>
          <a:lstStyle/>
          <a:p>
            <a:pPr marL="342900" indent="-342900" algn="just">
              <a:buFont typeface="Wingdings" panose="05000000000000000000" pitchFamily="2" charset="2"/>
              <a:buChar char="v"/>
            </a:pPr>
            <a:endParaRPr lang="en-US" sz="2200" dirty="0">
              <a:solidFill>
                <a:schemeClr val="tx1"/>
              </a:solidFill>
            </a:endParaRPr>
          </a:p>
          <a:p>
            <a:pPr marL="342900" indent="-342900" algn="just">
              <a:buFont typeface="Wingdings" panose="05000000000000000000" pitchFamily="2" charset="2"/>
              <a:buChar char="v"/>
            </a:pPr>
            <a:endParaRPr lang="en-US" sz="2200" dirty="0">
              <a:solidFill>
                <a:schemeClr val="tx1"/>
              </a:solidFill>
            </a:endParaRPr>
          </a:p>
          <a:p>
            <a:pPr algn="just"/>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200" dirty="0">
              <a:solidFill>
                <a:schemeClr val="tx1"/>
              </a:solidFill>
              <a:latin typeface="+mj-lt"/>
              <a:cs typeface="Courier New" panose="02070309020205020404" pitchFamily="49" charset="0"/>
            </a:endParaRPr>
          </a:p>
          <a:p>
            <a:pPr algn="just"/>
            <a:br>
              <a:rPr lang="en-US" sz="2200" dirty="0">
                <a:solidFill>
                  <a:schemeClr val="tx1"/>
                </a:solidFill>
                <a:latin typeface="+mj-lt"/>
                <a:cs typeface="Courier New" panose="02070309020205020404" pitchFamily="49" charset="0"/>
              </a:rPr>
            </a:br>
            <a:r>
              <a:rPr lang="en-US" sz="2400" dirty="0">
                <a:solidFill>
                  <a:schemeClr val="tx1"/>
                </a:solidFill>
                <a:latin typeface="+mj-lt"/>
                <a:cs typeface="Courier New" panose="02070309020205020404" pitchFamily="49" charset="0"/>
              </a:rPr>
              <a:t> |C*|≥ |M|, then 2</a:t>
            </a:r>
            <a:r>
              <a:rPr lang="en-US" sz="2400" dirty="0">
                <a:solidFill>
                  <a:schemeClr val="tx1"/>
                </a:solidFill>
                <a:cs typeface="Courier New" panose="02070309020205020404" pitchFamily="49" charset="0"/>
              </a:rPr>
              <a:t>|C*|≥ 2|M|.  </a:t>
            </a:r>
          </a:p>
          <a:p>
            <a:pPr algn="just"/>
            <a:r>
              <a:rPr lang="en-US" sz="2400" dirty="0">
                <a:solidFill>
                  <a:schemeClr val="tx1"/>
                </a:solidFill>
                <a:cs typeface="Courier New" panose="02070309020205020404" pitchFamily="49" charset="0"/>
              </a:rPr>
              <a:t>So </a:t>
            </a:r>
            <a:r>
              <a:rPr lang="en-US" sz="2400" dirty="0">
                <a:solidFill>
                  <a:schemeClr val="tx1"/>
                </a:solidFill>
                <a:latin typeface="+mj-lt"/>
                <a:cs typeface="Courier New" panose="02070309020205020404" pitchFamily="49" charset="0"/>
              </a:rPr>
              <a:t>|C| ≤ 2|C*| We get 6 ≤ 8</a:t>
            </a:r>
          </a:p>
        </p:txBody>
      </p:sp>
      <p:pic>
        <p:nvPicPr>
          <p:cNvPr id="4" name="Picture 3"/>
          <p:cNvPicPr>
            <a:picLocks noChangeAspect="1"/>
          </p:cNvPicPr>
          <p:nvPr/>
        </p:nvPicPr>
        <p:blipFill>
          <a:blip r:embed="rId2"/>
          <a:stretch>
            <a:fillRect/>
          </a:stretch>
        </p:blipFill>
        <p:spPr>
          <a:xfrm>
            <a:off x="2600194" y="867747"/>
            <a:ext cx="8296275" cy="4733925"/>
          </a:xfrm>
          <a:prstGeom prst="rect">
            <a:avLst/>
          </a:prstGeom>
        </p:spPr>
      </p:pic>
    </p:spTree>
    <p:extLst>
      <p:ext uri="{BB962C8B-B14F-4D97-AF65-F5344CB8AC3E}">
        <p14:creationId xmlns:p14="http://schemas.microsoft.com/office/powerpoint/2010/main" val="693834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r>
              <a:rPr lang="en-US" sz="2400" b="0" i="0" dirty="0">
                <a:solidFill>
                  <a:srgbClr val="202122"/>
                </a:solidFill>
                <a:effectLst/>
                <a:latin typeface="Arial" panose="020B0604020202020204" pitchFamily="34" charset="0"/>
              </a:rPr>
              <a:t>A </a:t>
            </a:r>
            <a:r>
              <a:rPr lang="en-US" sz="2400" b="1" i="0" dirty="0">
                <a:solidFill>
                  <a:srgbClr val="202122"/>
                </a:solidFill>
                <a:effectLst/>
                <a:latin typeface="Arial" panose="020B0604020202020204" pitchFamily="34" charset="0"/>
              </a:rPr>
              <a:t>Hamiltonian cycle</a:t>
            </a:r>
            <a:r>
              <a:rPr lang="en-US" sz="2400" b="0" i="0" dirty="0">
                <a:solidFill>
                  <a:srgbClr val="202122"/>
                </a:solidFill>
                <a:effectLst/>
                <a:latin typeface="Arial" panose="020B0604020202020204" pitchFamily="34" charset="0"/>
              </a:rPr>
              <a:t> is a cycle that visits each vertex exactly once. A </a:t>
            </a:r>
          </a:p>
          <a:p>
            <a:r>
              <a:rPr lang="en-US" sz="2400" b="0" i="0" dirty="0">
                <a:solidFill>
                  <a:srgbClr val="202122"/>
                </a:solidFill>
                <a:effectLst/>
                <a:latin typeface="Arial" panose="020B0604020202020204" pitchFamily="34" charset="0"/>
              </a:rPr>
              <a:t>Hamiltonian path that starts and ends at adjacent vertices can be completed by adding one more edge to form a Hamiltonian cycle, and removing any edge from a Hamiltonian cycle produces a Hamiltonian path. </a:t>
            </a:r>
          </a:p>
          <a:p>
            <a:r>
              <a:rPr lang="en-US" sz="2000" b="0" i="0" dirty="0">
                <a:solidFill>
                  <a:srgbClr val="202122"/>
                </a:solidFill>
                <a:effectLst/>
                <a:latin typeface="Arial" panose="020B0604020202020204" pitchFamily="34" charset="0"/>
              </a:rPr>
              <a:t>Determining whether such paths and cycles exist in graphs (the </a:t>
            </a:r>
            <a:r>
              <a:rPr lang="en-US" sz="2000" b="0" i="1" strike="noStrike" dirty="0">
                <a:solidFill>
                  <a:schemeClr val="tx1"/>
                </a:solidFill>
                <a:effectLst/>
                <a:latin typeface="Arial" panose="020B0604020202020204" pitchFamily="34" charset="0"/>
                <a:hlinkClick r:id="rId2" tooltip="Hamiltonian path problem">
                  <a:extLst>
                    <a:ext uri="{A12FA001-AC4F-418D-AE19-62706E023703}">
                      <ahyp:hlinkClr xmlns:ahyp="http://schemas.microsoft.com/office/drawing/2018/hyperlinkcolor" val="tx"/>
                    </a:ext>
                  </a:extLst>
                </a:hlinkClick>
              </a:rPr>
              <a:t>Hamiltonian path problem</a:t>
            </a:r>
            <a:r>
              <a:rPr lang="en-US" sz="2000" b="0" i="1" dirty="0">
                <a:solidFill>
                  <a:schemeClr val="tx1"/>
                </a:solidFill>
                <a:effectLst/>
                <a:latin typeface="Arial" panose="020B0604020202020204" pitchFamily="34" charset="0"/>
              </a:rPr>
              <a:t> </a:t>
            </a:r>
            <a:r>
              <a:rPr lang="en-US" sz="2000" b="0" i="0" dirty="0">
                <a:solidFill>
                  <a:schemeClr val="tx1"/>
                </a:solidFill>
                <a:effectLst/>
                <a:latin typeface="Arial" panose="020B0604020202020204" pitchFamily="34" charset="0"/>
              </a:rPr>
              <a:t>and </a:t>
            </a:r>
            <a:r>
              <a:rPr lang="en-US" sz="2000" b="0" i="1" strike="noStrike" dirty="0">
                <a:solidFill>
                  <a:schemeClr val="tx1"/>
                </a:solidFill>
                <a:effectLst/>
                <a:latin typeface="Arial" panose="020B0604020202020204" pitchFamily="34" charset="0"/>
                <a:hlinkClick r:id="rId3" tooltip="Hamiltonian cycle problem">
                  <a:extLst>
                    <a:ext uri="{A12FA001-AC4F-418D-AE19-62706E023703}">
                      <ahyp:hlinkClr xmlns:ahyp="http://schemas.microsoft.com/office/drawing/2018/hyperlinkcolor" val="tx"/>
                    </a:ext>
                  </a:extLst>
                </a:hlinkClick>
              </a:rPr>
              <a:t>Hamiltonian cycle problem</a:t>
            </a:r>
            <a:r>
              <a:rPr lang="en-US" sz="2000" b="0" i="0" dirty="0">
                <a:solidFill>
                  <a:schemeClr val="tx1"/>
                </a:solidFill>
                <a:effectLst/>
                <a:latin typeface="Arial" panose="020B0604020202020204" pitchFamily="34" charset="0"/>
              </a:rPr>
              <a:t>) are </a:t>
            </a:r>
            <a:r>
              <a:rPr lang="en-US" sz="2000" b="0" i="1" strike="noStrike" dirty="0">
                <a:solidFill>
                  <a:schemeClr val="tx1"/>
                </a:solidFill>
                <a:effectLst/>
                <a:latin typeface="Arial" panose="020B0604020202020204" pitchFamily="34" charset="0"/>
                <a:hlinkClick r:id="rId4" tooltip="NP-complete">
                  <a:extLst>
                    <a:ext uri="{A12FA001-AC4F-418D-AE19-62706E023703}">
                      <ahyp:hlinkClr xmlns:ahyp="http://schemas.microsoft.com/office/drawing/2018/hyperlinkcolor" val="tx"/>
                    </a:ext>
                  </a:extLst>
                </a:hlinkClick>
              </a:rPr>
              <a:t>NP-complete</a:t>
            </a:r>
            <a:r>
              <a:rPr lang="en-US" sz="2000" b="0" i="1" dirty="0">
                <a:solidFill>
                  <a:schemeClr val="tx1"/>
                </a:solidFill>
                <a:effectLst/>
                <a:latin typeface="Arial" panose="020B0604020202020204" pitchFamily="34" charset="0"/>
              </a:rPr>
              <a:t>.</a:t>
            </a:r>
            <a:endParaRPr lang="en-US" sz="2000" i="1"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4010894E-51F2-E8F0-CDEC-771479CE75D0}"/>
              </a:ext>
            </a:extLst>
          </p:cNvPr>
          <p:cNvPicPr>
            <a:picLocks noChangeAspect="1"/>
          </p:cNvPicPr>
          <p:nvPr/>
        </p:nvPicPr>
        <p:blipFill>
          <a:blip r:embed="rId5"/>
          <a:stretch>
            <a:fillRect/>
          </a:stretch>
        </p:blipFill>
        <p:spPr>
          <a:xfrm>
            <a:off x="7992608" y="3677389"/>
            <a:ext cx="3381375" cy="3000375"/>
          </a:xfrm>
          <a:prstGeom prst="rect">
            <a:avLst/>
          </a:prstGeom>
        </p:spPr>
      </p:pic>
    </p:spTree>
    <p:extLst>
      <p:ext uri="{BB962C8B-B14F-4D97-AF65-F5344CB8AC3E}">
        <p14:creationId xmlns:p14="http://schemas.microsoft.com/office/powerpoint/2010/main" val="779967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599D6147-958A-44BE-44CE-75D0CD230282}"/>
              </a:ext>
            </a:extLst>
          </p:cNvPr>
          <p:cNvPicPr>
            <a:picLocks noChangeAspect="1"/>
          </p:cNvPicPr>
          <p:nvPr/>
        </p:nvPicPr>
        <p:blipFill>
          <a:blip r:embed="rId2"/>
          <a:stretch>
            <a:fillRect/>
          </a:stretch>
        </p:blipFill>
        <p:spPr>
          <a:xfrm>
            <a:off x="1753867" y="1863610"/>
            <a:ext cx="10182225" cy="4676775"/>
          </a:xfrm>
          <a:prstGeom prst="rect">
            <a:avLst/>
          </a:prstGeom>
        </p:spPr>
      </p:pic>
    </p:spTree>
    <p:extLst>
      <p:ext uri="{BB962C8B-B14F-4D97-AF65-F5344CB8AC3E}">
        <p14:creationId xmlns:p14="http://schemas.microsoft.com/office/powerpoint/2010/main" val="1775222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3"/>
            <a:ext cx="8915399" cy="510558"/>
          </a:xfrm>
        </p:spPr>
        <p:txBody>
          <a:bodyPr>
            <a:normAutofit fontScale="90000"/>
          </a:bodyPr>
          <a:lstStyle/>
          <a:p>
            <a:pPr algn="ctr"/>
            <a:r>
              <a:rPr lang="en-US" sz="4000" dirty="0"/>
              <a:t>Approximation Algorithms</a:t>
            </a:r>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r>
              <a:rPr lang="en-US" dirty="0">
                <a:latin typeface="Courier New" panose="02070309020205020404" pitchFamily="49" charset="0"/>
                <a:cs typeface="Courier New" panose="02070309020205020404" pitchFamily="49" charset="0"/>
              </a:rPr>
              <a:t>Example of spanning tree:</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32581E18-DA40-5573-5270-1761A1E6E0E4}"/>
              </a:ext>
            </a:extLst>
          </p:cNvPr>
          <p:cNvPicPr>
            <a:picLocks noChangeAspect="1"/>
          </p:cNvPicPr>
          <p:nvPr/>
        </p:nvPicPr>
        <p:blipFill>
          <a:blip r:embed="rId2"/>
          <a:stretch>
            <a:fillRect/>
          </a:stretch>
        </p:blipFill>
        <p:spPr>
          <a:xfrm>
            <a:off x="9928509" y="792332"/>
            <a:ext cx="2090666" cy="2636667"/>
          </a:xfrm>
          <a:prstGeom prst="rect">
            <a:avLst/>
          </a:prstGeom>
        </p:spPr>
      </p:pic>
      <p:pic>
        <p:nvPicPr>
          <p:cNvPr id="9" name="Picture 8">
            <a:extLst>
              <a:ext uri="{FF2B5EF4-FFF2-40B4-BE49-F238E27FC236}">
                <a16:creationId xmlns:a16="http://schemas.microsoft.com/office/drawing/2014/main" id="{D8702A3B-F24B-6C96-2407-2EEB14181334}"/>
              </a:ext>
            </a:extLst>
          </p:cNvPr>
          <p:cNvPicPr>
            <a:picLocks noChangeAspect="1"/>
          </p:cNvPicPr>
          <p:nvPr/>
        </p:nvPicPr>
        <p:blipFill>
          <a:blip r:embed="rId3"/>
          <a:stretch>
            <a:fillRect/>
          </a:stretch>
        </p:blipFill>
        <p:spPr>
          <a:xfrm>
            <a:off x="1753868" y="1753386"/>
            <a:ext cx="7870900" cy="4747425"/>
          </a:xfrm>
          <a:prstGeom prst="rect">
            <a:avLst/>
          </a:prstGeom>
        </p:spPr>
      </p:pic>
    </p:spTree>
    <p:extLst>
      <p:ext uri="{BB962C8B-B14F-4D97-AF65-F5344CB8AC3E}">
        <p14:creationId xmlns:p14="http://schemas.microsoft.com/office/powerpoint/2010/main" val="34808821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09C2EFCC-ECB6-A028-A83B-C65819EE2E99}"/>
              </a:ext>
            </a:extLst>
          </p:cNvPr>
          <p:cNvPicPr>
            <a:picLocks noChangeAspect="1"/>
          </p:cNvPicPr>
          <p:nvPr/>
        </p:nvPicPr>
        <p:blipFill>
          <a:blip r:embed="rId2"/>
          <a:stretch>
            <a:fillRect/>
          </a:stretch>
        </p:blipFill>
        <p:spPr>
          <a:xfrm>
            <a:off x="1926692" y="1489434"/>
            <a:ext cx="10265308" cy="5081049"/>
          </a:xfrm>
          <a:prstGeom prst="rect">
            <a:avLst/>
          </a:prstGeom>
        </p:spPr>
      </p:pic>
    </p:spTree>
    <p:extLst>
      <p:ext uri="{BB962C8B-B14F-4D97-AF65-F5344CB8AC3E}">
        <p14:creationId xmlns:p14="http://schemas.microsoft.com/office/powerpoint/2010/main" val="5986365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753867" y="867748"/>
            <a:ext cx="10265308" cy="5901610"/>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1F47AE9D-FC40-3249-7ECF-E6D7EBD9D56D}"/>
              </a:ext>
            </a:extLst>
          </p:cNvPr>
          <p:cNvPicPr>
            <a:picLocks noChangeAspect="1"/>
          </p:cNvPicPr>
          <p:nvPr/>
        </p:nvPicPr>
        <p:blipFill>
          <a:blip r:embed="rId2"/>
          <a:stretch>
            <a:fillRect/>
          </a:stretch>
        </p:blipFill>
        <p:spPr>
          <a:xfrm>
            <a:off x="1828799" y="1489435"/>
            <a:ext cx="9945279" cy="5118756"/>
          </a:xfrm>
          <a:prstGeom prst="rect">
            <a:avLst/>
          </a:prstGeom>
        </p:spPr>
      </p:pic>
    </p:spTree>
    <p:extLst>
      <p:ext uri="{BB962C8B-B14F-4D97-AF65-F5344CB8AC3E}">
        <p14:creationId xmlns:p14="http://schemas.microsoft.com/office/powerpoint/2010/main" val="20985756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782147" y="1931436"/>
            <a:ext cx="8910735" cy="459066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737271" y="2791699"/>
            <a:ext cx="6164133" cy="2713362"/>
          </a:xfrm>
          <a:prstGeom prst="rect">
            <a:avLst/>
          </a:prstGeom>
        </p:spPr>
      </p:pic>
    </p:spTree>
    <p:extLst>
      <p:ext uri="{BB962C8B-B14F-4D97-AF65-F5344CB8AC3E}">
        <p14:creationId xmlns:p14="http://schemas.microsoft.com/office/powerpoint/2010/main" val="3872041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707502" y="1110342"/>
            <a:ext cx="8910735" cy="459066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pPr algn="just"/>
            <a:endParaRPr lang="en-US" sz="2400" dirty="0">
              <a:solidFill>
                <a:schemeClr val="tx1"/>
              </a:solidFill>
              <a:latin typeface="+mj-lt"/>
              <a:cs typeface="Courier New" panose="02070309020205020404" pitchFamily="49" charset="0"/>
            </a:endParaRP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578262" y="1698268"/>
            <a:ext cx="5953125" cy="4562475"/>
          </a:xfrm>
          <a:prstGeom prst="rect">
            <a:avLst/>
          </a:prstGeom>
        </p:spPr>
      </p:pic>
    </p:spTree>
    <p:extLst>
      <p:ext uri="{BB962C8B-B14F-4D97-AF65-F5344CB8AC3E}">
        <p14:creationId xmlns:p14="http://schemas.microsoft.com/office/powerpoint/2010/main" val="41738120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000" dirty="0">
                <a:solidFill>
                  <a:schemeClr val="tx1"/>
                </a:solidFill>
                <a:latin typeface="+mj-lt"/>
                <a:cs typeface="Courier New" panose="02070309020205020404" pitchFamily="49" charset="0"/>
              </a:rPr>
              <a:t>Traveling Sales-man Problem (TSP) with Triangle Inequality</a:t>
            </a: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597506" y="1918704"/>
            <a:ext cx="5895975" cy="3990975"/>
          </a:xfrm>
          <a:prstGeom prst="rect">
            <a:avLst/>
          </a:prstGeom>
        </p:spPr>
      </p:pic>
    </p:spTree>
    <p:extLst>
      <p:ext uri="{BB962C8B-B14F-4D97-AF65-F5344CB8AC3E}">
        <p14:creationId xmlns:p14="http://schemas.microsoft.com/office/powerpoint/2010/main" val="19486606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pic>
        <p:nvPicPr>
          <p:cNvPr id="5" name="Picture 4"/>
          <p:cNvPicPr>
            <a:picLocks noChangeAspect="1"/>
          </p:cNvPicPr>
          <p:nvPr/>
        </p:nvPicPr>
        <p:blipFill>
          <a:blip r:embed="rId2"/>
          <a:stretch>
            <a:fillRect/>
          </a:stretch>
        </p:blipFill>
        <p:spPr>
          <a:xfrm>
            <a:off x="2771289" y="1783799"/>
            <a:ext cx="7153275" cy="4410075"/>
          </a:xfrm>
          <a:prstGeom prst="rect">
            <a:avLst/>
          </a:prstGeom>
        </p:spPr>
      </p:pic>
    </p:spTree>
    <p:extLst>
      <p:ext uri="{BB962C8B-B14F-4D97-AF65-F5344CB8AC3E}">
        <p14:creationId xmlns:p14="http://schemas.microsoft.com/office/powerpoint/2010/main" val="2858014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2340429" y="1592133"/>
            <a:ext cx="7772400" cy="4905375"/>
          </a:xfrm>
          <a:prstGeom prst="rect">
            <a:avLst/>
          </a:prstGeom>
        </p:spPr>
      </p:pic>
    </p:spTree>
    <p:extLst>
      <p:ext uri="{BB962C8B-B14F-4D97-AF65-F5344CB8AC3E}">
        <p14:creationId xmlns:p14="http://schemas.microsoft.com/office/powerpoint/2010/main" val="2374144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3038863" y="1698269"/>
            <a:ext cx="7150166" cy="4749184"/>
          </a:xfrm>
          <a:prstGeom prst="rect">
            <a:avLst/>
          </a:prstGeom>
        </p:spPr>
      </p:pic>
    </p:spTree>
    <p:extLst>
      <p:ext uri="{BB962C8B-B14F-4D97-AF65-F5344CB8AC3E}">
        <p14:creationId xmlns:p14="http://schemas.microsoft.com/office/powerpoint/2010/main" val="20139072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642189" y="1138334"/>
            <a:ext cx="9032032" cy="5514392"/>
          </a:xfrm>
        </p:spPr>
        <p:txBody>
          <a:bodyPr>
            <a:normAutofit fontScale="85000" lnSpcReduction="10000"/>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pPr marL="457200" indent="-457200">
              <a:buAutoNum type="alphaLcParenBoth"/>
            </a:pPr>
            <a:r>
              <a:rPr lang="en-US" sz="2400" dirty="0">
                <a:solidFill>
                  <a:schemeClr val="tx1"/>
                </a:solidFill>
              </a:rPr>
              <a:t>A complete undirected graph. Vertices lie on intersections</a:t>
            </a:r>
            <a:br>
              <a:rPr lang="en-US" sz="2400" dirty="0">
                <a:solidFill>
                  <a:schemeClr val="tx1"/>
                </a:solidFill>
              </a:rPr>
            </a:br>
            <a:r>
              <a:rPr lang="en-US" sz="2400" dirty="0">
                <a:solidFill>
                  <a:schemeClr val="tx1"/>
                </a:solidFill>
              </a:rPr>
              <a:t> of integer grid lines. f is one unit to the right and two units up from h. </a:t>
            </a:r>
          </a:p>
          <a:p>
            <a:pPr marL="457200" indent="-457200">
              <a:buAutoNum type="alphaLcParenBoth"/>
            </a:pPr>
            <a:r>
              <a:rPr lang="en-US" sz="2400" dirty="0">
                <a:solidFill>
                  <a:schemeClr val="tx1"/>
                </a:solidFill>
              </a:rPr>
              <a:t>A minimum spanning tree T of the complete graph, </a:t>
            </a:r>
            <a:br>
              <a:rPr lang="en-US" sz="2400" dirty="0">
                <a:solidFill>
                  <a:schemeClr val="tx1"/>
                </a:solidFill>
              </a:rPr>
            </a:br>
            <a:r>
              <a:rPr lang="en-US" sz="2400" dirty="0">
                <a:solidFill>
                  <a:schemeClr val="tx1"/>
                </a:solidFill>
              </a:rPr>
              <a:t>as computed by MST-PRIM. Vertex a is the root vertex.</a:t>
            </a:r>
          </a:p>
          <a:p>
            <a:pPr marL="457200" indent="-457200">
              <a:buAutoNum type="alphaLcParenBoth"/>
            </a:pPr>
            <a:r>
              <a:rPr lang="en-US" sz="2400" dirty="0">
                <a:solidFill>
                  <a:schemeClr val="tx1"/>
                </a:solidFill>
              </a:rPr>
              <a:t>A walk of T , starting at a. A full walk of the tree visits </a:t>
            </a:r>
            <a:br>
              <a:rPr lang="en-US" sz="2400" dirty="0">
                <a:solidFill>
                  <a:schemeClr val="tx1"/>
                </a:solidFill>
              </a:rPr>
            </a:br>
            <a:r>
              <a:rPr lang="en-US" sz="2400" dirty="0">
                <a:solidFill>
                  <a:schemeClr val="tx1"/>
                </a:solidFill>
              </a:rPr>
              <a:t>the vertices in the order </a:t>
            </a:r>
            <a:br>
              <a:rPr lang="en-US" sz="2400" dirty="0">
                <a:solidFill>
                  <a:schemeClr val="tx1"/>
                </a:solidFill>
              </a:rPr>
            </a:br>
            <a:r>
              <a:rPr lang="en-US" sz="2400" dirty="0">
                <a:solidFill>
                  <a:schemeClr val="tx1"/>
                </a:solidFill>
              </a:rPr>
              <a:t>a; b; c; b; h; b; a; d; e; f; e; g; e; d; a. </a:t>
            </a:r>
            <a:br>
              <a:rPr lang="en-US" sz="2400" dirty="0">
                <a:solidFill>
                  <a:schemeClr val="tx1"/>
                </a:solidFill>
              </a:rPr>
            </a:br>
            <a:r>
              <a:rPr lang="en-US" sz="2400" dirty="0">
                <a:solidFill>
                  <a:schemeClr val="tx1"/>
                </a:solidFill>
              </a:rPr>
              <a:t>A preorder walk of T lists a vertex just when it is </a:t>
            </a:r>
            <a:br>
              <a:rPr lang="en-US" sz="2400" dirty="0">
                <a:solidFill>
                  <a:schemeClr val="tx1"/>
                </a:solidFill>
              </a:rPr>
            </a:br>
            <a:r>
              <a:rPr lang="en-US" sz="2400" dirty="0">
                <a:solidFill>
                  <a:schemeClr val="tx1"/>
                </a:solidFill>
              </a:rPr>
              <a:t>first encountered, </a:t>
            </a:r>
            <a:br>
              <a:rPr lang="en-US" sz="2400" dirty="0">
                <a:solidFill>
                  <a:schemeClr val="tx1"/>
                </a:solidFill>
              </a:rPr>
            </a:br>
            <a:r>
              <a:rPr lang="en-US" sz="2400" dirty="0">
                <a:solidFill>
                  <a:schemeClr val="tx1"/>
                </a:solidFill>
              </a:rPr>
              <a:t>yielding the ordering a; b; c; h; d; e; f; g.</a:t>
            </a:r>
          </a:p>
          <a:p>
            <a:pPr marL="457200" indent="-457200">
              <a:buAutoNum type="alphaLcParenBoth"/>
            </a:pPr>
            <a:r>
              <a:rPr lang="en-US" sz="2400" dirty="0">
                <a:solidFill>
                  <a:schemeClr val="tx1"/>
                </a:solidFill>
              </a:rPr>
              <a:t>A tour obtained by visiting the vertices in the order </a:t>
            </a:r>
            <a:br>
              <a:rPr lang="en-US" sz="2400" dirty="0">
                <a:solidFill>
                  <a:schemeClr val="tx1"/>
                </a:solidFill>
              </a:rPr>
            </a:br>
            <a:r>
              <a:rPr lang="en-US" sz="2400" dirty="0">
                <a:solidFill>
                  <a:schemeClr val="tx1"/>
                </a:solidFill>
              </a:rPr>
              <a:t>given by the preorder walk, which is the tour H </a:t>
            </a:r>
            <a:br>
              <a:rPr lang="en-US" sz="2400" dirty="0">
                <a:solidFill>
                  <a:schemeClr val="tx1"/>
                </a:solidFill>
              </a:rPr>
            </a:br>
            <a:r>
              <a:rPr lang="en-US" sz="2400" dirty="0">
                <a:solidFill>
                  <a:schemeClr val="tx1"/>
                </a:solidFill>
              </a:rPr>
              <a:t>returned by APPROX-TSP-TOUR. Its total cost is</a:t>
            </a:r>
            <a:br>
              <a:rPr lang="en-US" sz="2400" dirty="0">
                <a:solidFill>
                  <a:schemeClr val="tx1"/>
                </a:solidFill>
              </a:rPr>
            </a:br>
            <a:r>
              <a:rPr lang="en-US" sz="2400" dirty="0">
                <a:solidFill>
                  <a:schemeClr val="tx1"/>
                </a:solidFill>
              </a:rPr>
              <a:t>approximately 19:074. </a:t>
            </a:r>
          </a:p>
          <a:p>
            <a:pPr marL="457200" indent="-457200">
              <a:buAutoNum type="alphaLcParenBoth"/>
            </a:pPr>
            <a:r>
              <a:rPr lang="en-US" sz="2400" dirty="0">
                <a:solidFill>
                  <a:schemeClr val="tx1"/>
                </a:solidFill>
              </a:rPr>
              <a:t>An optimal tour H for the original complete graph. </a:t>
            </a:r>
            <a:br>
              <a:rPr lang="en-US" sz="2400" dirty="0">
                <a:solidFill>
                  <a:schemeClr val="tx1"/>
                </a:solidFill>
              </a:rPr>
            </a:br>
            <a:r>
              <a:rPr lang="en-US" sz="2400" dirty="0">
                <a:solidFill>
                  <a:schemeClr val="tx1"/>
                </a:solidFill>
              </a:rPr>
              <a:t>Its total cost is approximately 14:715.</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8686800" y="2155371"/>
            <a:ext cx="3405673" cy="4441371"/>
          </a:xfrm>
          <a:prstGeom prst="rect">
            <a:avLst/>
          </a:prstGeom>
        </p:spPr>
      </p:pic>
    </p:spTree>
    <p:extLst>
      <p:ext uri="{BB962C8B-B14F-4D97-AF65-F5344CB8AC3E}">
        <p14:creationId xmlns:p14="http://schemas.microsoft.com/office/powerpoint/2010/main" val="1935399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3060051" y="1741131"/>
            <a:ext cx="6223907" cy="4476750"/>
          </a:xfrm>
          <a:prstGeom prst="rect">
            <a:avLst/>
          </a:prstGeom>
        </p:spPr>
      </p:pic>
    </p:spTree>
    <p:extLst>
      <p:ext uri="{BB962C8B-B14F-4D97-AF65-F5344CB8AC3E}">
        <p14:creationId xmlns:p14="http://schemas.microsoft.com/office/powerpoint/2010/main" val="4069777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875453" y="1091681"/>
            <a:ext cx="8910735" cy="551439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3302842" y="1894989"/>
            <a:ext cx="6382334" cy="4486275"/>
          </a:xfrm>
          <a:prstGeom prst="rect">
            <a:avLst/>
          </a:prstGeom>
        </p:spPr>
      </p:pic>
    </p:spTree>
    <p:extLst>
      <p:ext uri="{BB962C8B-B14F-4D97-AF65-F5344CB8AC3E}">
        <p14:creationId xmlns:p14="http://schemas.microsoft.com/office/powerpoint/2010/main" val="10177716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043404" y="1082351"/>
            <a:ext cx="8910735" cy="4590662"/>
          </a:xfrm>
        </p:spPr>
        <p:txBody>
          <a:bodyPr>
            <a:normAutofit/>
          </a:bodyPr>
          <a:lstStyle/>
          <a:p>
            <a:pPr marL="342900" indent="-342900" algn="just">
              <a:buFont typeface="Wingdings" panose="05000000000000000000" pitchFamily="2" charset="2"/>
              <a:buChar char="v"/>
            </a:pPr>
            <a:r>
              <a:rPr lang="en-US" sz="2400" dirty="0">
                <a:solidFill>
                  <a:schemeClr val="tx1"/>
                </a:solidFill>
                <a:latin typeface="+mj-lt"/>
                <a:cs typeface="Courier New" panose="02070309020205020404" pitchFamily="49" charset="0"/>
              </a:rPr>
              <a:t>Traveling Sales-man Problem (TSP)</a:t>
            </a:r>
          </a:p>
          <a:p>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2901821" y="1852612"/>
            <a:ext cx="6056442" cy="3596466"/>
          </a:xfrm>
          <a:prstGeom prst="rect">
            <a:avLst/>
          </a:prstGeom>
        </p:spPr>
      </p:pic>
    </p:spTree>
    <p:extLst>
      <p:ext uri="{BB962C8B-B14F-4D97-AF65-F5344CB8AC3E}">
        <p14:creationId xmlns:p14="http://schemas.microsoft.com/office/powerpoint/2010/main" val="28278925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p>
          <a:p>
            <a:pPr algn="just"/>
            <a:r>
              <a:rPr lang="en-US" sz="2400" b="0" i="0" dirty="0">
                <a:solidFill>
                  <a:srgbClr val="202122"/>
                </a:solidFill>
                <a:effectLst/>
                <a:latin typeface="Arial" panose="020B0604020202020204" pitchFamily="34" charset="0"/>
              </a:rPr>
              <a:t>The </a:t>
            </a:r>
            <a:r>
              <a:rPr lang="en-US" sz="2400" b="1" i="0" dirty="0">
                <a:solidFill>
                  <a:srgbClr val="202122"/>
                </a:solidFill>
                <a:effectLst/>
                <a:latin typeface="Arial" panose="020B0604020202020204" pitchFamily="34" charset="0"/>
              </a:rPr>
              <a:t>bin packing problem </a:t>
            </a:r>
            <a:r>
              <a:rPr lang="en-US" sz="2400" b="0" i="0" dirty="0">
                <a:solidFill>
                  <a:srgbClr val="202122"/>
                </a:solidFill>
                <a:effectLst/>
                <a:latin typeface="Arial" panose="020B0604020202020204" pitchFamily="34" charset="0"/>
              </a:rPr>
              <a:t>is an </a:t>
            </a:r>
            <a:r>
              <a:rPr lang="en-US" sz="2400" b="1" i="1" strike="noStrike" dirty="0">
                <a:solidFill>
                  <a:schemeClr val="tx1"/>
                </a:solidFill>
                <a:effectLst/>
                <a:latin typeface="Arial" panose="020B0604020202020204" pitchFamily="34" charset="0"/>
                <a:hlinkClick r:id="rId2" tooltip="Optimization problem">
                  <a:extLst>
                    <a:ext uri="{A12FA001-AC4F-418D-AE19-62706E023703}">
                      <ahyp:hlinkClr xmlns:ahyp="http://schemas.microsoft.com/office/drawing/2018/hyperlinkcolor" val="tx"/>
                    </a:ext>
                  </a:extLst>
                </a:hlinkClick>
              </a:rPr>
              <a:t>optimization problem</a:t>
            </a:r>
            <a:r>
              <a:rPr lang="en-US" sz="2400" b="0" i="0" dirty="0">
                <a:solidFill>
                  <a:srgbClr val="202122"/>
                </a:solidFill>
                <a:effectLst/>
                <a:latin typeface="Arial" panose="020B0604020202020204" pitchFamily="34" charset="0"/>
              </a:rPr>
              <a:t>, in which items of different sizes must be packed into a finite number of bins or containers, each of a fixed given capacity, in a way that minimizes the number of bins used. </a:t>
            </a:r>
          </a:p>
          <a:p>
            <a:pPr algn="just"/>
            <a:r>
              <a:rPr lang="en-US" sz="2400" b="0" i="0" dirty="0">
                <a:solidFill>
                  <a:srgbClr val="202122"/>
                </a:solidFill>
                <a:effectLst/>
                <a:latin typeface="Arial" panose="020B0604020202020204" pitchFamily="34" charset="0"/>
              </a:rPr>
              <a:t>The problem has many applications, such as filling up containers, loading trucks with weight capacity constraints, creating file </a:t>
            </a:r>
            <a:r>
              <a:rPr lang="en-US" sz="2400" b="1" i="1" u="none" strike="noStrike" dirty="0">
                <a:solidFill>
                  <a:schemeClr val="tx1"/>
                </a:solidFill>
                <a:effectLst/>
                <a:latin typeface="Arial" panose="020B0604020202020204" pitchFamily="34" charset="0"/>
                <a:hlinkClick r:id="rId3" tooltip="Backup">
                  <a:extLst>
                    <a:ext uri="{A12FA001-AC4F-418D-AE19-62706E023703}">
                      <ahyp:hlinkClr xmlns:ahyp="http://schemas.microsoft.com/office/drawing/2018/hyperlinkcolor" val="tx"/>
                    </a:ext>
                  </a:extLst>
                </a:hlinkClick>
              </a:rPr>
              <a:t>backups</a:t>
            </a:r>
            <a:r>
              <a:rPr lang="en-US" sz="2400" b="0" i="0" dirty="0">
                <a:solidFill>
                  <a:srgbClr val="202122"/>
                </a:solidFill>
                <a:effectLst/>
                <a:latin typeface="Arial" panose="020B0604020202020204" pitchFamily="34" charset="0"/>
              </a:rPr>
              <a:t> in media, and technology mapping in </a:t>
            </a:r>
            <a:r>
              <a:rPr lang="en-US" sz="2400" b="1" i="1" u="none" strike="noStrike" dirty="0">
                <a:solidFill>
                  <a:schemeClr val="tx1"/>
                </a:solidFill>
                <a:effectLst/>
                <a:latin typeface="Arial" panose="020B0604020202020204" pitchFamily="34" charset="0"/>
                <a:hlinkClick r:id="rId4" tooltip="Field-programmable gate array">
                  <a:extLst>
                    <a:ext uri="{A12FA001-AC4F-418D-AE19-62706E023703}">
                      <ahyp:hlinkClr xmlns:ahyp="http://schemas.microsoft.com/office/drawing/2018/hyperlinkcolor" val="tx"/>
                    </a:ext>
                  </a:extLst>
                </a:hlinkClick>
              </a:rPr>
              <a:t>FPGA</a:t>
            </a:r>
            <a:r>
              <a:rPr lang="en-US" sz="2400" b="1" i="1" dirty="0">
                <a:solidFill>
                  <a:schemeClr val="tx1"/>
                </a:solidFill>
                <a:effectLst/>
                <a:latin typeface="Arial" panose="020B0604020202020204" pitchFamily="34" charset="0"/>
              </a:rPr>
              <a:t> </a:t>
            </a:r>
            <a:r>
              <a:rPr lang="en-US" sz="2400" b="1" i="1" u="none" strike="noStrike" dirty="0">
                <a:solidFill>
                  <a:schemeClr val="tx1"/>
                </a:solidFill>
                <a:effectLst/>
                <a:latin typeface="Arial" panose="020B0604020202020204" pitchFamily="34" charset="0"/>
                <a:hlinkClick r:id="rId5" tooltip="Semiconductor chip">
                  <a:extLst>
                    <a:ext uri="{A12FA001-AC4F-418D-AE19-62706E023703}">
                      <ahyp:hlinkClr xmlns:ahyp="http://schemas.microsoft.com/office/drawing/2018/hyperlinkcolor" val="tx"/>
                    </a:ext>
                  </a:extLst>
                </a:hlinkClick>
              </a:rPr>
              <a:t>semiconductor chip</a:t>
            </a:r>
            <a:r>
              <a:rPr lang="en-US" sz="2400" b="1" i="1" dirty="0">
                <a:solidFill>
                  <a:schemeClr val="tx1"/>
                </a:solidFill>
                <a:effectLst/>
                <a:latin typeface="Arial" panose="020B0604020202020204" pitchFamily="34" charset="0"/>
              </a:rPr>
              <a:t> </a:t>
            </a:r>
            <a:r>
              <a:rPr lang="en-US" sz="2400" b="0" i="0" dirty="0">
                <a:solidFill>
                  <a:srgbClr val="202122"/>
                </a:solidFill>
                <a:effectLst/>
                <a:latin typeface="Arial" panose="020B0604020202020204" pitchFamily="34" charset="0"/>
              </a:rPr>
              <a:t>design.</a:t>
            </a:r>
            <a:endParaRPr lang="en-US" sz="24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8523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245097" y="980388"/>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p>
          <a:p>
            <a:r>
              <a:rPr lang="en-US" b="0" i="0" dirty="0">
                <a:solidFill>
                  <a:srgbClr val="273239"/>
                </a:solidFill>
                <a:effectLst/>
                <a:latin typeface="Nunito" pitchFamily="2" charset="0"/>
              </a:rPr>
              <a:t>Given n items of different weights and bins </a:t>
            </a:r>
          </a:p>
          <a:p>
            <a:r>
              <a:rPr lang="en-US" b="0" i="0" dirty="0">
                <a:solidFill>
                  <a:srgbClr val="273239"/>
                </a:solidFill>
                <a:effectLst/>
                <a:latin typeface="Nunito" pitchFamily="2" charset="0"/>
              </a:rPr>
              <a:t>each of capacity c, assign each item to a bin </a:t>
            </a:r>
          </a:p>
          <a:p>
            <a:r>
              <a:rPr lang="en-US" b="0" i="0" dirty="0">
                <a:solidFill>
                  <a:srgbClr val="273239"/>
                </a:solidFill>
                <a:effectLst/>
                <a:latin typeface="Nunito" pitchFamily="2" charset="0"/>
              </a:rPr>
              <a:t>such that number of total used bins </a:t>
            </a:r>
          </a:p>
          <a:p>
            <a:r>
              <a:rPr lang="en-US" b="0" i="0" dirty="0">
                <a:solidFill>
                  <a:srgbClr val="273239"/>
                </a:solidFill>
                <a:effectLst/>
                <a:latin typeface="Nunito" pitchFamily="2" charset="0"/>
              </a:rPr>
              <a:t>is minimized. </a:t>
            </a:r>
          </a:p>
          <a:p>
            <a:r>
              <a:rPr lang="en-US" b="0" i="0" dirty="0">
                <a:solidFill>
                  <a:srgbClr val="273239"/>
                </a:solidFill>
                <a:effectLst/>
                <a:latin typeface="Nunito" pitchFamily="2" charset="0"/>
              </a:rPr>
              <a:t>It may be assumed that all items </a:t>
            </a:r>
          </a:p>
          <a:p>
            <a:r>
              <a:rPr lang="en-US" b="0" i="0" dirty="0">
                <a:solidFill>
                  <a:srgbClr val="273239"/>
                </a:solidFill>
                <a:effectLst/>
                <a:latin typeface="Nunito" pitchFamily="2" charset="0"/>
              </a:rPr>
              <a:t>have weights smaller than bin capacity.</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2FC2E469-DD6E-BADF-8235-67B80BDDFEE5}"/>
              </a:ext>
            </a:extLst>
          </p:cNvPr>
          <p:cNvPicPr>
            <a:picLocks noChangeAspect="1"/>
          </p:cNvPicPr>
          <p:nvPr/>
        </p:nvPicPr>
        <p:blipFill>
          <a:blip r:embed="rId2"/>
          <a:stretch>
            <a:fillRect/>
          </a:stretch>
        </p:blipFill>
        <p:spPr>
          <a:xfrm>
            <a:off x="4852743" y="1094760"/>
            <a:ext cx="7175859" cy="5504003"/>
          </a:xfrm>
          <a:prstGeom prst="rect">
            <a:avLst/>
          </a:prstGeom>
        </p:spPr>
      </p:pic>
    </p:spTree>
    <p:extLst>
      <p:ext uri="{BB962C8B-B14F-4D97-AF65-F5344CB8AC3E}">
        <p14:creationId xmlns:p14="http://schemas.microsoft.com/office/powerpoint/2010/main" val="2627959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DBAFFA65-C4E0-49B9-643C-C9A625D9331C}"/>
              </a:ext>
            </a:extLst>
          </p:cNvPr>
          <p:cNvPicPr>
            <a:picLocks noChangeAspect="1"/>
          </p:cNvPicPr>
          <p:nvPr/>
        </p:nvPicPr>
        <p:blipFill>
          <a:blip r:embed="rId2"/>
          <a:stretch>
            <a:fillRect/>
          </a:stretch>
        </p:blipFill>
        <p:spPr>
          <a:xfrm>
            <a:off x="1830125" y="1865083"/>
            <a:ext cx="9191625" cy="4391025"/>
          </a:xfrm>
          <a:prstGeom prst="rect">
            <a:avLst/>
          </a:prstGeom>
        </p:spPr>
      </p:pic>
    </p:spTree>
    <p:extLst>
      <p:ext uri="{BB962C8B-B14F-4D97-AF65-F5344CB8AC3E}">
        <p14:creationId xmlns:p14="http://schemas.microsoft.com/office/powerpoint/2010/main" val="2943650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762811" y="1018095"/>
            <a:ext cx="10331779"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p>
          <a:p>
            <a:pPr algn="l" fontAlgn="base"/>
            <a:r>
              <a:rPr lang="en-US" b="1" i="0" dirty="0">
                <a:solidFill>
                  <a:srgbClr val="273239"/>
                </a:solidFill>
                <a:effectLst/>
                <a:latin typeface="Nunito" pitchFamily="2" charset="0"/>
              </a:rPr>
              <a:t>Applications </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Loading of containers like trucks.</a:t>
            </a:r>
          </a:p>
          <a:p>
            <a:pPr algn="l" fontAlgn="base">
              <a:buFont typeface="+mj-lt"/>
              <a:buAutoNum type="arabicPeriod"/>
            </a:pPr>
            <a:r>
              <a:rPr lang="en-US" b="0" i="0" dirty="0">
                <a:solidFill>
                  <a:srgbClr val="273239"/>
                </a:solidFill>
                <a:effectLst/>
                <a:latin typeface="Nunito" pitchFamily="2" charset="0"/>
              </a:rPr>
              <a:t>Placing data on multiple disks.</a:t>
            </a:r>
          </a:p>
          <a:p>
            <a:pPr algn="l" fontAlgn="base">
              <a:buFont typeface="+mj-lt"/>
              <a:buAutoNum type="arabicPeriod"/>
            </a:pPr>
            <a:r>
              <a:rPr lang="en-US" b="0" i="0" dirty="0">
                <a:solidFill>
                  <a:srgbClr val="273239"/>
                </a:solidFill>
                <a:effectLst/>
                <a:latin typeface="Nunito" pitchFamily="2" charset="0"/>
              </a:rPr>
              <a:t>Job scheduling.</a:t>
            </a:r>
          </a:p>
          <a:p>
            <a:pPr algn="l" fontAlgn="base">
              <a:buFont typeface="+mj-lt"/>
              <a:buAutoNum type="arabicPeriod"/>
            </a:pPr>
            <a:r>
              <a:rPr lang="en-US" b="0" i="0" dirty="0">
                <a:solidFill>
                  <a:srgbClr val="273239"/>
                </a:solidFill>
                <a:effectLst/>
                <a:latin typeface="Nunito" pitchFamily="2" charset="0"/>
              </a:rPr>
              <a:t>Packing advertisements in fixed length radio/TV station breaks.</a:t>
            </a:r>
          </a:p>
          <a:p>
            <a:pPr algn="l" fontAlgn="base">
              <a:buFont typeface="+mj-lt"/>
              <a:buAutoNum type="arabicPeriod"/>
            </a:pPr>
            <a:r>
              <a:rPr lang="en-US" b="0" i="0" dirty="0">
                <a:solidFill>
                  <a:srgbClr val="273239"/>
                </a:solidFill>
                <a:effectLst/>
                <a:latin typeface="Nunito" pitchFamily="2" charset="0"/>
              </a:rPr>
              <a:t>Storing a large collection of music onto tapes/CD’s, etc.</a:t>
            </a:r>
          </a:p>
          <a:p>
            <a:pPr algn="l" fontAlgn="base"/>
            <a:r>
              <a:rPr lang="en-US" b="1" i="0" dirty="0">
                <a:solidFill>
                  <a:srgbClr val="273239"/>
                </a:solidFill>
                <a:effectLst/>
                <a:latin typeface="Nunito" pitchFamily="2" charset="0"/>
              </a:rPr>
              <a:t>Online Algorithms</a:t>
            </a:r>
            <a:r>
              <a:rPr lang="en-US" b="0" i="0" dirty="0">
                <a:solidFill>
                  <a:srgbClr val="273239"/>
                </a:solidFill>
                <a:effectLst/>
                <a:latin typeface="Nunito" pitchFamily="2" charset="0"/>
              </a:rPr>
              <a:t> </a:t>
            </a:r>
            <a:br>
              <a:rPr lang="en-US" b="0" i="0" dirty="0">
                <a:solidFill>
                  <a:srgbClr val="273239"/>
                </a:solidFill>
                <a:effectLst/>
                <a:latin typeface="Nunito" pitchFamily="2" charset="0"/>
              </a:rPr>
            </a:br>
            <a:r>
              <a:rPr lang="en-US" b="0" i="0" dirty="0">
                <a:solidFill>
                  <a:srgbClr val="273239"/>
                </a:solidFill>
                <a:effectLst/>
                <a:latin typeface="Nunito" pitchFamily="2" charset="0"/>
              </a:rPr>
              <a:t>These algorithms are for Bin Packing problems where items arrive one at a time (in unknown order), each must be put in a bin, before considering the next item.</a:t>
            </a:r>
            <a:br>
              <a:rPr lang="en-US" b="0" i="0" dirty="0">
                <a:solidFill>
                  <a:srgbClr val="273239"/>
                </a:solidFill>
                <a:effectLst/>
                <a:latin typeface="Nunito" pitchFamily="2" charset="0"/>
              </a:rPr>
            </a:br>
            <a:r>
              <a:rPr lang="en-US" b="1" i="0" dirty="0">
                <a:solidFill>
                  <a:srgbClr val="273239"/>
                </a:solidFill>
                <a:effectLst/>
                <a:latin typeface="Nunito" pitchFamily="2" charset="0"/>
              </a:rPr>
              <a:t>1. Next Fit:</a:t>
            </a:r>
            <a:r>
              <a:rPr lang="en-US" b="0" i="0" dirty="0">
                <a:solidFill>
                  <a:srgbClr val="273239"/>
                </a:solidFill>
                <a:effectLst/>
                <a:latin typeface="Nunito" pitchFamily="2" charset="0"/>
              </a:rPr>
              <a:t> </a:t>
            </a:r>
            <a:br>
              <a:rPr lang="en-US" b="0" i="0" dirty="0">
                <a:solidFill>
                  <a:srgbClr val="273239"/>
                </a:solidFill>
                <a:effectLst/>
                <a:latin typeface="Nunito" pitchFamily="2" charset="0"/>
              </a:rPr>
            </a:br>
            <a:r>
              <a:rPr lang="en-US" b="0" i="0" dirty="0">
                <a:solidFill>
                  <a:srgbClr val="273239"/>
                </a:solidFill>
                <a:effectLst/>
                <a:latin typeface="Nunito" pitchFamily="2" charset="0"/>
              </a:rPr>
              <a:t>When processing next item, check if it fits in the same bin as the last item. Use a new bin only if it does not. </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192435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527143" y="867747"/>
            <a:ext cx="10567448" cy="5654351"/>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8C52FC05-8057-8E31-3226-F47D960F827E}"/>
              </a:ext>
            </a:extLst>
          </p:cNvPr>
          <p:cNvPicPr>
            <a:picLocks noChangeAspect="1"/>
          </p:cNvPicPr>
          <p:nvPr/>
        </p:nvPicPr>
        <p:blipFill>
          <a:blip r:embed="rId2"/>
          <a:stretch>
            <a:fillRect/>
          </a:stretch>
        </p:blipFill>
        <p:spPr>
          <a:xfrm>
            <a:off x="988441" y="1492087"/>
            <a:ext cx="11106150" cy="2686050"/>
          </a:xfrm>
          <a:prstGeom prst="rect">
            <a:avLst/>
          </a:prstGeom>
        </p:spPr>
      </p:pic>
      <p:pic>
        <p:nvPicPr>
          <p:cNvPr id="7" name="Picture 6">
            <a:extLst>
              <a:ext uri="{FF2B5EF4-FFF2-40B4-BE49-F238E27FC236}">
                <a16:creationId xmlns:a16="http://schemas.microsoft.com/office/drawing/2014/main" id="{3FFDF690-8A37-34D9-3022-B3013B82A0BE}"/>
              </a:ext>
            </a:extLst>
          </p:cNvPr>
          <p:cNvPicPr>
            <a:picLocks noChangeAspect="1"/>
          </p:cNvPicPr>
          <p:nvPr/>
        </p:nvPicPr>
        <p:blipFill>
          <a:blip r:embed="rId3"/>
          <a:stretch>
            <a:fillRect/>
          </a:stretch>
        </p:blipFill>
        <p:spPr>
          <a:xfrm>
            <a:off x="1850206" y="4317475"/>
            <a:ext cx="9000046" cy="2337849"/>
          </a:xfrm>
          <a:prstGeom prst="rect">
            <a:avLst/>
          </a:prstGeom>
        </p:spPr>
      </p:pic>
    </p:spTree>
    <p:extLst>
      <p:ext uri="{BB962C8B-B14F-4D97-AF65-F5344CB8AC3E}">
        <p14:creationId xmlns:p14="http://schemas.microsoft.com/office/powerpoint/2010/main" val="460364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Bin Packing</a:t>
            </a: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E4D12E11-A5B7-9400-FAA9-46C52859AB1B}"/>
              </a:ext>
            </a:extLst>
          </p:cNvPr>
          <p:cNvPicPr>
            <a:picLocks noChangeAspect="1"/>
          </p:cNvPicPr>
          <p:nvPr/>
        </p:nvPicPr>
        <p:blipFill>
          <a:blip r:embed="rId2"/>
          <a:stretch>
            <a:fillRect/>
          </a:stretch>
        </p:blipFill>
        <p:spPr>
          <a:xfrm>
            <a:off x="1833514" y="2077530"/>
            <a:ext cx="9954705" cy="3762375"/>
          </a:xfrm>
          <a:prstGeom prst="rect">
            <a:avLst/>
          </a:prstGeom>
        </p:spPr>
      </p:pic>
    </p:spTree>
    <p:extLst>
      <p:ext uri="{BB962C8B-B14F-4D97-AF65-F5344CB8AC3E}">
        <p14:creationId xmlns:p14="http://schemas.microsoft.com/office/powerpoint/2010/main" val="22780067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627025"/>
          </a:xfrm>
        </p:spPr>
        <p:txBody>
          <a:bodyPr>
            <a:normAutofit fontScale="90000"/>
          </a:bodyPr>
          <a:lstStyle/>
          <a:p>
            <a:pPr algn="ctr"/>
            <a:r>
              <a:rPr lang="en-US" sz="4000" dirty="0"/>
              <a:t>Approximation Algorithms</a:t>
            </a:r>
          </a:p>
        </p:txBody>
      </p:sp>
      <p:sp>
        <p:nvSpPr>
          <p:cNvPr id="3" name="Subtitle 2"/>
          <p:cNvSpPr>
            <a:spLocks noGrp="1"/>
          </p:cNvSpPr>
          <p:nvPr>
            <p:ph type="subTitle" idx="1"/>
          </p:nvPr>
        </p:nvSpPr>
        <p:spPr>
          <a:xfrm>
            <a:off x="1527143" y="1018095"/>
            <a:ext cx="10567448" cy="5504003"/>
          </a:xfrm>
        </p:spPr>
        <p:txBody>
          <a:bodyPr>
            <a:normAutofit/>
          </a:bodyPr>
          <a:lstStyle/>
          <a:p>
            <a:pPr algn="just"/>
            <a:endParaRPr lang="en-US" sz="2800" dirty="0">
              <a:solidFill>
                <a:schemeClr val="tx1"/>
              </a:solidFill>
              <a:latin typeface="+mj-lt"/>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7EE34AF6-BDA3-672B-0605-8E5A11206A70}"/>
              </a:ext>
            </a:extLst>
          </p:cNvPr>
          <p:cNvPicPr>
            <a:picLocks noChangeAspect="1"/>
          </p:cNvPicPr>
          <p:nvPr/>
        </p:nvPicPr>
        <p:blipFill>
          <a:blip r:embed="rId2"/>
          <a:stretch>
            <a:fillRect/>
          </a:stretch>
        </p:blipFill>
        <p:spPr>
          <a:xfrm>
            <a:off x="1525030" y="792331"/>
            <a:ext cx="10666970" cy="5806431"/>
          </a:xfrm>
          <a:prstGeom prst="rect">
            <a:avLst/>
          </a:prstGeom>
        </p:spPr>
      </p:pic>
    </p:spTree>
    <p:extLst>
      <p:ext uri="{BB962C8B-B14F-4D97-AF65-F5344CB8AC3E}">
        <p14:creationId xmlns:p14="http://schemas.microsoft.com/office/powerpoint/2010/main" val="10603050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8584" y="88642"/>
            <a:ext cx="8915399" cy="779105"/>
          </a:xfrm>
        </p:spPr>
        <p:txBody>
          <a:bodyPr>
            <a:normAutofit/>
          </a:bodyPr>
          <a:lstStyle/>
          <a:p>
            <a:pPr algn="ctr"/>
            <a:r>
              <a:rPr lang="en-US" sz="4000" dirty="0"/>
              <a:t>Approximation Algorithms</a:t>
            </a:r>
          </a:p>
        </p:txBody>
      </p:sp>
      <p:sp>
        <p:nvSpPr>
          <p:cNvPr id="3" name="Subtitle 2"/>
          <p:cNvSpPr>
            <a:spLocks noGrp="1"/>
          </p:cNvSpPr>
          <p:nvPr>
            <p:ph type="subTitle" idx="1"/>
          </p:nvPr>
        </p:nvSpPr>
        <p:spPr>
          <a:xfrm>
            <a:off x="1527143" y="1018095"/>
            <a:ext cx="10567448" cy="5504003"/>
          </a:xfrm>
        </p:spPr>
        <p:txBody>
          <a:bodyPr>
            <a:normAutofit/>
          </a:bodyPr>
          <a:lstStyle/>
          <a:p>
            <a:pPr marL="342900" indent="-342900" algn="just">
              <a:buFont typeface="Wingdings" panose="05000000000000000000" pitchFamily="2" charset="2"/>
              <a:buChar char="v"/>
            </a:pPr>
            <a:r>
              <a:rPr lang="en-US" sz="2800" dirty="0">
                <a:solidFill>
                  <a:schemeClr val="tx1"/>
                </a:solidFill>
                <a:latin typeface="+mj-lt"/>
                <a:cs typeface="Courier New" panose="02070309020205020404" pitchFamily="49" charset="0"/>
              </a:rPr>
              <a:t>  </a:t>
            </a:r>
          </a:p>
          <a:p>
            <a:pPr marL="342900" indent="-342900" algn="just">
              <a:buFont typeface="Wingdings" panose="05000000000000000000" pitchFamily="2" charset="2"/>
              <a:buChar char="v"/>
            </a:pPr>
            <a:endParaRPr lang="en-US" sz="28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800" dirty="0">
              <a:solidFill>
                <a:schemeClr val="tx1"/>
              </a:solidFill>
              <a:latin typeface="+mj-lt"/>
              <a:cs typeface="Courier New" panose="02070309020205020404" pitchFamily="49" charset="0"/>
            </a:endParaRPr>
          </a:p>
          <a:p>
            <a:pPr marL="342900" indent="-342900" algn="just">
              <a:buFont typeface="Wingdings" panose="05000000000000000000" pitchFamily="2" charset="2"/>
              <a:buChar char="v"/>
            </a:pPr>
            <a:endParaRPr lang="en-US" sz="2800" dirty="0">
              <a:solidFill>
                <a:schemeClr val="tx1"/>
              </a:solidFill>
              <a:latin typeface="+mj-lt"/>
              <a:cs typeface="Courier New" panose="02070309020205020404" pitchFamily="49" charset="0"/>
            </a:endParaRPr>
          </a:p>
          <a:p>
            <a:pPr algn="ctr"/>
            <a:r>
              <a:rPr lang="en-US" sz="2800" dirty="0">
                <a:solidFill>
                  <a:schemeClr val="tx1"/>
                </a:solidFill>
                <a:latin typeface="+mj-lt"/>
                <a:cs typeface="Courier New" panose="02070309020205020404" pitchFamily="49" charset="0"/>
              </a:rPr>
              <a:t>   </a:t>
            </a:r>
            <a:r>
              <a:rPr lang="en-US" sz="4000" b="1" i="1" dirty="0">
                <a:solidFill>
                  <a:srgbClr val="FF0000"/>
                </a:solidFill>
                <a:latin typeface="+mj-lt"/>
                <a:cs typeface="Courier New" panose="02070309020205020404" pitchFamily="49" charset="0"/>
              </a:rPr>
              <a:t>Any Question???</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4690784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1808</TotalTime>
  <Words>2158</Words>
  <Application>Microsoft Office PowerPoint</Application>
  <PresentationFormat>Widescreen</PresentationFormat>
  <Paragraphs>405</Paragraphs>
  <Slides>64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Arial</vt:lpstr>
      <vt:lpstr>Century Gothic</vt:lpstr>
      <vt:lpstr>Courier New</vt:lpstr>
      <vt:lpstr>Nunito</vt:lpstr>
      <vt:lpstr>Source Sans 3</vt:lpstr>
      <vt:lpstr>urw-din</vt:lpstr>
      <vt:lpstr>Wingdings</vt:lpstr>
      <vt:lpstr>Wingdings 3</vt:lpstr>
      <vt:lpstr>Wisp</vt:lpstr>
      <vt:lpstr>Approximation Algorithms</vt:lpstr>
      <vt:lpstr>Complexity Class</vt:lpstr>
      <vt:lpstr>Complexity Class</vt:lpstr>
      <vt:lpstr>Complexity Class</vt:lpstr>
      <vt:lpstr>Complexity Class</vt:lpstr>
      <vt:lpstr>Complexity Class</vt:lpstr>
      <vt:lpstr>Non-Deterministic Algorithm</vt:lpstr>
      <vt:lpstr>Non-Deterministic Algorithm</vt:lpstr>
      <vt:lpstr>Complexity Class</vt:lpstr>
      <vt:lpstr>Complexity Class</vt:lpstr>
      <vt:lpstr>Complexity Class</vt:lpstr>
      <vt:lpstr>Complexity Class</vt:lpstr>
      <vt:lpstr>Optimization Problems</vt:lpstr>
      <vt:lpstr>Address NP-complete problems</vt:lpstr>
      <vt:lpstr>Brute-force algorithm</vt:lpstr>
      <vt:lpstr>  Heuristic techniques</vt:lpstr>
      <vt:lpstr>  Heuristic techniques</vt:lpstr>
      <vt:lpstr>  Heuristic techniques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lpstr>Approximation Algorithms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Variable</dc:title>
  <dc:creator>Md.Abdul Masud</dc:creator>
  <cp:lastModifiedBy>M A Masud</cp:lastModifiedBy>
  <cp:revision>118</cp:revision>
  <dcterms:created xsi:type="dcterms:W3CDTF">2021-08-21T04:45:26Z</dcterms:created>
  <dcterms:modified xsi:type="dcterms:W3CDTF">2023-08-26T14:00:10Z</dcterms:modified>
</cp:coreProperties>
</file>