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60" r:id="rId12"/>
    <p:sldId id="261" r:id="rId13"/>
    <p:sldId id="262" r:id="rId14"/>
    <p:sldId id="272" r:id="rId15"/>
    <p:sldId id="271" r:id="rId16"/>
    <p:sldId id="263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73" d="100"/>
          <a:sy n="73" d="100"/>
        </p:scale>
        <p:origin x="77" y="26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5DA8-B7CA-4C53-9105-91D1C2AF5D9E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43C9B-0176-4BDF-AC43-CF4A3890E19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61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5DA8-B7CA-4C53-9105-91D1C2AF5D9E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43C9B-0176-4BDF-AC43-CF4A3890E19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161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5DA8-B7CA-4C53-9105-91D1C2AF5D9E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43C9B-0176-4BDF-AC43-CF4A3890E19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630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5DA8-B7CA-4C53-9105-91D1C2AF5D9E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43C9B-0176-4BDF-AC43-CF4A3890E19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686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5DA8-B7CA-4C53-9105-91D1C2AF5D9E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43C9B-0176-4BDF-AC43-CF4A3890E19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77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5DA8-B7CA-4C53-9105-91D1C2AF5D9E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43C9B-0176-4BDF-AC43-CF4A3890E19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745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5DA8-B7CA-4C53-9105-91D1C2AF5D9E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43C9B-0176-4BDF-AC43-CF4A3890E19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41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5DA8-B7CA-4C53-9105-91D1C2AF5D9E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43C9B-0176-4BDF-AC43-CF4A3890E19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343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5DA8-B7CA-4C53-9105-91D1C2AF5D9E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43C9B-0176-4BDF-AC43-CF4A3890E19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119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5DA8-B7CA-4C53-9105-91D1C2AF5D9E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43C9B-0176-4BDF-AC43-CF4A3890E19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26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5DA8-B7CA-4C53-9105-91D1C2AF5D9E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43C9B-0176-4BDF-AC43-CF4A3890E19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519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B35DA8-B7CA-4C53-9105-91D1C2AF5D9E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B43C9B-0176-4BDF-AC43-CF4A3890E19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179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 means Clustering Algorithm </a:t>
            </a:r>
            <a:r>
              <a:rPr lang="en-US" b="1" dirty="0"/>
              <a:t>Explained With an Example 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511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1164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K means Clustering Algorithm Explained With an Example Easiest And Quickest Way Ever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6814"/>
            <a:ext cx="12192000" cy="596118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745939" y="2703421"/>
            <a:ext cx="7841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F0F0F"/>
                </a:solidFill>
                <a:latin typeface="Roboto"/>
              </a:rPr>
              <a:t>7.21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526193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https://www.youtube.com/watch?v=CLKW6uWJtTc</a:t>
            </a:r>
          </a:p>
        </p:txBody>
      </p:sp>
    </p:spTree>
    <p:extLst>
      <p:ext uri="{BB962C8B-B14F-4D97-AF65-F5344CB8AC3E}">
        <p14:creationId xmlns:p14="http://schemas.microsoft.com/office/powerpoint/2010/main" val="3214989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943" y="365125"/>
            <a:ext cx="1170432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K-means clustering with k=3  (same previous 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Data are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058092" y="2194561"/>
            <a:ext cx="1024128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(185,72), (170,56), (168,60), (179,68), (182,72),</a:t>
            </a:r>
          </a:p>
          <a:p>
            <a:r>
              <a:rPr lang="en-US" dirty="0">
                <a:solidFill>
                  <a:srgbClr val="FF0000"/>
                </a:solidFill>
              </a:rPr>
              <a:t>(188,77), (180,71), (180,70), (183,84), (180,88),</a:t>
            </a:r>
          </a:p>
          <a:p>
            <a:r>
              <a:rPr lang="en-US" dirty="0">
                <a:solidFill>
                  <a:srgbClr val="FF0000"/>
                </a:solidFill>
              </a:rPr>
              <a:t>(180,67), (177,76)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943" y="365125"/>
            <a:ext cx="1170432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K-means clustering with k=3  (same previous example)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4583" y="1606731"/>
            <a:ext cx="10567851" cy="4311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943" y="365125"/>
            <a:ext cx="1170432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K-means clustering with k=3  (same previous 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27908" y="1573123"/>
            <a:ext cx="6255204" cy="36807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943" y="365125"/>
            <a:ext cx="1170432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K-means clustering with k=3  (same previous 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9977" y="1442902"/>
            <a:ext cx="7492093" cy="460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943" y="365125"/>
            <a:ext cx="1170432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K-means clustering with k=3  (same previous example)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0" y="2267064"/>
          <a:ext cx="7528470" cy="4356735"/>
        </p:xfrm>
        <a:graphic>
          <a:graphicData uri="http://schemas.openxmlformats.org/drawingml/2006/table">
            <a:tbl>
              <a:tblPr/>
              <a:tblGrid>
                <a:gridCol w="1505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5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5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56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56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948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kern="12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Point</a:t>
                      </a:r>
                      <a:endParaRPr lang="en-US" sz="1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C1 (170,56)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C2 (188,77)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C3 (180,88)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Cluster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4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P1 (185,72)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21.93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5.83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16.76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C2</a:t>
                      </a: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 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4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P2 (170,56)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0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29.83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36.80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C1</a:t>
                      </a: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 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4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P3 (168,60)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4.47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30.81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35.44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C1</a:t>
                      </a: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 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4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P4 (179,68)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13.60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11.31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20.10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C2</a:t>
                      </a: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 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4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P5 (182,72)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18.87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6.71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16.28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C2</a:t>
                      </a: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 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4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P6 (188,77)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29.83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0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15.13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C2</a:t>
                      </a: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 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4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P7 (180,71)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17.03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9.49</a:t>
                      </a:r>
                      <a:endParaRPr lang="en-US" sz="1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17.00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C2</a:t>
                      </a: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 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4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P8 (180,70)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16.12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10.20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18.03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C2</a:t>
                      </a: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 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4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P9 (183,84)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33.88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7.28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5.00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C3</a:t>
                      </a: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 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4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P10 (180,88)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36.80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15.13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0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C3</a:t>
                      </a: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 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34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P11 (180,67)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14.87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12.04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21.47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C2</a:t>
                      </a: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 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34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P12 (177,76)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21.63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11.18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13.00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12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C2</a:t>
                      </a:r>
                      <a:r>
                        <a:rPr lang="en-US" sz="1500" kern="12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Calibri"/>
                        </a:rPr>
                        <a:t> </a:t>
                      </a:r>
                      <a:endParaRPr lang="en-US" sz="1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96303" y="1755169"/>
            <a:ext cx="408169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Distance Table (Approximated</a:t>
            </a:r>
            <a:r>
              <a:rPr lang="en-US" dirty="0"/>
              <a:t>)</a:t>
            </a:r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41770" y="2103120"/>
            <a:ext cx="4458789" cy="446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K-means clustering with k=3  (same previous example)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4: Reassign Points</a:t>
            </a:r>
          </a:p>
          <a:p>
            <a:pPr lvl="1"/>
            <a:r>
              <a:rPr lang="en-US" dirty="0"/>
              <a:t>Repeat distance calculation with </a:t>
            </a:r>
            <a:r>
              <a:rPr lang="en-US" b="1" dirty="0"/>
              <a:t>updated </a:t>
            </a:r>
            <a:r>
              <a:rPr lang="en-US" b="1" dirty="0" err="1"/>
              <a:t>centroids</a:t>
            </a:r>
            <a:r>
              <a:rPr lang="en-US" dirty="0"/>
              <a:t> (169,58), (181.38,71.63), and (181.5,86).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Most points </a:t>
            </a:r>
            <a:r>
              <a:rPr lang="en-US" dirty="0">
                <a:solidFill>
                  <a:srgbClr val="FF0000"/>
                </a:solidFill>
              </a:rPr>
              <a:t>will likely stay in the same cluster</a:t>
            </a:r>
            <a:r>
              <a:rPr lang="en-US" dirty="0"/>
              <a:t>—repeat until </a:t>
            </a:r>
            <a:r>
              <a:rPr lang="en-US" dirty="0" err="1"/>
              <a:t>centroids</a:t>
            </a:r>
            <a:r>
              <a:rPr lang="en-US" dirty="0"/>
              <a:t> don't change significantly.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K-means clustering with k=3  (same previous example)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1950" y="2099854"/>
            <a:ext cx="7398882" cy="20410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K-Nearest Neighbor Classification </a:t>
            </a:r>
            <a:r>
              <a:rPr lang="en-US" b="1" dirty="0" err="1"/>
              <a:t>ll</a:t>
            </a:r>
            <a:r>
              <a:rPr lang="en-US" b="1" dirty="0"/>
              <a:t> KNN Classification Explained with Solved Example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902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4453"/>
            <a:ext cx="10515600" cy="1325563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K-Nearest Neighbor Classification </a:t>
            </a:r>
            <a:r>
              <a:rPr 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ll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KNN Classification Explained with Solved Example</a:t>
            </a:r>
            <a:b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52" y="1261147"/>
            <a:ext cx="11990231" cy="562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136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655" y="-545122"/>
            <a:ext cx="11588260" cy="206875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K-Nearest Neighbor Classification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ll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KNN Classification Explained with Solved Example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23" y="801794"/>
            <a:ext cx="11797046" cy="605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9478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62BB7-C686-5E00-31EF-6F9F145F8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C0B90-EDCF-5F00-A92D-29F035B89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dirty="0"/>
              <a:t>KNN </a:t>
            </a:r>
            <a:r>
              <a:rPr lang="en-US" sz="3200" b="1" dirty="0" err="1"/>
              <a:t>অ্যালগরিদম</a:t>
            </a:r>
            <a:r>
              <a:rPr lang="en-US" sz="3200" b="1" dirty="0"/>
              <a:t>:</a:t>
            </a:r>
          </a:p>
          <a:p>
            <a:pPr lvl="1"/>
            <a:r>
              <a:rPr lang="en-US" sz="2800" b="1" dirty="0"/>
              <a:t>"</a:t>
            </a:r>
            <a:r>
              <a:rPr lang="en-US" sz="2800" b="1" dirty="0" err="1"/>
              <a:t>তুমি</a:t>
            </a:r>
            <a:r>
              <a:rPr lang="en-US" sz="2800" b="1" dirty="0"/>
              <a:t> </a:t>
            </a:r>
            <a:r>
              <a:rPr lang="en-US" sz="2800" b="1" dirty="0" err="1"/>
              <a:t>আমাকে</a:t>
            </a:r>
            <a:r>
              <a:rPr lang="en-US" sz="2800" b="1" dirty="0"/>
              <a:t> </a:t>
            </a:r>
            <a:r>
              <a:rPr lang="en-US" sz="2800" b="1" dirty="0" err="1"/>
              <a:t>তোমার</a:t>
            </a:r>
            <a:r>
              <a:rPr lang="en-US" sz="2800" b="1" dirty="0"/>
              <a:t> ৩ </a:t>
            </a:r>
            <a:r>
              <a:rPr lang="en-US" sz="2800" b="1" dirty="0" err="1"/>
              <a:t>জন</a:t>
            </a:r>
            <a:r>
              <a:rPr lang="en-US" sz="2800" b="1" dirty="0"/>
              <a:t> </a:t>
            </a:r>
            <a:r>
              <a:rPr lang="en-US" sz="2800" b="1" dirty="0" err="1"/>
              <a:t>নিকটতম</a:t>
            </a:r>
            <a:r>
              <a:rPr lang="en-US" sz="2800" b="1" dirty="0"/>
              <a:t> </a:t>
            </a:r>
            <a:r>
              <a:rPr lang="en-US" sz="2800" b="1" dirty="0" err="1"/>
              <a:t>প্রতিবেশীর</a:t>
            </a:r>
            <a:r>
              <a:rPr lang="en-US" sz="2800" b="1" dirty="0"/>
              <a:t> </a:t>
            </a:r>
            <a:r>
              <a:rPr lang="en-US" sz="2800" b="1" dirty="0" err="1"/>
              <a:t>তথ্য</a:t>
            </a:r>
            <a:r>
              <a:rPr lang="en-US" sz="2800" b="1" dirty="0"/>
              <a:t> </a:t>
            </a:r>
            <a:r>
              <a:rPr lang="en-US" sz="2800" b="1" dirty="0" err="1"/>
              <a:t>দাও</a:t>
            </a:r>
            <a:r>
              <a:rPr lang="en-US" sz="2800" b="1" dirty="0"/>
              <a:t>, </a:t>
            </a:r>
            <a:r>
              <a:rPr lang="en-US" sz="2800" b="1" dirty="0" err="1"/>
              <a:t>আমি</a:t>
            </a:r>
            <a:r>
              <a:rPr lang="en-US" sz="2800" b="1" dirty="0"/>
              <a:t> </a:t>
            </a:r>
            <a:r>
              <a:rPr lang="en-US" sz="2800" b="1" dirty="0" err="1"/>
              <a:t>বলে</a:t>
            </a:r>
            <a:r>
              <a:rPr lang="en-US" sz="2800" b="1" dirty="0"/>
              <a:t> </a:t>
            </a:r>
            <a:r>
              <a:rPr lang="en-US" sz="2800" b="1" dirty="0" err="1"/>
              <a:t>দেব</a:t>
            </a:r>
            <a:r>
              <a:rPr lang="en-US" sz="2800" b="1" dirty="0"/>
              <a:t> </a:t>
            </a:r>
            <a:r>
              <a:rPr lang="en-US" sz="2800" b="1" dirty="0" err="1"/>
              <a:t>তুমি</a:t>
            </a:r>
            <a:r>
              <a:rPr lang="en-US" sz="2800" b="1" dirty="0"/>
              <a:t> </a:t>
            </a:r>
            <a:r>
              <a:rPr lang="en-US" sz="2800" b="1" dirty="0" err="1"/>
              <a:t>কে</a:t>
            </a:r>
            <a:r>
              <a:rPr lang="en-US" sz="2800" b="1" dirty="0"/>
              <a:t>!"</a:t>
            </a:r>
            <a:endParaRPr lang="en-US" sz="2800" dirty="0"/>
          </a:p>
          <a:p>
            <a:pPr lvl="1"/>
            <a:r>
              <a:rPr lang="en-US" sz="2800" b="1" dirty="0"/>
              <a:t>K:</a:t>
            </a:r>
            <a:r>
              <a:rPr lang="en-US" sz="2800" dirty="0"/>
              <a:t> </a:t>
            </a:r>
            <a:r>
              <a:rPr lang="en-US" sz="2800" dirty="0" err="1"/>
              <a:t>আপনি</a:t>
            </a:r>
            <a:r>
              <a:rPr lang="en-US" sz="2800" dirty="0"/>
              <a:t> </a:t>
            </a:r>
            <a:r>
              <a:rPr lang="en-US" sz="2800" dirty="0" err="1"/>
              <a:t>কয়জন</a:t>
            </a:r>
            <a:r>
              <a:rPr lang="en-US" sz="2800" dirty="0"/>
              <a:t> </a:t>
            </a:r>
            <a:r>
              <a:rPr lang="en-US" sz="2800" dirty="0" err="1"/>
              <a:t>নিকটতম</a:t>
            </a:r>
            <a:r>
              <a:rPr lang="en-US" sz="2800" dirty="0"/>
              <a:t> </a:t>
            </a:r>
            <a:r>
              <a:rPr lang="en-US" sz="2800" dirty="0" err="1"/>
              <a:t>প্রতিবেশীর</a:t>
            </a:r>
            <a:r>
              <a:rPr lang="en-US" sz="2800" dirty="0"/>
              <a:t> </a:t>
            </a:r>
            <a:r>
              <a:rPr lang="en-US" sz="2800" dirty="0" err="1"/>
              <a:t>সাহায্য</a:t>
            </a:r>
            <a:r>
              <a:rPr lang="en-US" sz="2800" dirty="0"/>
              <a:t> </a:t>
            </a:r>
            <a:r>
              <a:rPr lang="en-US" sz="2800" dirty="0" err="1"/>
              <a:t>নিতে</a:t>
            </a:r>
            <a:r>
              <a:rPr lang="en-US" sz="2800" dirty="0"/>
              <a:t> </a:t>
            </a:r>
            <a:r>
              <a:rPr lang="en-US" sz="2800" dirty="0" err="1"/>
              <a:t>চান</a:t>
            </a:r>
            <a:r>
              <a:rPr lang="en-US" sz="2800" dirty="0"/>
              <a:t> (</a:t>
            </a:r>
            <a:r>
              <a:rPr lang="en-US" sz="2800" dirty="0" err="1"/>
              <a:t>এখানে</a:t>
            </a:r>
            <a:r>
              <a:rPr lang="en-US" sz="2800" dirty="0"/>
              <a:t> K = 3)।</a:t>
            </a:r>
          </a:p>
          <a:p>
            <a:pPr lvl="1"/>
            <a:r>
              <a:rPr lang="en-US" sz="2800" b="1" dirty="0"/>
              <a:t>Nearest Neighbor:</a:t>
            </a:r>
            <a:r>
              <a:rPr lang="en-US" sz="2800" dirty="0"/>
              <a:t> </a:t>
            </a:r>
            <a:r>
              <a:rPr lang="en-US" sz="2800" dirty="0" err="1"/>
              <a:t>গাণিতিক</a:t>
            </a:r>
            <a:r>
              <a:rPr lang="en-US" sz="2800" dirty="0"/>
              <a:t> </a:t>
            </a:r>
            <a:r>
              <a:rPr lang="en-US" sz="2800" dirty="0" err="1"/>
              <a:t>দূরত্ব</a:t>
            </a:r>
            <a:r>
              <a:rPr lang="en-US" sz="2800" dirty="0"/>
              <a:t> </a:t>
            </a:r>
            <a:r>
              <a:rPr lang="en-US" sz="2800" dirty="0" err="1"/>
              <a:t>মেপে</a:t>
            </a:r>
            <a:r>
              <a:rPr lang="en-US" sz="2800" dirty="0"/>
              <a:t> </a:t>
            </a:r>
            <a:r>
              <a:rPr lang="en-US" sz="2800" dirty="0" err="1"/>
              <a:t>সবচেয়ে</a:t>
            </a:r>
            <a:r>
              <a:rPr lang="en-US" sz="2800" dirty="0"/>
              <a:t> </a:t>
            </a:r>
            <a:r>
              <a:rPr lang="en-US" sz="2800" dirty="0" err="1"/>
              <a:t>কাছাকাছি</a:t>
            </a:r>
            <a:r>
              <a:rPr lang="en-US" sz="2800" dirty="0"/>
              <a:t> </a:t>
            </a:r>
            <a:r>
              <a:rPr lang="en-US" sz="2800" dirty="0" err="1"/>
              <a:t>থাকা</a:t>
            </a:r>
            <a:r>
              <a:rPr lang="en-US" sz="2800" dirty="0"/>
              <a:t> </a:t>
            </a:r>
            <a:r>
              <a:rPr lang="en-US" sz="2800" dirty="0" err="1"/>
              <a:t>ডেটা</a:t>
            </a:r>
            <a:r>
              <a:rPr lang="en-US" sz="2800" dirty="0"/>
              <a:t> </a:t>
            </a:r>
            <a:r>
              <a:rPr lang="en-US" sz="2800" dirty="0" err="1"/>
              <a:t>খুঁজে</a:t>
            </a:r>
            <a:r>
              <a:rPr lang="en-US" sz="2800" dirty="0"/>
              <a:t> </a:t>
            </a:r>
            <a:r>
              <a:rPr lang="en-US" sz="2800" dirty="0" err="1"/>
              <a:t>বের</a:t>
            </a:r>
            <a:r>
              <a:rPr lang="en-US" sz="2800" dirty="0"/>
              <a:t> </a:t>
            </a:r>
            <a:r>
              <a:rPr lang="en-US" sz="2800" dirty="0" err="1"/>
              <a:t>করা</a:t>
            </a:r>
            <a:r>
              <a:rPr lang="en-US" sz="2800" dirty="0"/>
              <a:t>।</a:t>
            </a:r>
          </a:p>
          <a:p>
            <a:pPr lvl="1"/>
            <a:r>
              <a:rPr lang="en-US" sz="2800" b="1" dirty="0"/>
              <a:t>Classification:</a:t>
            </a:r>
            <a:r>
              <a:rPr lang="en-US" sz="2800" dirty="0"/>
              <a:t> </a:t>
            </a:r>
            <a:r>
              <a:rPr lang="en-US" sz="2800" dirty="0" err="1"/>
              <a:t>সংখ্যাগরিষ্ঠের</a:t>
            </a:r>
            <a:r>
              <a:rPr lang="en-US" sz="2800" dirty="0"/>
              <a:t> </a:t>
            </a:r>
            <a:r>
              <a:rPr lang="en-US" sz="2800" dirty="0" err="1"/>
              <a:t>ভোটের</a:t>
            </a:r>
            <a:r>
              <a:rPr lang="en-US" sz="2800" dirty="0"/>
              <a:t> </a:t>
            </a:r>
            <a:r>
              <a:rPr lang="en-US" sz="2800" dirty="0" err="1"/>
              <a:t>ভিত্তিতে</a:t>
            </a:r>
            <a:r>
              <a:rPr lang="en-US" sz="2800" dirty="0"/>
              <a:t> </a:t>
            </a:r>
            <a:r>
              <a:rPr lang="en-US" sz="2800" dirty="0" err="1"/>
              <a:t>নতুন</a:t>
            </a:r>
            <a:r>
              <a:rPr lang="en-US" sz="2800" dirty="0"/>
              <a:t> </a:t>
            </a:r>
            <a:r>
              <a:rPr lang="en-US" sz="2800" dirty="0" err="1"/>
              <a:t>ডেটার</a:t>
            </a:r>
            <a:r>
              <a:rPr lang="en-US" sz="2800" dirty="0"/>
              <a:t> </a:t>
            </a:r>
            <a:r>
              <a:rPr lang="en-US" sz="2800" dirty="0" err="1"/>
              <a:t>দল</a:t>
            </a:r>
            <a:r>
              <a:rPr lang="en-US" sz="2800" dirty="0"/>
              <a:t> </a:t>
            </a:r>
            <a:r>
              <a:rPr lang="en-US" sz="2800" dirty="0" err="1"/>
              <a:t>বা</a:t>
            </a:r>
            <a:r>
              <a:rPr lang="en-US" sz="2800" dirty="0"/>
              <a:t> </a:t>
            </a:r>
            <a:r>
              <a:rPr lang="en-US" sz="2800" dirty="0" err="1"/>
              <a:t>ক্যাটাগরি</a:t>
            </a:r>
            <a:r>
              <a:rPr lang="en-US" sz="2800" dirty="0"/>
              <a:t> (Pass/Fail) </a:t>
            </a:r>
            <a:r>
              <a:rPr lang="en-US" sz="2800" dirty="0" err="1"/>
              <a:t>নির্ধারণ</a:t>
            </a:r>
            <a:r>
              <a:rPr lang="en-US" sz="2800" dirty="0"/>
              <a:t> </a:t>
            </a:r>
            <a:r>
              <a:rPr lang="en-US" sz="2800" dirty="0" err="1"/>
              <a:t>করা</a:t>
            </a:r>
            <a:r>
              <a:rPr lang="en-US" sz="2800" dirty="0"/>
              <a:t>।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6496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0B0EF-7D63-93A2-23F0-68D4450C2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672D4-C145-807B-0A58-8861A6358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NN </a:t>
            </a:r>
            <a:r>
              <a:rPr lang="en-US" dirty="0" err="1"/>
              <a:t>অ্যালগরিদমে</a:t>
            </a:r>
            <a:r>
              <a:rPr lang="en-US" dirty="0"/>
              <a:t> </a:t>
            </a:r>
            <a:r>
              <a:rPr lang="en-US" dirty="0" err="1"/>
              <a:t>সাধারণত</a:t>
            </a:r>
            <a:r>
              <a:rPr lang="en-US" dirty="0"/>
              <a:t> K-</a:t>
            </a:r>
            <a:r>
              <a:rPr lang="en-US" dirty="0" err="1"/>
              <a:t>এর</a:t>
            </a:r>
            <a:r>
              <a:rPr lang="en-US" dirty="0"/>
              <a:t> </a:t>
            </a:r>
            <a:r>
              <a:rPr lang="en-US" dirty="0" err="1"/>
              <a:t>মান</a:t>
            </a:r>
            <a:r>
              <a:rPr lang="en-US" dirty="0"/>
              <a:t> </a:t>
            </a:r>
            <a:r>
              <a:rPr lang="en-US" b="1" dirty="0" err="1"/>
              <a:t>বিজোড়</a:t>
            </a:r>
            <a:r>
              <a:rPr lang="en-US" b="1" dirty="0"/>
              <a:t> </a:t>
            </a:r>
            <a:r>
              <a:rPr lang="en-US" b="1" dirty="0" err="1"/>
              <a:t>সংখ্যা</a:t>
            </a:r>
            <a:r>
              <a:rPr lang="en-US" dirty="0"/>
              <a:t> (</a:t>
            </a:r>
            <a:r>
              <a:rPr lang="en-US" dirty="0" err="1"/>
              <a:t>যেমন</a:t>
            </a:r>
            <a:r>
              <a:rPr lang="en-US" dirty="0"/>
              <a:t>: 3, 5, 7) </a:t>
            </a:r>
            <a:r>
              <a:rPr lang="en-US" dirty="0" err="1"/>
              <a:t>রাখা</a:t>
            </a:r>
            <a:r>
              <a:rPr lang="en-US" dirty="0"/>
              <a:t> </a:t>
            </a:r>
            <a:r>
              <a:rPr lang="en-US" dirty="0" err="1"/>
              <a:t>হয়</a:t>
            </a:r>
            <a:r>
              <a:rPr lang="en-US" dirty="0"/>
              <a:t>। </a:t>
            </a:r>
          </a:p>
          <a:p>
            <a:r>
              <a:rPr lang="en-US" dirty="0" err="1"/>
              <a:t>কারণ</a:t>
            </a:r>
            <a:r>
              <a:rPr lang="en-US" dirty="0"/>
              <a:t> </a:t>
            </a:r>
            <a:r>
              <a:rPr lang="en-US" dirty="0" err="1"/>
              <a:t>জোড়</a:t>
            </a:r>
            <a:r>
              <a:rPr lang="en-US" dirty="0"/>
              <a:t> </a:t>
            </a:r>
            <a:r>
              <a:rPr lang="en-US" dirty="0" err="1"/>
              <a:t>সংখ্যা</a:t>
            </a:r>
            <a:r>
              <a:rPr lang="en-US" dirty="0"/>
              <a:t> (K = 4) </a:t>
            </a:r>
            <a:r>
              <a:rPr lang="en-US" dirty="0" err="1"/>
              <a:t>রাখলে</a:t>
            </a:r>
            <a:r>
              <a:rPr lang="en-US" dirty="0"/>
              <a:t> </a:t>
            </a:r>
            <a:r>
              <a:rPr lang="en-US" dirty="0" err="1"/>
              <a:t>অনেক</a:t>
            </a:r>
            <a:r>
              <a:rPr lang="en-US" dirty="0"/>
              <a:t> </a:t>
            </a:r>
            <a:r>
              <a:rPr lang="en-US" dirty="0" err="1"/>
              <a:t>সময়</a:t>
            </a:r>
            <a:r>
              <a:rPr lang="en-US" dirty="0"/>
              <a:t> </a:t>
            </a:r>
            <a:r>
              <a:rPr lang="en-US" dirty="0" err="1"/>
              <a:t>সমানে-সমানে</a:t>
            </a:r>
            <a:r>
              <a:rPr lang="en-US" dirty="0"/>
              <a:t> </a:t>
            </a:r>
            <a:r>
              <a:rPr lang="en-US" dirty="0" err="1"/>
              <a:t>ভোট</a:t>
            </a:r>
            <a:r>
              <a:rPr lang="en-US" dirty="0"/>
              <a:t> </a:t>
            </a:r>
            <a:r>
              <a:rPr lang="en-US" dirty="0" err="1"/>
              <a:t>টাই</a:t>
            </a:r>
            <a:r>
              <a:rPr lang="en-US" dirty="0"/>
              <a:t> (Tie) </a:t>
            </a:r>
            <a:r>
              <a:rPr lang="en-US" dirty="0" err="1"/>
              <a:t>হয়ে</a:t>
            </a:r>
            <a:r>
              <a:rPr lang="en-US" dirty="0"/>
              <a:t> </a:t>
            </a:r>
            <a:r>
              <a:rPr lang="en-US" dirty="0" err="1"/>
              <a:t>যাওয়ার</a:t>
            </a:r>
            <a:r>
              <a:rPr lang="en-US" dirty="0"/>
              <a:t> </a:t>
            </a:r>
            <a:r>
              <a:rPr lang="en-US" dirty="0" err="1"/>
              <a:t>ঝুঁকি</a:t>
            </a:r>
            <a:r>
              <a:rPr lang="en-US" dirty="0"/>
              <a:t> </a:t>
            </a:r>
            <a:r>
              <a:rPr lang="en-US" dirty="0" err="1"/>
              <a:t>থাকে</a:t>
            </a:r>
            <a:r>
              <a:rPr lang="en-US" dirty="0"/>
              <a:t> (</a:t>
            </a:r>
            <a:r>
              <a:rPr lang="en-US" dirty="0" err="1"/>
              <a:t>যেমন</a:t>
            </a:r>
            <a:r>
              <a:rPr lang="en-US" dirty="0"/>
              <a:t>: ২ </a:t>
            </a:r>
            <a:r>
              <a:rPr lang="en-US" dirty="0" err="1"/>
              <a:t>টি</a:t>
            </a:r>
            <a:r>
              <a:rPr lang="en-US" dirty="0"/>
              <a:t> Pass ও ২ </a:t>
            </a:r>
            <a:r>
              <a:rPr lang="en-US" dirty="0" err="1"/>
              <a:t>টি</a:t>
            </a:r>
            <a:r>
              <a:rPr lang="en-US" dirty="0"/>
              <a:t> Fail)। </a:t>
            </a:r>
          </a:p>
          <a:p>
            <a:r>
              <a:rPr lang="en-US" dirty="0" err="1"/>
              <a:t>তবে</a:t>
            </a:r>
            <a:r>
              <a:rPr lang="en-US" dirty="0"/>
              <a:t> </a:t>
            </a:r>
            <a:r>
              <a:rPr lang="en-US" dirty="0" err="1"/>
              <a:t>এই</a:t>
            </a:r>
            <a:r>
              <a:rPr lang="en-US" dirty="0"/>
              <a:t> </a:t>
            </a:r>
            <a:r>
              <a:rPr lang="en-US" dirty="0" err="1"/>
              <a:t>উদাহরণের</a:t>
            </a:r>
            <a:r>
              <a:rPr lang="en-US" dirty="0"/>
              <a:t> </a:t>
            </a:r>
            <a:r>
              <a:rPr lang="en-US" dirty="0" err="1"/>
              <a:t>ক্ষেত্রে</a:t>
            </a:r>
            <a:r>
              <a:rPr lang="en-US" dirty="0"/>
              <a:t> ৩টি Pass </a:t>
            </a:r>
            <a:r>
              <a:rPr lang="en-US" dirty="0" err="1"/>
              <a:t>থাকায়</a:t>
            </a:r>
            <a:r>
              <a:rPr lang="en-US" dirty="0"/>
              <a:t> </a:t>
            </a:r>
            <a:r>
              <a:rPr lang="en-US" dirty="0" err="1"/>
              <a:t>স্পষ্ট</a:t>
            </a:r>
            <a:r>
              <a:rPr lang="en-US" dirty="0"/>
              <a:t> </a:t>
            </a:r>
            <a:r>
              <a:rPr lang="en-US" dirty="0" err="1"/>
              <a:t>সিদ্ধান্ত</a:t>
            </a:r>
            <a:r>
              <a:rPr lang="en-US" dirty="0"/>
              <a:t> </a:t>
            </a:r>
            <a:r>
              <a:rPr lang="en-US" dirty="0" err="1"/>
              <a:t>নেওয়া</a:t>
            </a:r>
            <a:r>
              <a:rPr lang="en-US" dirty="0"/>
              <a:t> </a:t>
            </a:r>
            <a:r>
              <a:rPr lang="en-US" dirty="0" err="1"/>
              <a:t>গেছে</a:t>
            </a:r>
            <a:r>
              <a:rPr lang="en-US" dirty="0"/>
              <a:t>।</a:t>
            </a:r>
          </a:p>
        </p:txBody>
      </p:sp>
    </p:spTree>
    <p:extLst>
      <p:ext uri="{BB962C8B-B14F-4D97-AF65-F5344CB8AC3E}">
        <p14:creationId xmlns:p14="http://schemas.microsoft.com/office/powerpoint/2010/main" val="3802872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https://www.youtube.com/watch?v=CJjSPCslxqQ</a:t>
            </a:r>
          </a:p>
        </p:txBody>
      </p:sp>
    </p:spTree>
    <p:extLst>
      <p:ext uri="{BB962C8B-B14F-4D97-AF65-F5344CB8AC3E}">
        <p14:creationId xmlns:p14="http://schemas.microsoft.com/office/powerpoint/2010/main" val="25547708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B89CA-8759-377C-46AF-174EE5F57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CS Application: Automated Malware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43B08-6CD9-9920-AFB3-CCF8D5EFF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Problem Statement</a:t>
            </a:r>
          </a:p>
          <a:p>
            <a:pPr lvl="1"/>
            <a:r>
              <a:rPr lang="en-US" dirty="0"/>
              <a:t>An Antivirus Endpoint Protection Engine intercepts an unknown executable file (unknown_process.exe). Before allowing it to run, the system must classify it as </a:t>
            </a:r>
            <a:r>
              <a:rPr lang="en-US" dirty="0">
                <a:solidFill>
                  <a:srgbClr val="FF0000"/>
                </a:solidFill>
              </a:rPr>
              <a:t>either </a:t>
            </a:r>
            <a:r>
              <a:rPr lang="en-US" b="1" dirty="0">
                <a:solidFill>
                  <a:srgbClr val="FF0000"/>
                </a:solidFill>
              </a:rPr>
              <a:t>Benign</a:t>
            </a:r>
            <a:r>
              <a:rPr lang="en-US" dirty="0">
                <a:solidFill>
                  <a:srgbClr val="FF0000"/>
                </a:solidFill>
              </a:rPr>
              <a:t> (Safe) or </a:t>
            </a:r>
            <a:r>
              <a:rPr lang="en-US" b="1" dirty="0">
                <a:solidFill>
                  <a:srgbClr val="FF0000"/>
                </a:solidFill>
              </a:rPr>
              <a:t>Malware</a:t>
            </a:r>
            <a:r>
              <a:rPr lang="en-US" dirty="0">
                <a:solidFill>
                  <a:srgbClr val="FF0000"/>
                </a:solidFill>
              </a:rPr>
              <a:t> (Malicious) based on its behavioral telemetry.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0555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FC47E-EE12-D9FC-7ABD-F390FA645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90EAF21-8AE0-B0C1-5E33-025E1433AD2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987261"/>
          <a:ext cx="10515600" cy="20238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68917580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2588313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7998242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09295811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Executable File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Registry Edits (x1​)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Network Conns (x2​)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Label / Class (Y)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56220821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chrome.exe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2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12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Benign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01652071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vscode.exe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3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5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Benign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6522804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calc.exe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1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Benign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84084920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trojan_x.exe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15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18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Malware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89564538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ransom.exe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18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14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Malware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643721641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9699FAE-3C63-AD46-1047-B026DB0D4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71" y="8588"/>
            <a:ext cx="8729596" cy="21374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52F3C0-A20C-8969-5995-851260FA6B4E}"/>
              </a:ext>
            </a:extLst>
          </p:cNvPr>
          <p:cNvSpPr txBox="1"/>
          <p:nvPr/>
        </p:nvSpPr>
        <p:spPr>
          <a:xfrm>
            <a:off x="838200" y="2502578"/>
            <a:ext cx="68245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Training Dataset (Known Telemetry Vectors):</a:t>
            </a:r>
          </a:p>
        </p:txBody>
      </p:sp>
    </p:spTree>
    <p:extLst>
      <p:ext uri="{BB962C8B-B14F-4D97-AF65-F5344CB8AC3E}">
        <p14:creationId xmlns:p14="http://schemas.microsoft.com/office/powerpoint/2010/main" val="8125521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A3F6F-A77C-17DE-4670-869EA2833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7802C-F98C-0895-5329-32F609EC8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7B8D64-7C84-D61F-FE01-41F1BAE5B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72" y="1436914"/>
            <a:ext cx="6392167" cy="15718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C8A6EF-9AE3-78B5-D106-7E10EF232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4238" y="0"/>
            <a:ext cx="56356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1613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8AE7D-3A0B-0BA6-45DB-C010AE71E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D08C8-728A-6A57-9C84-327F97FEF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3C0A2-D0BA-0849-9AEF-C44292BEF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35E965-DB62-32B7-7714-2FE6E6707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635689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1BE692-B6F8-A9FB-3CFA-2DBD64D40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5689" y="141173"/>
            <a:ext cx="6556311" cy="6716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952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594</Words>
  <Application>Microsoft Office PowerPoint</Application>
  <PresentationFormat>Widescreen</PresentationFormat>
  <Paragraphs>124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Arial</vt:lpstr>
      <vt:lpstr>Calibri</vt:lpstr>
      <vt:lpstr>Calibri Light</vt:lpstr>
      <vt:lpstr>Roboto</vt:lpstr>
      <vt:lpstr>Office Theme</vt:lpstr>
      <vt:lpstr>K means Clustering Algorithm Explained With an Example  </vt:lpstr>
      <vt:lpstr>K means Clustering Algorithm Explained With an Example Easiest And Quickest Way Ever </vt:lpstr>
      <vt:lpstr>PowerPoint Presentation</vt:lpstr>
      <vt:lpstr>K-means clustering with k=3  (same previous example)</vt:lpstr>
      <vt:lpstr>K-means clustering with k=3  (same previous example)</vt:lpstr>
      <vt:lpstr>K-means clustering with k=3  (same previous example)</vt:lpstr>
      <vt:lpstr>K-means clustering with k=3  (same previous example)</vt:lpstr>
      <vt:lpstr>K-means clustering with k=3  (same previous example)</vt:lpstr>
      <vt:lpstr>K-means clustering with k=3  (same previous example)</vt:lpstr>
      <vt:lpstr>K-means clustering with k=3  (same previous example)</vt:lpstr>
      <vt:lpstr>K-Nearest Neighbor Classification ll KNN Classification Explained with Solved Example </vt:lpstr>
      <vt:lpstr>K-Nearest Neighbor Classification ll KNN Classification Explained with Solved Example </vt:lpstr>
      <vt:lpstr>K-Nearest Neighbor Classification ll KNN Classification Explained with Solved Example</vt:lpstr>
      <vt:lpstr>PowerPoint Presentation</vt:lpstr>
      <vt:lpstr>PowerPoint Presentation</vt:lpstr>
      <vt:lpstr>PowerPoint Presentation</vt:lpstr>
      <vt:lpstr>Real-World CS Application: Automated Malware Detection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 means Clustering Algorithm Explained With an Example Easiest And Quickest Way Ever</dc:title>
  <dc:creator>p</dc:creator>
  <cp:lastModifiedBy>cce sen</cp:lastModifiedBy>
  <cp:revision>20</cp:revision>
  <dcterms:created xsi:type="dcterms:W3CDTF">2023-11-19T12:59:08Z</dcterms:created>
  <dcterms:modified xsi:type="dcterms:W3CDTF">2026-07-22T05:01:44Z</dcterms:modified>
</cp:coreProperties>
</file>